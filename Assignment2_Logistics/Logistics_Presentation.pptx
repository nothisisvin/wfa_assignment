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52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esh reddy" userId="3fef659a863e9622" providerId="LiveId" clId="{A5E9213C-D311-4F2C-98F7-AD373E71AFE0}"/>
    <pc:docChg chg="undo custSel modSld">
      <pc:chgData name="vinesh reddy" userId="3fef659a863e9622" providerId="LiveId" clId="{A5E9213C-D311-4F2C-98F7-AD373E71AFE0}" dt="2026-10-12T03:19:41.347" v="9" actId="1076"/>
      <pc:docMkLst>
        <pc:docMk/>
      </pc:docMkLst>
      <pc:sldChg chg="modSp mod">
        <pc:chgData name="vinesh reddy" userId="3fef659a863e9622" providerId="LiveId" clId="{A5E9213C-D311-4F2C-98F7-AD373E71AFE0}" dt="2026-10-12T03:19:41.347" v="9" actId="1076"/>
        <pc:sldMkLst>
          <pc:docMk/>
          <pc:sldMk cId="0" sldId="258"/>
        </pc:sldMkLst>
        <pc:picChg chg="mod">
          <ac:chgData name="vinesh reddy" userId="3fef659a863e9622" providerId="LiveId" clId="{A5E9213C-D311-4F2C-98F7-AD373E71AFE0}" dt="2026-10-12T03:19:41.347" v="9" actId="1076"/>
          <ac:picMkLst>
            <pc:docMk/>
            <pc:sldMk cId="0" sldId="258"/>
            <ac:picMk id="4"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46939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assignment: a courier moves a parcel from a shipper to a recipient. The focus of the question is how exceptions are detected and resolved. I will cover task types, gateways, intermediate events, and the critical and alternate paths.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A courier company moves parcels from shipper to recipient, and we model the full life cycle with a focus on exceptions. It starts when a booking is made and ends when the parcel is delivered, returned, or closed as lost or cancelled. On the right are the failure areas the question asked us to look at.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diagram. Shipper and Recipient are external pools; the courier has five lanes. The main path runs left to right; exceptions branch off and end in Return to sender or Claims.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task types. Validate booking is a business rule task because a DMN table decides. Collect parcel, Attempt delivery and Settle claim are user tasks with forms. Send tasks send messages to the shipper. Transport and Customs are receive tasks: the process waits for a message. Count attempt is a script task, a simple counter. Hand over and Return are manual tasks: physical work with no system.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gateway types. Exclusive gateways make every decision: exactly one path. The parallel gateway after pickup runs the hand-over and the tracking notification at the same time, and the join waits for both before transport starts. You can see that on the right.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intermediate events. Three sit on the Transport task, which waits for the arrival scan. ETA exceeded is a non-interrupting timer: the shipper gets a delay notice but transport continues. No scan for 48 hours is an interrupting timer: the parcel is treated as lost. Cancellation requested is an interrupting message from the shipper. Customs has a five-day timer, and the delivery retry loop waits for the next day with a timer catch event.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critical path is the happy path: booking, validation, pickup, hand-over and tracking in parallel, transport and customs if needed, and delivery with the outcome Delivered. The crop shows the delivery part, where the happy path ends.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alternate paths. Most of them end in one of two shared handlers, shown at the bottom: Return to sender and Settle claim. Sharing them keeps the diagram small. The delay is the only non-interrupting one, and the not-home path is a loop limited to three attempts.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six task types, two gateway types, five intermediate events, one critical path and nine alternate paths.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_TITL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515600" cy="1371600"/>
          </a:xfrm>
          <a:prstGeom prst="rect">
            <a:avLst/>
          </a:prstGeom>
          <a:noFill/>
          <a:ln/>
        </p:spPr>
        <p:txBody>
          <a:bodyPr wrap="square" rtlCol="0"/>
          <a:lstStyle>
            <a:lvl1pPr marL="0" indent="0" algn="l">
              <a:buNone/>
              <a:defRPr lang="en-US" sz="4400" b="1" dirty="0">
                <a:solidFill>
                  <a:srgbClr val="1F2328"/>
                </a:solidFill>
                <a:latin typeface="Arial" pitchFamily="34" charset="0"/>
                <a:ea typeface="Arial" pitchFamily="34" charset="-122"/>
                <a:cs typeface="Arial" pitchFamily="34" charset="-120"/>
              </a:defRPr>
            </a:lvl1pPr>
          </a:lstStyle>
          <a:p>
            <a:pPr marL="0" indent="0" algn="l">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_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411480"/>
            <a:ext cx="10881360" cy="685800"/>
          </a:xfrm>
          <a:prstGeom prst="rect">
            <a:avLst/>
          </a:prstGeom>
          <a:noFill/>
          <a:ln/>
        </p:spPr>
        <p:txBody>
          <a:bodyPr wrap="square" rtlCol="0"/>
          <a:lstStyle>
            <a:lvl1pPr marL="0" indent="0" algn="l">
              <a:buNone/>
              <a:defRPr lang="en-US" sz="3000" b="1" dirty="0">
                <a:solidFill>
                  <a:srgbClr val="1F2328"/>
                </a:solidFill>
                <a:latin typeface="Arial" pitchFamily="34" charset="0"/>
                <a:ea typeface="Arial" pitchFamily="34" charset="-122"/>
                <a:cs typeface="Arial"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781"/>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781"/>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874520"/>
            <a:ext cx="5486400" cy="365760"/>
          </a:xfrm>
          <a:prstGeom prst="rect">
            <a:avLst/>
          </a:prstGeom>
          <a:noFill/>
          <a:ln/>
        </p:spPr>
        <p:txBody>
          <a:bodyPr wrap="square" lIns="0" tIns="0" rIns="0" bIns="0" rtlCol="0" anchor="t"/>
          <a:lstStyle/>
          <a:p>
            <a:pPr marL="0" indent="0">
              <a:buNone/>
            </a:pPr>
            <a:r>
              <a:rPr lang="en-US" sz="1400" b="1" kern="0" spc="300" dirty="0">
                <a:solidFill>
                  <a:srgbClr val="C2410C"/>
                </a:solidFill>
                <a:latin typeface="Arial" pitchFamily="34" charset="0"/>
                <a:ea typeface="Arial" pitchFamily="34" charset="-122"/>
                <a:cs typeface="Arial" pitchFamily="34" charset="-120"/>
              </a:rPr>
              <a:t>ASSIGNMENT 2</a:t>
            </a:r>
            <a:endParaRPr lang="en-US" sz="1400" dirty="0"/>
          </a:p>
        </p:txBody>
      </p:sp>
      <p:sp>
        <p:nvSpPr>
          <p:cNvPr id="3" name="Text 0"/>
          <p:cNvSpPr>
            <a:spLocks noGrp="1"/>
          </p:cNvSpPr>
          <p:nvPr>
            <p:ph type="title" idx="100" hasCustomPrompt="1"/>
          </p:nvPr>
        </p:nvSpPr>
        <p:spPr>
          <a:xfrm>
            <a:off x="731520" y="2377440"/>
            <a:ext cx="10515600" cy="1371600"/>
          </a:xfrm>
          <a:prstGeom prst="rect">
            <a:avLst/>
          </a:prstGeom>
          <a:noFill/>
          <a:ln/>
        </p:spPr>
        <p:txBody>
          <a:bodyPr wrap="square" lIns="0" tIns="0" rIns="0" bIns="0" rtlCol="0" anchor="t"/>
          <a:lstStyle/>
          <a:p>
            <a:pPr marL="0" indent="0" algn="l">
              <a:buNone/>
            </a:pPr>
            <a:r>
              <a:rPr lang="en-US" sz="4400" b="1" dirty="0">
                <a:solidFill>
                  <a:srgbClr val="1F2328"/>
                </a:solidFill>
                <a:latin typeface="Arial" pitchFamily="34" charset="0"/>
                <a:ea typeface="Arial" pitchFamily="34" charset="-122"/>
                <a:cs typeface="Arial" pitchFamily="34" charset="-120"/>
              </a:rPr>
              <a:t>Logistics &amp; Shipment Exception Management</a:t>
            </a:r>
            <a:endParaRPr lang="en-US" sz="4400" dirty="0"/>
          </a:p>
        </p:txBody>
      </p:sp>
      <p:sp>
        <p:nvSpPr>
          <p:cNvPr id="4" name="Text 2"/>
          <p:cNvSpPr txBox="1"/>
          <p:nvPr/>
        </p:nvSpPr>
        <p:spPr>
          <a:xfrm>
            <a:off x="731520" y="3886200"/>
            <a:ext cx="9144000" cy="457200"/>
          </a:xfrm>
          <a:prstGeom prst="rect">
            <a:avLst/>
          </a:prstGeom>
          <a:noFill/>
          <a:ln/>
        </p:spPr>
        <p:txBody>
          <a:bodyPr wrap="square" lIns="0" tIns="0" rIns="0" bIns="0" rtlCol="0" anchor="t"/>
          <a:lstStyle/>
          <a:p>
            <a:pPr marL="0" indent="0">
              <a:buNone/>
            </a:pPr>
            <a:r>
              <a:rPr lang="en-US" sz="1800" dirty="0">
                <a:solidFill>
                  <a:srgbClr val="6E7781"/>
                </a:solidFill>
                <a:latin typeface="Arial" pitchFamily="34" charset="0"/>
                <a:ea typeface="Arial" pitchFamily="34" charset="-122"/>
                <a:cs typeface="Arial" pitchFamily="34" charset="-120"/>
              </a:rPr>
              <a:t>A BPMN 2.0 model of a courier’s shipment process, built for Camunda 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411480"/>
            <a:ext cx="10881360" cy="685800"/>
          </a:xfrm>
          <a:prstGeom prst="rect">
            <a:avLst/>
          </a:prstGeom>
          <a:noFill/>
          <a:ln/>
        </p:spPr>
        <p:txBody>
          <a:bodyPr wrap="square" lIns="0" tIns="0" rIns="0" bIns="0" rtlCol="0" anchor="ctr"/>
          <a:lstStyle/>
          <a:p>
            <a:pPr marL="0" indent="0" algn="l">
              <a:buNone/>
            </a:pPr>
            <a:r>
              <a:rPr lang="en-US" sz="3000" b="1" dirty="0">
                <a:solidFill>
                  <a:srgbClr val="1F2328"/>
                </a:solidFill>
                <a:latin typeface="Arial" pitchFamily="34" charset="0"/>
                <a:ea typeface="Arial" pitchFamily="34" charset="-122"/>
                <a:cs typeface="Arial" pitchFamily="34" charset="-120"/>
              </a:rPr>
              <a:t>The question</a:t>
            </a:r>
            <a:endParaRPr lang="en-US" sz="3000" dirty="0"/>
          </a:p>
        </p:txBody>
      </p:sp>
      <p:sp>
        <p:nvSpPr>
          <p:cNvPr id="3" name="Text 1"/>
          <p:cNvSpPr txBox="1"/>
          <p:nvPr/>
        </p:nvSpPr>
        <p:spPr>
          <a:xfrm>
            <a:off x="640080" y="1463040"/>
            <a:ext cx="1645920" cy="320040"/>
          </a:xfrm>
          <a:prstGeom prst="rect">
            <a:avLst/>
          </a:prstGeom>
          <a:noFill/>
          <a:ln/>
        </p:spPr>
        <p:txBody>
          <a:bodyPr wrap="square" lIns="0" tIns="0" rIns="0" bIns="0" rtlCol="0" anchor="t"/>
          <a:lstStyle/>
          <a:p>
            <a:pPr marL="0" indent="0">
              <a:buNone/>
            </a:pPr>
            <a:r>
              <a:rPr lang="en-US" sz="1200" b="1" kern="0" spc="200" dirty="0">
                <a:solidFill>
                  <a:srgbClr val="C2410C"/>
                </a:solidFill>
                <a:latin typeface="Arial" pitchFamily="34" charset="0"/>
                <a:ea typeface="Arial" pitchFamily="34" charset="-122"/>
                <a:cs typeface="Arial" pitchFamily="34" charset="-120"/>
              </a:rPr>
              <a:t>SCENARIO</a:t>
            </a:r>
            <a:endParaRPr lang="en-US" sz="1200" dirty="0"/>
          </a:p>
        </p:txBody>
      </p:sp>
      <p:sp>
        <p:nvSpPr>
          <p:cNvPr id="4" name="Text 2"/>
          <p:cNvSpPr txBox="1"/>
          <p:nvPr/>
        </p:nvSpPr>
        <p:spPr>
          <a:xfrm>
            <a:off x="2286000" y="1417320"/>
            <a:ext cx="5120640" cy="1097280"/>
          </a:xfrm>
          <a:prstGeom prst="rect">
            <a:avLst/>
          </a:prstGeom>
          <a:noFill/>
          <a:ln/>
        </p:spPr>
        <p:txBody>
          <a:bodyPr wrap="square" lIns="0" tIns="0" rIns="0" bIns="0" rtlCol="0" anchor="t"/>
          <a:lstStyle/>
          <a:p>
            <a:pPr marL="0" indent="0">
              <a:buNone/>
            </a:pPr>
            <a:r>
              <a:rPr lang="en-US" sz="1700" dirty="0">
                <a:solidFill>
                  <a:srgbClr val="1F2328"/>
                </a:solidFill>
                <a:latin typeface="Arial" pitchFamily="34" charset="0"/>
                <a:ea typeface="Arial" pitchFamily="34" charset="-122"/>
                <a:cs typeface="Arial" pitchFamily="34" charset="-120"/>
              </a:rPr>
              <a:t>A courier moves parcels from a shipper to a recipient through pickup, hubs and last-mile delivery. Model the whole life cycle and show how exceptions are handled.</a:t>
            </a:r>
            <a:endParaRPr lang="en-US" sz="1700" dirty="0"/>
          </a:p>
        </p:txBody>
      </p:sp>
      <p:sp>
        <p:nvSpPr>
          <p:cNvPr id="5" name="Text 3"/>
          <p:cNvSpPr txBox="1"/>
          <p:nvPr/>
        </p:nvSpPr>
        <p:spPr>
          <a:xfrm>
            <a:off x="640080" y="2697480"/>
            <a:ext cx="1645920" cy="320040"/>
          </a:xfrm>
          <a:prstGeom prst="rect">
            <a:avLst/>
          </a:prstGeom>
          <a:noFill/>
          <a:ln/>
        </p:spPr>
        <p:txBody>
          <a:bodyPr wrap="square" lIns="0" tIns="0" rIns="0" bIns="0" rtlCol="0" anchor="t"/>
          <a:lstStyle/>
          <a:p>
            <a:pPr marL="0" indent="0">
              <a:buNone/>
            </a:pPr>
            <a:r>
              <a:rPr lang="en-US" sz="1200" b="1" kern="0" spc="200" dirty="0">
                <a:solidFill>
                  <a:srgbClr val="C2410C"/>
                </a:solidFill>
                <a:latin typeface="Arial" pitchFamily="34" charset="0"/>
                <a:ea typeface="Arial" pitchFamily="34" charset="-122"/>
                <a:cs typeface="Arial" pitchFamily="34" charset="-120"/>
              </a:rPr>
              <a:t>STARTS</a:t>
            </a:r>
            <a:endParaRPr lang="en-US" sz="1200" dirty="0"/>
          </a:p>
        </p:txBody>
      </p:sp>
      <p:sp>
        <p:nvSpPr>
          <p:cNvPr id="6" name="Text 4"/>
          <p:cNvSpPr txBox="1"/>
          <p:nvPr/>
        </p:nvSpPr>
        <p:spPr>
          <a:xfrm>
            <a:off x="2286000" y="2651760"/>
            <a:ext cx="5120640" cy="1097280"/>
          </a:xfrm>
          <a:prstGeom prst="rect">
            <a:avLst/>
          </a:prstGeom>
          <a:noFill/>
          <a:ln/>
        </p:spPr>
        <p:txBody>
          <a:bodyPr wrap="square" lIns="0" tIns="0" rIns="0" bIns="0" rtlCol="0" anchor="t"/>
          <a:lstStyle/>
          <a:p>
            <a:pPr marL="0" indent="0">
              <a:buNone/>
            </a:pPr>
            <a:r>
              <a:rPr lang="en-US" sz="1700" dirty="0">
                <a:solidFill>
                  <a:srgbClr val="1F2328"/>
                </a:solidFill>
                <a:latin typeface="Arial" pitchFamily="34" charset="0"/>
                <a:ea typeface="Arial" pitchFamily="34" charset="-122"/>
                <a:cs typeface="Arial" pitchFamily="34" charset="-120"/>
              </a:rPr>
              <a:t>A shipper books a shipment</a:t>
            </a:r>
            <a:endParaRPr lang="en-US" sz="1700" dirty="0"/>
          </a:p>
        </p:txBody>
      </p:sp>
      <p:sp>
        <p:nvSpPr>
          <p:cNvPr id="7" name="Text 5"/>
          <p:cNvSpPr txBox="1"/>
          <p:nvPr/>
        </p:nvSpPr>
        <p:spPr>
          <a:xfrm>
            <a:off x="640080" y="3931920"/>
            <a:ext cx="1645920" cy="320040"/>
          </a:xfrm>
          <a:prstGeom prst="rect">
            <a:avLst/>
          </a:prstGeom>
          <a:noFill/>
          <a:ln/>
        </p:spPr>
        <p:txBody>
          <a:bodyPr wrap="square" lIns="0" tIns="0" rIns="0" bIns="0" rtlCol="0" anchor="t"/>
          <a:lstStyle/>
          <a:p>
            <a:pPr marL="0" indent="0">
              <a:buNone/>
            </a:pPr>
            <a:r>
              <a:rPr lang="en-US" sz="1200" b="1" kern="0" spc="200" dirty="0">
                <a:solidFill>
                  <a:srgbClr val="C2410C"/>
                </a:solidFill>
                <a:latin typeface="Arial" pitchFamily="34" charset="0"/>
                <a:ea typeface="Arial" pitchFamily="34" charset="-122"/>
                <a:cs typeface="Arial" pitchFamily="34" charset="-120"/>
              </a:rPr>
              <a:t>ENDS</a:t>
            </a:r>
            <a:endParaRPr lang="en-US" sz="1200" dirty="0"/>
          </a:p>
        </p:txBody>
      </p:sp>
      <p:sp>
        <p:nvSpPr>
          <p:cNvPr id="8" name="Text 6"/>
          <p:cNvSpPr txBox="1"/>
          <p:nvPr/>
        </p:nvSpPr>
        <p:spPr>
          <a:xfrm>
            <a:off x="2286000" y="3886200"/>
            <a:ext cx="5120640" cy="1097280"/>
          </a:xfrm>
          <a:prstGeom prst="rect">
            <a:avLst/>
          </a:prstGeom>
          <a:noFill/>
          <a:ln/>
        </p:spPr>
        <p:txBody>
          <a:bodyPr wrap="square" lIns="0" tIns="0" rIns="0" bIns="0" rtlCol="0" anchor="t"/>
          <a:lstStyle/>
          <a:p>
            <a:pPr marL="0" indent="0">
              <a:buNone/>
            </a:pPr>
            <a:r>
              <a:rPr lang="en-US" sz="1700" dirty="0">
                <a:solidFill>
                  <a:srgbClr val="1F2328"/>
                </a:solidFill>
                <a:latin typeface="Arial" pitchFamily="34" charset="0"/>
                <a:ea typeface="Arial" pitchFamily="34" charset="-122"/>
                <a:cs typeface="Arial" pitchFamily="34" charset="-120"/>
              </a:rPr>
              <a:t>Delivered, returned to sender, or closed as lost or cancelled</a:t>
            </a:r>
            <a:endParaRPr lang="en-US" sz="1700" dirty="0"/>
          </a:p>
        </p:txBody>
      </p:sp>
      <p:sp>
        <p:nvSpPr>
          <p:cNvPr id="9" name="Text 7"/>
          <p:cNvSpPr txBox="1"/>
          <p:nvPr/>
        </p:nvSpPr>
        <p:spPr>
          <a:xfrm>
            <a:off x="8138160" y="1463040"/>
            <a:ext cx="3474720" cy="320040"/>
          </a:xfrm>
          <a:prstGeom prst="rect">
            <a:avLst/>
          </a:prstGeom>
          <a:noFill/>
          <a:ln/>
        </p:spPr>
        <p:txBody>
          <a:bodyPr wrap="square" lIns="0" tIns="0" rIns="0" bIns="0" rtlCol="0" anchor="t"/>
          <a:lstStyle/>
          <a:p>
            <a:pPr marL="0" indent="0">
              <a:buNone/>
            </a:pPr>
            <a:r>
              <a:rPr lang="en-US" sz="1200" b="1" kern="0" spc="200" dirty="0">
                <a:solidFill>
                  <a:srgbClr val="C2410C"/>
                </a:solidFill>
                <a:latin typeface="Arial" pitchFamily="34" charset="0"/>
                <a:ea typeface="Arial" pitchFamily="34" charset="-122"/>
                <a:cs typeface="Arial" pitchFamily="34" charset="-120"/>
              </a:rPr>
              <a:t>WHERE TO LOOK FOR FAILURES</a:t>
            </a:r>
            <a:endParaRPr lang="en-US" sz="1200" dirty="0"/>
          </a:p>
        </p:txBody>
      </p:sp>
      <p:sp>
        <p:nvSpPr>
          <p:cNvPr id="10" name="Text 8"/>
          <p:cNvSpPr txBox="1"/>
          <p:nvPr/>
        </p:nvSpPr>
        <p:spPr>
          <a:xfrm>
            <a:off x="8138160" y="1874520"/>
            <a:ext cx="3474720" cy="3200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Pickup and address problems</a:t>
            </a:r>
            <a:endParaRPr lang="en-US" sz="1600" dirty="0"/>
          </a:p>
          <a:p>
            <a:pPr marL="342900" indent="-3429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Damage, loss, missing scans</a:t>
            </a:r>
            <a:endParaRPr lang="en-US" sz="1600" dirty="0"/>
          </a:p>
          <a:p>
            <a:pPr marL="342900" indent="-3429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Delays</a:t>
            </a:r>
            <a:endParaRPr lang="en-US" sz="1600" dirty="0"/>
          </a:p>
          <a:p>
            <a:pPr marL="342900" indent="-3429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Customs</a:t>
            </a:r>
            <a:endParaRPr lang="en-US" sz="1600" dirty="0"/>
          </a:p>
          <a:p>
            <a:pPr marL="342900" indent="-3429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Recipient unavailable or refusing</a:t>
            </a:r>
            <a:endParaRPr lang="en-US" sz="1600" dirty="0"/>
          </a:p>
          <a:p>
            <a:pPr marL="342900" indent="-3429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Cancellation after dispatch</a:t>
            </a:r>
            <a:endParaRPr lang="en-US" sz="16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781"/>
                </a:solidFill>
                <a:latin typeface="Arial"/>
                <a:ea typeface="Arial"/>
                <a:cs typeface="Aria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411480"/>
            <a:ext cx="10881360" cy="685800"/>
          </a:xfrm>
          <a:prstGeom prst="rect">
            <a:avLst/>
          </a:prstGeom>
          <a:noFill/>
          <a:ln/>
        </p:spPr>
        <p:txBody>
          <a:bodyPr wrap="square" lIns="0" tIns="0" rIns="0" bIns="0" rtlCol="0" anchor="ctr"/>
          <a:lstStyle/>
          <a:p>
            <a:pPr marL="0" indent="0" algn="l">
              <a:buNone/>
            </a:pPr>
            <a:r>
              <a:rPr lang="en-US" sz="3000" b="1" dirty="0">
                <a:solidFill>
                  <a:srgbClr val="1F2328"/>
                </a:solidFill>
                <a:latin typeface="Arial" pitchFamily="34" charset="0"/>
                <a:ea typeface="Arial" pitchFamily="34" charset="-122"/>
                <a:cs typeface="Arial" pitchFamily="34" charset="-120"/>
              </a:rPr>
              <a:t>The process</a:t>
            </a:r>
            <a:endParaRPr lang="en-US" sz="3000" dirty="0"/>
          </a:p>
        </p:txBody>
      </p:sp>
      <p:sp>
        <p:nvSpPr>
          <p:cNvPr id="3" name="Shape 1"/>
          <p:cNvSpPr/>
          <p:nvPr/>
        </p:nvSpPr>
        <p:spPr>
          <a:xfrm>
            <a:off x="640080" y="1280160"/>
            <a:ext cx="10881360" cy="4937760"/>
          </a:xfrm>
          <a:prstGeom prst="rect">
            <a:avLst/>
          </a:prstGeom>
          <a:solidFill>
            <a:srgbClr val="FFFFFF"/>
          </a:solidFill>
          <a:ln w="9525">
            <a:solidFill>
              <a:srgbClr val="D8DCE1"/>
            </a:solidFill>
            <a:prstDash val="solid"/>
          </a:ln>
        </p:spPr>
      </p:sp>
      <p:pic>
        <p:nvPicPr>
          <p:cNvPr id="4" name="Image 0" descr="Full logistics BPMN diagram"/>
          <p:cNvPicPr>
            <a:picLocks noChangeAspect="1"/>
          </p:cNvPicPr>
          <p:nvPr/>
        </p:nvPicPr>
        <p:blipFill>
          <a:blip r:embed="rId3"/>
          <a:stretch>
            <a:fillRect/>
          </a:stretch>
        </p:blipFill>
        <p:spPr>
          <a:xfrm>
            <a:off x="1451008" y="1371600"/>
            <a:ext cx="9259503" cy="4754880"/>
          </a:xfrm>
          <a:prstGeom prst="rect">
            <a:avLst/>
          </a:prstGeom>
        </p:spPr>
      </p:pic>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781"/>
                </a:solidFill>
                <a:latin typeface="Arial"/>
                <a:ea typeface="Arial"/>
                <a:cs typeface="Aria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411480"/>
            <a:ext cx="10881360" cy="685800"/>
          </a:xfrm>
          <a:prstGeom prst="rect">
            <a:avLst/>
          </a:prstGeom>
          <a:noFill/>
          <a:ln/>
        </p:spPr>
        <p:txBody>
          <a:bodyPr wrap="square" lIns="0" tIns="0" rIns="0" bIns="0" rtlCol="0" anchor="ctr"/>
          <a:lstStyle/>
          <a:p>
            <a:pPr marL="0" indent="0" algn="l">
              <a:buNone/>
            </a:pPr>
            <a:r>
              <a:rPr lang="en-US" sz="3000" b="1" dirty="0">
                <a:solidFill>
                  <a:srgbClr val="1F2328"/>
                </a:solidFill>
                <a:latin typeface="Arial" pitchFamily="34" charset="0"/>
                <a:ea typeface="Arial" pitchFamily="34" charset="-122"/>
                <a:cs typeface="Arial" pitchFamily="34" charset="-120"/>
              </a:rPr>
              <a:t>Task types</a:t>
            </a:r>
            <a:endParaRPr lang="en-US" sz="3000" dirty="0"/>
          </a:p>
        </p:txBody>
      </p:sp>
      <p:sp>
        <p:nvSpPr>
          <p:cNvPr id="3" name="Text 1"/>
          <p:cNvSpPr txBox="1"/>
          <p:nvPr/>
        </p:nvSpPr>
        <p:spPr>
          <a:xfrm>
            <a:off x="640080" y="1417320"/>
            <a:ext cx="5120640" cy="1371600"/>
          </a:xfrm>
          <a:prstGeom prst="rect">
            <a:avLst/>
          </a:prstGeom>
          <a:noFill/>
          <a:ln/>
        </p:spPr>
        <p:txBody>
          <a:bodyPr wrap="square" lIns="0" tIns="0" rIns="0" bIns="0" rtlCol="0" anchor="t"/>
          <a:lstStyle/>
          <a:p>
            <a:pPr marL="0" indent="0">
              <a:spcAft>
                <a:spcPts val="300"/>
              </a:spcAft>
              <a:buNone/>
            </a:pPr>
            <a:r>
              <a:rPr lang="en-US" sz="2000" b="1" dirty="0">
                <a:solidFill>
                  <a:srgbClr val="1F2328"/>
                </a:solidFill>
                <a:latin typeface="Arial" pitchFamily="34" charset="0"/>
                <a:ea typeface="Arial" pitchFamily="34" charset="-122"/>
                <a:cs typeface="Arial" pitchFamily="34" charset="-120"/>
              </a:rPr>
              <a:t>Business rule</a:t>
            </a:r>
            <a:endParaRPr lang="en-US" sz="2000" dirty="0"/>
          </a:p>
          <a:p>
            <a:pPr marL="0" indent="0">
              <a:spcAft>
                <a:spcPts val="300"/>
              </a:spcAft>
              <a:buNone/>
            </a:pPr>
            <a:r>
              <a:rPr lang="en-US" sz="1500" dirty="0">
                <a:solidFill>
                  <a:srgbClr val="1F2328"/>
                </a:solidFill>
                <a:latin typeface="Arial" pitchFamily="34" charset="0"/>
                <a:ea typeface="Arial" pitchFamily="34" charset="-122"/>
                <a:cs typeface="Arial" pitchFamily="34" charset="-120"/>
              </a:rPr>
              <a:t>Validate booking</a:t>
            </a:r>
            <a:endParaRPr lang="en-US" sz="2000" dirty="0"/>
          </a:p>
          <a:p>
            <a:pPr marL="0" indent="0">
              <a:spcAft>
                <a:spcPts val="300"/>
              </a:spcAft>
              <a:buNone/>
            </a:pPr>
            <a:r>
              <a:rPr lang="en-US" sz="1400" i="1" dirty="0">
                <a:solidFill>
                  <a:srgbClr val="6E7781"/>
                </a:solidFill>
                <a:latin typeface="Arial" pitchFamily="34" charset="0"/>
                <a:ea typeface="Arial" pitchFamily="34" charset="-122"/>
                <a:cs typeface="Arial" pitchFamily="34" charset="-120"/>
              </a:rPr>
              <a:t>rules decide (DMN)</a:t>
            </a:r>
            <a:endParaRPr lang="en-US" sz="2000" dirty="0"/>
          </a:p>
        </p:txBody>
      </p:sp>
      <p:sp>
        <p:nvSpPr>
          <p:cNvPr id="4" name="Text 2"/>
          <p:cNvSpPr txBox="1"/>
          <p:nvPr/>
        </p:nvSpPr>
        <p:spPr>
          <a:xfrm>
            <a:off x="6217920" y="1417320"/>
            <a:ext cx="5120640" cy="1371600"/>
          </a:xfrm>
          <a:prstGeom prst="rect">
            <a:avLst/>
          </a:prstGeom>
          <a:noFill/>
          <a:ln/>
        </p:spPr>
        <p:txBody>
          <a:bodyPr wrap="square" lIns="0" tIns="0" rIns="0" bIns="0" rtlCol="0" anchor="t"/>
          <a:lstStyle/>
          <a:p>
            <a:pPr marL="0" indent="0">
              <a:spcAft>
                <a:spcPts val="300"/>
              </a:spcAft>
              <a:buNone/>
            </a:pPr>
            <a:r>
              <a:rPr lang="en-US" sz="2000" b="1" dirty="0">
                <a:solidFill>
                  <a:srgbClr val="1F2328"/>
                </a:solidFill>
                <a:latin typeface="Arial" pitchFamily="34" charset="0"/>
                <a:ea typeface="Arial" pitchFamily="34" charset="-122"/>
                <a:cs typeface="Arial" pitchFamily="34" charset="-120"/>
              </a:rPr>
              <a:t>User</a:t>
            </a:r>
            <a:endParaRPr lang="en-US" sz="2000" dirty="0"/>
          </a:p>
          <a:p>
            <a:pPr marL="0" indent="0">
              <a:spcAft>
                <a:spcPts val="300"/>
              </a:spcAft>
              <a:buNone/>
            </a:pPr>
            <a:r>
              <a:rPr lang="en-US" sz="1500" dirty="0">
                <a:solidFill>
                  <a:srgbClr val="1F2328"/>
                </a:solidFill>
                <a:latin typeface="Arial" pitchFamily="34" charset="0"/>
                <a:ea typeface="Arial" pitchFamily="34" charset="-122"/>
                <a:cs typeface="Arial" pitchFamily="34" charset="-120"/>
              </a:rPr>
              <a:t>Collect parcel, Attempt delivery, Settle claim</a:t>
            </a:r>
            <a:endParaRPr lang="en-US" sz="2000" dirty="0"/>
          </a:p>
          <a:p>
            <a:pPr marL="0" indent="0">
              <a:spcAft>
                <a:spcPts val="300"/>
              </a:spcAft>
              <a:buNone/>
            </a:pPr>
            <a:r>
              <a:rPr lang="en-US" sz="1400" i="1" dirty="0">
                <a:solidFill>
                  <a:srgbClr val="6E7781"/>
                </a:solidFill>
                <a:latin typeface="Arial" pitchFamily="34" charset="0"/>
                <a:ea typeface="Arial" pitchFamily="34" charset="-122"/>
                <a:cs typeface="Arial" pitchFamily="34" charset="-120"/>
              </a:rPr>
              <a:t>a person fills a form</a:t>
            </a:r>
            <a:endParaRPr lang="en-US" sz="2000" dirty="0"/>
          </a:p>
        </p:txBody>
      </p:sp>
      <p:sp>
        <p:nvSpPr>
          <p:cNvPr id="5" name="Text 3"/>
          <p:cNvSpPr txBox="1"/>
          <p:nvPr/>
        </p:nvSpPr>
        <p:spPr>
          <a:xfrm>
            <a:off x="640080" y="2971800"/>
            <a:ext cx="5120640" cy="1371600"/>
          </a:xfrm>
          <a:prstGeom prst="rect">
            <a:avLst/>
          </a:prstGeom>
          <a:noFill/>
          <a:ln/>
        </p:spPr>
        <p:txBody>
          <a:bodyPr wrap="square" lIns="0" tIns="0" rIns="0" bIns="0" rtlCol="0" anchor="t"/>
          <a:lstStyle/>
          <a:p>
            <a:pPr marL="0" indent="0">
              <a:spcAft>
                <a:spcPts val="300"/>
              </a:spcAft>
              <a:buNone/>
            </a:pPr>
            <a:r>
              <a:rPr lang="en-US" sz="2000" b="1" dirty="0">
                <a:solidFill>
                  <a:srgbClr val="1F2328"/>
                </a:solidFill>
                <a:latin typeface="Arial" pitchFamily="34" charset="0"/>
                <a:ea typeface="Arial" pitchFamily="34" charset="-122"/>
                <a:cs typeface="Arial" pitchFamily="34" charset="-120"/>
              </a:rPr>
              <a:t>Send</a:t>
            </a:r>
            <a:endParaRPr lang="en-US" sz="2000" dirty="0"/>
          </a:p>
          <a:p>
            <a:pPr marL="0" indent="0">
              <a:spcAft>
                <a:spcPts val="300"/>
              </a:spcAft>
              <a:buNone/>
            </a:pPr>
            <a:r>
              <a:rPr lang="en-US" sz="1500" dirty="0">
                <a:solidFill>
                  <a:srgbClr val="1F2328"/>
                </a:solidFill>
                <a:latin typeface="Arial" pitchFamily="34" charset="0"/>
                <a:ea typeface="Arial" pitchFamily="34" charset="-122"/>
                <a:cs typeface="Arial" pitchFamily="34" charset="-120"/>
              </a:rPr>
              <a:t>Send tracking number, Send delay notice</a:t>
            </a:r>
            <a:endParaRPr lang="en-US" sz="2000" dirty="0"/>
          </a:p>
          <a:p>
            <a:pPr marL="0" indent="0">
              <a:spcAft>
                <a:spcPts val="300"/>
              </a:spcAft>
              <a:buNone/>
            </a:pPr>
            <a:r>
              <a:rPr lang="en-US" sz="1400" i="1" dirty="0">
                <a:solidFill>
                  <a:srgbClr val="6E7781"/>
                </a:solidFill>
                <a:latin typeface="Arial" pitchFamily="34" charset="0"/>
                <a:ea typeface="Arial" pitchFamily="34" charset="-122"/>
                <a:cs typeface="Arial" pitchFamily="34" charset="-120"/>
              </a:rPr>
              <a:t>one-way message out</a:t>
            </a:r>
            <a:endParaRPr lang="en-US" sz="2000" dirty="0"/>
          </a:p>
        </p:txBody>
      </p:sp>
      <p:sp>
        <p:nvSpPr>
          <p:cNvPr id="6" name="Text 4"/>
          <p:cNvSpPr txBox="1"/>
          <p:nvPr/>
        </p:nvSpPr>
        <p:spPr>
          <a:xfrm>
            <a:off x="6217920" y="2971800"/>
            <a:ext cx="5120640" cy="1371600"/>
          </a:xfrm>
          <a:prstGeom prst="rect">
            <a:avLst/>
          </a:prstGeom>
          <a:noFill/>
          <a:ln/>
        </p:spPr>
        <p:txBody>
          <a:bodyPr wrap="square" lIns="0" tIns="0" rIns="0" bIns="0" rtlCol="0" anchor="t"/>
          <a:lstStyle/>
          <a:p>
            <a:pPr marL="0" indent="0">
              <a:spcAft>
                <a:spcPts val="300"/>
              </a:spcAft>
              <a:buNone/>
            </a:pPr>
            <a:r>
              <a:rPr lang="en-US" sz="2000" b="1" dirty="0">
                <a:solidFill>
                  <a:srgbClr val="1F2328"/>
                </a:solidFill>
                <a:latin typeface="Arial" pitchFamily="34" charset="0"/>
                <a:ea typeface="Arial" pitchFamily="34" charset="-122"/>
                <a:cs typeface="Arial" pitchFamily="34" charset="-120"/>
              </a:rPr>
              <a:t>Receive</a:t>
            </a:r>
            <a:endParaRPr lang="en-US" sz="2000" dirty="0"/>
          </a:p>
          <a:p>
            <a:pPr marL="0" indent="0">
              <a:spcAft>
                <a:spcPts val="300"/>
              </a:spcAft>
              <a:buNone/>
            </a:pPr>
            <a:r>
              <a:rPr lang="en-US" sz="1500" dirty="0">
                <a:solidFill>
                  <a:srgbClr val="1F2328"/>
                </a:solidFill>
                <a:latin typeface="Arial" pitchFamily="34" charset="0"/>
                <a:ea typeface="Arial" pitchFamily="34" charset="-122"/>
                <a:cs typeface="Arial" pitchFamily="34" charset="-120"/>
              </a:rPr>
              <a:t>Transport to destination hub, Customs clearance</a:t>
            </a:r>
            <a:endParaRPr lang="en-US" sz="2000" dirty="0"/>
          </a:p>
          <a:p>
            <a:pPr marL="0" indent="0">
              <a:spcAft>
                <a:spcPts val="300"/>
              </a:spcAft>
              <a:buNone/>
            </a:pPr>
            <a:r>
              <a:rPr lang="en-US" sz="1400" i="1" dirty="0">
                <a:solidFill>
                  <a:srgbClr val="6E7781"/>
                </a:solidFill>
                <a:latin typeface="Arial" pitchFamily="34" charset="0"/>
                <a:ea typeface="Arial" pitchFamily="34" charset="-122"/>
                <a:cs typeface="Arial" pitchFamily="34" charset="-120"/>
              </a:rPr>
              <a:t>waits for a message</a:t>
            </a:r>
            <a:endParaRPr lang="en-US" sz="2000" dirty="0"/>
          </a:p>
        </p:txBody>
      </p:sp>
      <p:sp>
        <p:nvSpPr>
          <p:cNvPr id="7" name="Text 5"/>
          <p:cNvSpPr txBox="1"/>
          <p:nvPr/>
        </p:nvSpPr>
        <p:spPr>
          <a:xfrm>
            <a:off x="640080" y="4526280"/>
            <a:ext cx="5120640" cy="1371600"/>
          </a:xfrm>
          <a:prstGeom prst="rect">
            <a:avLst/>
          </a:prstGeom>
          <a:noFill/>
          <a:ln/>
        </p:spPr>
        <p:txBody>
          <a:bodyPr wrap="square" lIns="0" tIns="0" rIns="0" bIns="0" rtlCol="0" anchor="t"/>
          <a:lstStyle/>
          <a:p>
            <a:pPr marL="0" indent="0">
              <a:spcAft>
                <a:spcPts val="300"/>
              </a:spcAft>
              <a:buNone/>
            </a:pPr>
            <a:r>
              <a:rPr lang="en-US" sz="2000" b="1" dirty="0">
                <a:solidFill>
                  <a:srgbClr val="1F2328"/>
                </a:solidFill>
                <a:latin typeface="Arial" pitchFamily="34" charset="0"/>
                <a:ea typeface="Arial" pitchFamily="34" charset="-122"/>
                <a:cs typeface="Arial" pitchFamily="34" charset="-120"/>
              </a:rPr>
              <a:t>Script</a:t>
            </a:r>
            <a:endParaRPr lang="en-US" sz="2000" dirty="0"/>
          </a:p>
          <a:p>
            <a:pPr marL="0" indent="0">
              <a:spcAft>
                <a:spcPts val="300"/>
              </a:spcAft>
              <a:buNone/>
            </a:pPr>
            <a:r>
              <a:rPr lang="en-US" sz="1500" dirty="0">
                <a:solidFill>
                  <a:srgbClr val="1F2328"/>
                </a:solidFill>
                <a:latin typeface="Arial" pitchFamily="34" charset="0"/>
                <a:ea typeface="Arial" pitchFamily="34" charset="-122"/>
                <a:cs typeface="Arial" pitchFamily="34" charset="-120"/>
              </a:rPr>
              <a:t>Count attempt</a:t>
            </a:r>
            <a:endParaRPr lang="en-US" sz="2000" dirty="0"/>
          </a:p>
          <a:p>
            <a:pPr marL="0" indent="0">
              <a:spcAft>
                <a:spcPts val="300"/>
              </a:spcAft>
              <a:buNone/>
            </a:pPr>
            <a:r>
              <a:rPr lang="en-US" sz="1400" i="1" dirty="0">
                <a:solidFill>
                  <a:srgbClr val="6E7781"/>
                </a:solidFill>
                <a:latin typeface="Arial" pitchFamily="34" charset="0"/>
                <a:ea typeface="Arial" pitchFamily="34" charset="-122"/>
                <a:cs typeface="Arial" pitchFamily="34" charset="-120"/>
              </a:rPr>
              <a:t>adds 1 to a counter</a:t>
            </a:r>
            <a:endParaRPr lang="en-US" sz="2000" dirty="0"/>
          </a:p>
        </p:txBody>
      </p:sp>
      <p:sp>
        <p:nvSpPr>
          <p:cNvPr id="8" name="Text 6"/>
          <p:cNvSpPr txBox="1"/>
          <p:nvPr/>
        </p:nvSpPr>
        <p:spPr>
          <a:xfrm>
            <a:off x="6217920" y="4526280"/>
            <a:ext cx="5120640" cy="1371600"/>
          </a:xfrm>
          <a:prstGeom prst="rect">
            <a:avLst/>
          </a:prstGeom>
          <a:noFill/>
          <a:ln/>
        </p:spPr>
        <p:txBody>
          <a:bodyPr wrap="square" lIns="0" tIns="0" rIns="0" bIns="0" rtlCol="0" anchor="t"/>
          <a:lstStyle/>
          <a:p>
            <a:pPr marL="0" indent="0">
              <a:spcAft>
                <a:spcPts val="300"/>
              </a:spcAft>
              <a:buNone/>
            </a:pPr>
            <a:r>
              <a:rPr lang="en-US" sz="2000" b="1" dirty="0">
                <a:solidFill>
                  <a:srgbClr val="1F2328"/>
                </a:solidFill>
                <a:latin typeface="Arial" pitchFamily="34" charset="0"/>
                <a:ea typeface="Arial" pitchFamily="34" charset="-122"/>
                <a:cs typeface="Arial" pitchFamily="34" charset="-120"/>
              </a:rPr>
              <a:t>Manual</a:t>
            </a:r>
            <a:endParaRPr lang="en-US" sz="2000" dirty="0"/>
          </a:p>
          <a:p>
            <a:pPr marL="0" indent="0">
              <a:spcAft>
                <a:spcPts val="300"/>
              </a:spcAft>
              <a:buNone/>
            </a:pPr>
            <a:r>
              <a:rPr lang="en-US" sz="1500" dirty="0">
                <a:solidFill>
                  <a:srgbClr val="1F2328"/>
                </a:solidFill>
                <a:latin typeface="Arial" pitchFamily="34" charset="0"/>
                <a:ea typeface="Arial" pitchFamily="34" charset="-122"/>
                <a:cs typeface="Arial" pitchFamily="34" charset="-120"/>
              </a:rPr>
              <a:t>Hand over at hub, Return to shipper</a:t>
            </a:r>
            <a:endParaRPr lang="en-US" sz="2000" dirty="0"/>
          </a:p>
          <a:p>
            <a:pPr marL="0" indent="0">
              <a:spcAft>
                <a:spcPts val="300"/>
              </a:spcAft>
              <a:buNone/>
            </a:pPr>
            <a:r>
              <a:rPr lang="en-US" sz="1400" i="1" dirty="0">
                <a:solidFill>
                  <a:srgbClr val="6E7781"/>
                </a:solidFill>
                <a:latin typeface="Arial" pitchFamily="34" charset="0"/>
                <a:ea typeface="Arial" pitchFamily="34" charset="-122"/>
                <a:cs typeface="Arial" pitchFamily="34" charset="-120"/>
              </a:rPr>
              <a:t>physical work, no system</a:t>
            </a:r>
            <a:endParaRPr lang="en-US" sz="20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781"/>
                </a:solidFill>
                <a:latin typeface="Arial"/>
                <a:ea typeface="Arial"/>
                <a:cs typeface="Aria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411480"/>
            <a:ext cx="10881360" cy="685800"/>
          </a:xfrm>
          <a:prstGeom prst="rect">
            <a:avLst/>
          </a:prstGeom>
          <a:noFill/>
          <a:ln/>
        </p:spPr>
        <p:txBody>
          <a:bodyPr wrap="square" lIns="0" tIns="0" rIns="0" bIns="0" rtlCol="0" anchor="ctr"/>
          <a:lstStyle/>
          <a:p>
            <a:pPr marL="0" indent="0" algn="l">
              <a:buNone/>
            </a:pPr>
            <a:r>
              <a:rPr lang="en-US" sz="3000" b="1" dirty="0">
                <a:solidFill>
                  <a:srgbClr val="1F2328"/>
                </a:solidFill>
                <a:latin typeface="Arial" pitchFamily="34" charset="0"/>
                <a:ea typeface="Arial" pitchFamily="34" charset="-122"/>
                <a:cs typeface="Arial" pitchFamily="34" charset="-120"/>
              </a:rPr>
              <a:t>Gateways</a:t>
            </a:r>
            <a:endParaRPr lang="en-US" sz="3000" dirty="0"/>
          </a:p>
        </p:txBody>
      </p:sp>
      <p:sp>
        <p:nvSpPr>
          <p:cNvPr id="3" name="Text 1"/>
          <p:cNvSpPr txBox="1"/>
          <p:nvPr/>
        </p:nvSpPr>
        <p:spPr>
          <a:xfrm>
            <a:off x="640080" y="1463040"/>
            <a:ext cx="4206240" cy="4572000"/>
          </a:xfrm>
          <a:prstGeom prst="rect">
            <a:avLst/>
          </a:prstGeom>
          <a:noFill/>
          <a:ln/>
        </p:spPr>
        <p:txBody>
          <a:bodyPr wrap="square" lIns="0" tIns="0" rIns="0" bIns="0" rtlCol="0" anchor="t"/>
          <a:lstStyle/>
          <a:p>
            <a:pPr marL="0" indent="0">
              <a:spcAft>
                <a:spcPts val="400"/>
              </a:spcAft>
              <a:buNone/>
            </a:pPr>
            <a:r>
              <a:rPr lang="en-US" sz="2000" b="1" dirty="0">
                <a:solidFill>
                  <a:srgbClr val="1F2328"/>
                </a:solidFill>
                <a:latin typeface="Arial" pitchFamily="34" charset="0"/>
                <a:ea typeface="Arial" pitchFamily="34" charset="-122"/>
                <a:cs typeface="Arial" pitchFamily="34" charset="-120"/>
              </a:rPr>
              <a:t>Exclusive  ✕</a:t>
            </a:r>
            <a:endParaRPr lang="en-US" sz="2000" dirty="0"/>
          </a:p>
          <a:p>
            <a:pPr marL="0" indent="0">
              <a:spcAft>
                <a:spcPts val="400"/>
              </a:spcAft>
              <a:buNone/>
            </a:pPr>
            <a:r>
              <a:rPr lang="en-US" sz="1400" i="1" dirty="0">
                <a:solidFill>
                  <a:srgbClr val="6E7781"/>
                </a:solidFill>
                <a:latin typeface="Arial" pitchFamily="34" charset="0"/>
                <a:ea typeface="Arial" pitchFamily="34" charset="-122"/>
                <a:cs typeface="Arial" pitchFamily="34" charset="-120"/>
              </a:rPr>
              <a:t>One path only</a:t>
            </a:r>
            <a:endParaRPr lang="en-US" sz="2000" dirty="0"/>
          </a:p>
          <a:p>
            <a:pPr marL="0" indent="0">
              <a:spcAft>
                <a:spcPts val="400"/>
              </a:spcAft>
              <a:buNone/>
            </a:pPr>
            <a:r>
              <a:rPr lang="en-US" sz="1500" dirty="0">
                <a:solidFill>
                  <a:srgbClr val="1F2328"/>
                </a:solidFill>
                <a:latin typeface="Arial" pitchFamily="34" charset="0"/>
                <a:ea typeface="Arial" pitchFamily="34" charset="-122"/>
                <a:cs typeface="Arial" pitchFamily="34" charset="-120"/>
              </a:rPr>
              <a:t>Booking valid? · Collected? · International? · Outcome? · Attempts &lt; 3?</a:t>
            </a:r>
            <a:endParaRPr lang="en-US" sz="2000" dirty="0"/>
          </a:p>
          <a:p>
            <a:pPr marL="0" indent="0">
              <a:spcAft>
                <a:spcPts val="400"/>
              </a:spcAft>
              <a:buNone/>
            </a:pPr>
            <a:r>
              <a:rPr lang="en-US" sz="1200" dirty="0">
                <a:solidFill>
                  <a:srgbClr val="1F2328"/>
                </a:solidFill>
                <a:latin typeface="Arial" pitchFamily="34" charset="0"/>
                <a:ea typeface="Arial" pitchFamily="34" charset="-122"/>
                <a:cs typeface="Arial" pitchFamily="34" charset="-120"/>
              </a:rPr>
              <a:t> </a:t>
            </a:r>
            <a:endParaRPr lang="en-US" sz="2000" dirty="0"/>
          </a:p>
          <a:p>
            <a:pPr marL="0" indent="0">
              <a:spcAft>
                <a:spcPts val="400"/>
              </a:spcAft>
              <a:buNone/>
            </a:pPr>
            <a:r>
              <a:rPr lang="en-US" sz="2000" b="1" dirty="0">
                <a:solidFill>
                  <a:srgbClr val="1F2328"/>
                </a:solidFill>
                <a:latin typeface="Arial" pitchFamily="34" charset="0"/>
                <a:ea typeface="Arial" pitchFamily="34" charset="-122"/>
                <a:cs typeface="Arial" pitchFamily="34" charset="-120"/>
              </a:rPr>
              <a:t>Parallel  ✚</a:t>
            </a:r>
            <a:endParaRPr lang="en-US" sz="2000" dirty="0"/>
          </a:p>
          <a:p>
            <a:pPr marL="0" indent="0">
              <a:spcAft>
                <a:spcPts val="400"/>
              </a:spcAft>
              <a:buNone/>
            </a:pPr>
            <a:r>
              <a:rPr lang="en-US" sz="1400" i="1" dirty="0">
                <a:solidFill>
                  <a:srgbClr val="6E7781"/>
                </a:solidFill>
                <a:latin typeface="Arial" pitchFamily="34" charset="0"/>
                <a:ea typeface="Arial" pitchFamily="34" charset="-122"/>
                <a:cs typeface="Arial" pitchFamily="34" charset="-120"/>
              </a:rPr>
              <a:t>All paths at once</a:t>
            </a:r>
            <a:endParaRPr lang="en-US" sz="2000" dirty="0"/>
          </a:p>
          <a:p>
            <a:pPr marL="0" indent="0">
              <a:spcAft>
                <a:spcPts val="400"/>
              </a:spcAft>
              <a:buNone/>
            </a:pPr>
            <a:r>
              <a:rPr lang="en-US" sz="1500" dirty="0">
                <a:solidFill>
                  <a:srgbClr val="1F2328"/>
                </a:solidFill>
                <a:latin typeface="Arial" pitchFamily="34" charset="0"/>
                <a:ea typeface="Arial" pitchFamily="34" charset="-122"/>
                <a:cs typeface="Arial" pitchFamily="34" charset="-120"/>
              </a:rPr>
              <a:t>After pickup: hand over at hub and send tracking number together. The join waits for both.</a:t>
            </a:r>
            <a:endParaRPr lang="en-US" sz="2000" dirty="0"/>
          </a:p>
        </p:txBody>
      </p:sp>
      <p:sp>
        <p:nvSpPr>
          <p:cNvPr id="4" name="Shape 2"/>
          <p:cNvSpPr/>
          <p:nvPr/>
        </p:nvSpPr>
        <p:spPr>
          <a:xfrm>
            <a:off x="5212080" y="1371600"/>
            <a:ext cx="6309360" cy="4800600"/>
          </a:xfrm>
          <a:prstGeom prst="rect">
            <a:avLst/>
          </a:prstGeom>
          <a:solidFill>
            <a:srgbClr val="FFFFFF"/>
          </a:solidFill>
          <a:ln w="9525">
            <a:solidFill>
              <a:srgbClr val="D8DCE1"/>
            </a:solidFill>
            <a:prstDash val="solid"/>
          </a:ln>
        </p:spPr>
      </p:sp>
      <p:pic>
        <p:nvPicPr>
          <p:cNvPr id="5" name="Image 0" descr="Diagram crop: parallel split and join after pickup"/>
          <p:cNvPicPr>
            <a:picLocks noChangeAspect="1"/>
          </p:cNvPicPr>
          <p:nvPr/>
        </p:nvPicPr>
        <p:blipFill>
          <a:blip r:embed="rId3"/>
          <a:stretch>
            <a:fillRect/>
          </a:stretch>
        </p:blipFill>
        <p:spPr>
          <a:xfrm>
            <a:off x="5751026" y="1463040"/>
            <a:ext cx="5231468" cy="4617720"/>
          </a:xfrm>
          <a:prstGeom prst="rect">
            <a:avLst/>
          </a:prstGeom>
        </p:spPr>
      </p:pic>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781"/>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411480"/>
            <a:ext cx="10881360" cy="685800"/>
          </a:xfrm>
          <a:prstGeom prst="rect">
            <a:avLst/>
          </a:prstGeom>
          <a:noFill/>
          <a:ln/>
        </p:spPr>
        <p:txBody>
          <a:bodyPr wrap="square" lIns="0" tIns="0" rIns="0" bIns="0" rtlCol="0" anchor="ctr"/>
          <a:lstStyle/>
          <a:p>
            <a:pPr marL="0" indent="0" algn="l">
              <a:buNone/>
            </a:pPr>
            <a:r>
              <a:rPr lang="en-US" sz="3000" b="1" dirty="0">
                <a:solidFill>
                  <a:srgbClr val="1F2328"/>
                </a:solidFill>
                <a:latin typeface="Arial" pitchFamily="34" charset="0"/>
                <a:ea typeface="Arial" pitchFamily="34" charset="-122"/>
                <a:cs typeface="Arial" pitchFamily="34" charset="-120"/>
              </a:rPr>
              <a:t>Intermediate events</a:t>
            </a:r>
            <a:endParaRPr lang="en-US" sz="3000" dirty="0"/>
          </a:p>
        </p:txBody>
      </p:sp>
      <p:sp>
        <p:nvSpPr>
          <p:cNvPr id="3" name="Shape 1"/>
          <p:cNvSpPr/>
          <p:nvPr/>
        </p:nvSpPr>
        <p:spPr>
          <a:xfrm>
            <a:off x="640080" y="1371600"/>
            <a:ext cx="5760720" cy="3291840"/>
          </a:xfrm>
          <a:prstGeom prst="rect">
            <a:avLst/>
          </a:prstGeom>
          <a:solidFill>
            <a:srgbClr val="FFFFFF"/>
          </a:solidFill>
          <a:ln w="9525">
            <a:solidFill>
              <a:srgbClr val="D8DCE1"/>
            </a:solidFill>
            <a:prstDash val="solid"/>
          </a:ln>
        </p:spPr>
      </p:sp>
      <p:pic>
        <p:nvPicPr>
          <p:cNvPr id="4" name="Image 0" descr="Diagram crop: Transport task with three boundary events"/>
          <p:cNvPicPr>
            <a:picLocks noChangeAspect="1"/>
          </p:cNvPicPr>
          <p:nvPr/>
        </p:nvPicPr>
        <p:blipFill>
          <a:blip r:embed="rId3"/>
          <a:stretch>
            <a:fillRect/>
          </a:stretch>
        </p:blipFill>
        <p:spPr>
          <a:xfrm>
            <a:off x="731520" y="1469362"/>
            <a:ext cx="5577840" cy="3096316"/>
          </a:xfrm>
          <a:prstGeom prst="rect">
            <a:avLst/>
          </a:prstGeom>
        </p:spPr>
      </p:pic>
      <p:sp>
        <p:nvSpPr>
          <p:cNvPr id="5" name="Text 2"/>
          <p:cNvSpPr txBox="1"/>
          <p:nvPr/>
        </p:nvSpPr>
        <p:spPr>
          <a:xfrm>
            <a:off x="640080" y="4846320"/>
            <a:ext cx="5760720" cy="731520"/>
          </a:xfrm>
          <a:prstGeom prst="rect">
            <a:avLst/>
          </a:prstGeom>
          <a:noFill/>
          <a:ln/>
        </p:spPr>
        <p:txBody>
          <a:bodyPr wrap="square" lIns="0" tIns="0" rIns="0" bIns="0" rtlCol="0" anchor="t"/>
          <a:lstStyle/>
          <a:p>
            <a:pPr marL="0" indent="0">
              <a:buNone/>
            </a:pPr>
            <a:r>
              <a:rPr lang="en-US" sz="1400" i="1" dirty="0">
                <a:solidFill>
                  <a:srgbClr val="6E7781"/>
                </a:solidFill>
                <a:latin typeface="Arial" pitchFamily="34" charset="0"/>
                <a:ea typeface="Arial" pitchFamily="34" charset="-122"/>
                <a:cs typeface="Arial" pitchFamily="34" charset="-120"/>
              </a:rPr>
              <a:t>Dashed circle = non-interrupting (the task carries on).  Solid circle = interrupting (the task stops).</a:t>
            </a:r>
            <a:endParaRPr lang="en-US" sz="1400" dirty="0"/>
          </a:p>
        </p:txBody>
      </p:sp>
      <p:sp>
        <p:nvSpPr>
          <p:cNvPr id="6" name="Text 3"/>
          <p:cNvSpPr txBox="1"/>
          <p:nvPr/>
        </p:nvSpPr>
        <p:spPr>
          <a:xfrm>
            <a:off x="6858000" y="1417320"/>
            <a:ext cx="4663440" cy="868680"/>
          </a:xfrm>
          <a:prstGeom prst="rect">
            <a:avLst/>
          </a:prstGeom>
          <a:noFill/>
          <a:ln/>
        </p:spPr>
        <p:txBody>
          <a:bodyPr wrap="square" lIns="0" tIns="0" rIns="0" bIns="0" rtlCol="0" anchor="t"/>
          <a:lstStyle/>
          <a:p>
            <a:pPr marL="0" indent="0">
              <a:buNone/>
            </a:pPr>
            <a:r>
              <a:rPr lang="en-US" sz="1700" b="1" dirty="0">
                <a:solidFill>
                  <a:srgbClr val="1F2328"/>
                </a:solidFill>
                <a:latin typeface="Arial" pitchFamily="34" charset="0"/>
                <a:ea typeface="Arial" pitchFamily="34" charset="-122"/>
                <a:cs typeface="Arial" pitchFamily="34" charset="-120"/>
              </a:rPr>
              <a:t>ETA exceeded</a:t>
            </a:r>
            <a:endParaRPr lang="en-US" sz="1700" dirty="0"/>
          </a:p>
          <a:p>
            <a:pPr marL="0" indent="0">
              <a:buNone/>
            </a:pPr>
            <a:r>
              <a:rPr lang="en-US" sz="1400" dirty="0">
                <a:solidFill>
                  <a:srgbClr val="6E7781"/>
                </a:solidFill>
                <a:latin typeface="Arial" pitchFamily="34" charset="0"/>
                <a:ea typeface="Arial" pitchFamily="34" charset="-122"/>
                <a:cs typeface="Arial" pitchFamily="34" charset="-120"/>
              </a:rPr>
              <a:t>timer, non-interrupting → delay notice</a:t>
            </a:r>
            <a:endParaRPr lang="en-US" sz="1700" dirty="0"/>
          </a:p>
        </p:txBody>
      </p:sp>
      <p:sp>
        <p:nvSpPr>
          <p:cNvPr id="7" name="Text 4"/>
          <p:cNvSpPr txBox="1"/>
          <p:nvPr/>
        </p:nvSpPr>
        <p:spPr>
          <a:xfrm>
            <a:off x="6858000" y="2331720"/>
            <a:ext cx="4663440" cy="868680"/>
          </a:xfrm>
          <a:prstGeom prst="rect">
            <a:avLst/>
          </a:prstGeom>
          <a:noFill/>
          <a:ln/>
        </p:spPr>
        <p:txBody>
          <a:bodyPr wrap="square" lIns="0" tIns="0" rIns="0" bIns="0" rtlCol="0" anchor="t"/>
          <a:lstStyle/>
          <a:p>
            <a:pPr marL="0" indent="0">
              <a:buNone/>
            </a:pPr>
            <a:r>
              <a:rPr lang="en-US" sz="1700" b="1" dirty="0">
                <a:solidFill>
                  <a:srgbClr val="1F2328"/>
                </a:solidFill>
                <a:latin typeface="Arial" pitchFamily="34" charset="0"/>
                <a:ea typeface="Arial" pitchFamily="34" charset="-122"/>
                <a:cs typeface="Arial" pitchFamily="34" charset="-120"/>
              </a:rPr>
              <a:t>No scan for 48 h</a:t>
            </a:r>
            <a:endParaRPr lang="en-US" sz="1700" dirty="0"/>
          </a:p>
          <a:p>
            <a:pPr marL="0" indent="0">
              <a:buNone/>
            </a:pPr>
            <a:r>
              <a:rPr lang="en-US" sz="1400" dirty="0">
                <a:solidFill>
                  <a:srgbClr val="6E7781"/>
                </a:solidFill>
                <a:latin typeface="Arial" pitchFamily="34" charset="0"/>
                <a:ea typeface="Arial" pitchFamily="34" charset="-122"/>
                <a:cs typeface="Arial" pitchFamily="34" charset="-120"/>
              </a:rPr>
              <a:t>timer, interrupting → claims</a:t>
            </a:r>
            <a:endParaRPr lang="en-US" sz="1700" dirty="0"/>
          </a:p>
        </p:txBody>
      </p:sp>
      <p:sp>
        <p:nvSpPr>
          <p:cNvPr id="8" name="Text 5"/>
          <p:cNvSpPr txBox="1"/>
          <p:nvPr/>
        </p:nvSpPr>
        <p:spPr>
          <a:xfrm>
            <a:off x="6858000" y="3246120"/>
            <a:ext cx="4663440" cy="868680"/>
          </a:xfrm>
          <a:prstGeom prst="rect">
            <a:avLst/>
          </a:prstGeom>
          <a:noFill/>
          <a:ln/>
        </p:spPr>
        <p:txBody>
          <a:bodyPr wrap="square" lIns="0" tIns="0" rIns="0" bIns="0" rtlCol="0" anchor="t"/>
          <a:lstStyle/>
          <a:p>
            <a:pPr marL="0" indent="0">
              <a:buNone/>
            </a:pPr>
            <a:r>
              <a:rPr lang="en-US" sz="1700" b="1" dirty="0">
                <a:solidFill>
                  <a:srgbClr val="1F2328"/>
                </a:solidFill>
                <a:latin typeface="Arial" pitchFamily="34" charset="0"/>
                <a:ea typeface="Arial" pitchFamily="34" charset="-122"/>
                <a:cs typeface="Arial" pitchFamily="34" charset="-120"/>
              </a:rPr>
              <a:t>Cancellation requested</a:t>
            </a:r>
            <a:endParaRPr lang="en-US" sz="1700" dirty="0"/>
          </a:p>
          <a:p>
            <a:pPr marL="0" indent="0">
              <a:buNone/>
            </a:pPr>
            <a:r>
              <a:rPr lang="en-US" sz="1400" dirty="0">
                <a:solidFill>
                  <a:srgbClr val="6E7781"/>
                </a:solidFill>
                <a:latin typeface="Arial" pitchFamily="34" charset="0"/>
                <a:ea typeface="Arial" pitchFamily="34" charset="-122"/>
                <a:cs typeface="Arial" pitchFamily="34" charset="-120"/>
              </a:rPr>
              <a:t>message, interrupting → return</a:t>
            </a:r>
            <a:endParaRPr lang="en-US" sz="1700" dirty="0"/>
          </a:p>
        </p:txBody>
      </p:sp>
      <p:sp>
        <p:nvSpPr>
          <p:cNvPr id="9" name="Text 6"/>
          <p:cNvSpPr txBox="1"/>
          <p:nvPr/>
        </p:nvSpPr>
        <p:spPr>
          <a:xfrm>
            <a:off x="6858000" y="4160520"/>
            <a:ext cx="4663440" cy="868680"/>
          </a:xfrm>
          <a:prstGeom prst="rect">
            <a:avLst/>
          </a:prstGeom>
          <a:noFill/>
          <a:ln/>
        </p:spPr>
        <p:txBody>
          <a:bodyPr wrap="square" lIns="0" tIns="0" rIns="0" bIns="0" rtlCol="0" anchor="t"/>
          <a:lstStyle/>
          <a:p>
            <a:pPr marL="0" indent="0">
              <a:buNone/>
            </a:pPr>
            <a:r>
              <a:rPr lang="en-US" sz="1700" b="1" dirty="0">
                <a:solidFill>
                  <a:srgbClr val="1F2328"/>
                </a:solidFill>
                <a:latin typeface="Arial" pitchFamily="34" charset="0"/>
                <a:ea typeface="Arial" pitchFamily="34" charset="-122"/>
                <a:cs typeface="Arial" pitchFamily="34" charset="-120"/>
              </a:rPr>
              <a:t>Held &gt; 5 days</a:t>
            </a:r>
            <a:endParaRPr lang="en-US" sz="1700" dirty="0"/>
          </a:p>
          <a:p>
            <a:pPr marL="0" indent="0">
              <a:buNone/>
            </a:pPr>
            <a:r>
              <a:rPr lang="en-US" sz="1400" dirty="0">
                <a:solidFill>
                  <a:srgbClr val="6E7781"/>
                </a:solidFill>
                <a:latin typeface="Arial" pitchFamily="34" charset="0"/>
                <a:ea typeface="Arial" pitchFamily="34" charset="-122"/>
                <a:cs typeface="Arial" pitchFamily="34" charset="-120"/>
              </a:rPr>
              <a:t>timer on customs → return</a:t>
            </a:r>
            <a:endParaRPr lang="en-US" sz="1700" dirty="0"/>
          </a:p>
        </p:txBody>
      </p:sp>
      <p:sp>
        <p:nvSpPr>
          <p:cNvPr id="10" name="Text 7"/>
          <p:cNvSpPr txBox="1"/>
          <p:nvPr/>
        </p:nvSpPr>
        <p:spPr>
          <a:xfrm>
            <a:off x="6858000" y="5074920"/>
            <a:ext cx="4663440" cy="868680"/>
          </a:xfrm>
          <a:prstGeom prst="rect">
            <a:avLst/>
          </a:prstGeom>
          <a:noFill/>
          <a:ln/>
        </p:spPr>
        <p:txBody>
          <a:bodyPr wrap="square" lIns="0" tIns="0" rIns="0" bIns="0" rtlCol="0" anchor="t"/>
          <a:lstStyle/>
          <a:p>
            <a:pPr marL="0" indent="0">
              <a:buNone/>
            </a:pPr>
            <a:r>
              <a:rPr lang="en-US" sz="1700" b="1" dirty="0">
                <a:solidFill>
                  <a:srgbClr val="1F2328"/>
                </a:solidFill>
                <a:latin typeface="Arial" pitchFamily="34" charset="0"/>
                <a:ea typeface="Arial" pitchFamily="34" charset="-122"/>
                <a:cs typeface="Arial" pitchFamily="34" charset="-120"/>
              </a:rPr>
              <a:t>Next day</a:t>
            </a:r>
            <a:endParaRPr lang="en-US" sz="1700" dirty="0"/>
          </a:p>
          <a:p>
            <a:pPr marL="0" indent="0">
              <a:buNone/>
            </a:pPr>
            <a:r>
              <a:rPr lang="en-US" sz="1400" dirty="0">
                <a:solidFill>
                  <a:srgbClr val="6E7781"/>
                </a:solidFill>
                <a:latin typeface="Arial" pitchFamily="34" charset="0"/>
                <a:ea typeface="Arial" pitchFamily="34" charset="-122"/>
                <a:cs typeface="Arial" pitchFamily="34" charset="-120"/>
              </a:rPr>
              <a:t>timer catch in the retry loop</a:t>
            </a:r>
            <a:endParaRPr lang="en-US" sz="1700" dirty="0"/>
          </a:p>
        </p:txBody>
      </p:sp>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781"/>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411480"/>
            <a:ext cx="10881360" cy="685800"/>
          </a:xfrm>
          <a:prstGeom prst="rect">
            <a:avLst/>
          </a:prstGeom>
          <a:noFill/>
          <a:ln/>
        </p:spPr>
        <p:txBody>
          <a:bodyPr wrap="square" lIns="0" tIns="0" rIns="0" bIns="0" rtlCol="0" anchor="ctr"/>
          <a:lstStyle/>
          <a:p>
            <a:pPr marL="0" indent="0" algn="l">
              <a:buNone/>
            </a:pPr>
            <a:r>
              <a:rPr lang="en-US" sz="3000" b="1" dirty="0">
                <a:solidFill>
                  <a:srgbClr val="1F2328"/>
                </a:solidFill>
                <a:latin typeface="Arial" pitchFamily="34" charset="0"/>
                <a:ea typeface="Arial" pitchFamily="34" charset="-122"/>
                <a:cs typeface="Arial" pitchFamily="34" charset="-120"/>
              </a:rPr>
              <a:t>Critical path</a:t>
            </a:r>
            <a:endParaRPr lang="en-US" sz="3000" dirty="0"/>
          </a:p>
        </p:txBody>
      </p:sp>
      <p:sp>
        <p:nvSpPr>
          <p:cNvPr id="3" name="Text 1"/>
          <p:cNvSpPr/>
          <p:nvPr/>
        </p:nvSpPr>
        <p:spPr>
          <a:xfrm>
            <a:off x="640080" y="1417320"/>
            <a:ext cx="457200" cy="457200"/>
          </a:xfrm>
          <a:prstGeom prst="ellipse">
            <a:avLst/>
          </a:prstGeom>
          <a:solidFill>
            <a:srgbClr val="C2410C"/>
          </a:solidFill>
          <a:ln>
            <a:solidFill>
              <a:srgbClr val="C2410C"/>
            </a:solid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4" name="Text 2"/>
          <p:cNvSpPr txBox="1"/>
          <p:nvPr/>
        </p:nvSpPr>
        <p:spPr>
          <a:xfrm>
            <a:off x="1325880" y="1463040"/>
            <a:ext cx="4114800" cy="411480"/>
          </a:xfrm>
          <a:prstGeom prst="rect">
            <a:avLst/>
          </a:prstGeom>
          <a:noFill/>
          <a:ln/>
        </p:spPr>
        <p:txBody>
          <a:bodyPr wrap="square" lIns="0" tIns="0" rIns="0" bIns="0" rtlCol="0" anchor="ctr"/>
          <a:lstStyle/>
          <a:p>
            <a:pPr marL="0" indent="0">
              <a:buNone/>
            </a:pPr>
            <a:r>
              <a:rPr lang="en-US" sz="1700" b="1" dirty="0">
                <a:solidFill>
                  <a:srgbClr val="1F2328"/>
                </a:solidFill>
                <a:latin typeface="Arial" pitchFamily="34" charset="0"/>
                <a:ea typeface="Arial" pitchFamily="34" charset="-122"/>
                <a:cs typeface="Arial" pitchFamily="34" charset="-120"/>
              </a:rPr>
              <a:t>Booking received  </a:t>
            </a:r>
            <a:r>
              <a:rPr lang="en-US" sz="1400" dirty="0">
                <a:solidFill>
                  <a:srgbClr val="6E7781"/>
                </a:solidFill>
                <a:latin typeface="Arial" pitchFamily="34" charset="0"/>
                <a:ea typeface="Arial" pitchFamily="34" charset="-122"/>
                <a:cs typeface="Arial" pitchFamily="34" charset="-120"/>
              </a:rPr>
              <a:t>message start</a:t>
            </a:r>
            <a:endParaRPr lang="en-US" sz="1700" dirty="0"/>
          </a:p>
        </p:txBody>
      </p:sp>
      <p:sp>
        <p:nvSpPr>
          <p:cNvPr id="5" name="Text 3"/>
          <p:cNvSpPr/>
          <p:nvPr/>
        </p:nvSpPr>
        <p:spPr>
          <a:xfrm>
            <a:off x="640080" y="2194560"/>
            <a:ext cx="457200" cy="457200"/>
          </a:xfrm>
          <a:prstGeom prst="ellipse">
            <a:avLst/>
          </a:prstGeom>
          <a:solidFill>
            <a:srgbClr val="C2410C"/>
          </a:solidFill>
          <a:ln>
            <a:solidFill>
              <a:srgbClr val="C2410C"/>
            </a:solid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6" name="Text 4"/>
          <p:cNvSpPr txBox="1"/>
          <p:nvPr/>
        </p:nvSpPr>
        <p:spPr>
          <a:xfrm>
            <a:off x="1325880" y="2240280"/>
            <a:ext cx="4114800" cy="411480"/>
          </a:xfrm>
          <a:prstGeom prst="rect">
            <a:avLst/>
          </a:prstGeom>
          <a:noFill/>
          <a:ln/>
        </p:spPr>
        <p:txBody>
          <a:bodyPr wrap="square" lIns="0" tIns="0" rIns="0" bIns="0" rtlCol="0" anchor="ctr"/>
          <a:lstStyle/>
          <a:p>
            <a:pPr marL="0" indent="0">
              <a:buNone/>
            </a:pPr>
            <a:r>
              <a:rPr lang="en-US" sz="1700" b="1" dirty="0">
                <a:solidFill>
                  <a:srgbClr val="1F2328"/>
                </a:solidFill>
                <a:latin typeface="Arial" pitchFamily="34" charset="0"/>
                <a:ea typeface="Arial" pitchFamily="34" charset="-122"/>
                <a:cs typeface="Arial" pitchFamily="34" charset="-120"/>
              </a:rPr>
              <a:t>Validate booking  </a:t>
            </a:r>
            <a:r>
              <a:rPr lang="en-US" sz="1400" dirty="0">
                <a:solidFill>
                  <a:srgbClr val="6E7781"/>
                </a:solidFill>
                <a:latin typeface="Arial" pitchFamily="34" charset="0"/>
                <a:ea typeface="Arial" pitchFamily="34" charset="-122"/>
                <a:cs typeface="Arial" pitchFamily="34" charset="-120"/>
              </a:rPr>
              <a:t>DMN says valid</a:t>
            </a:r>
            <a:endParaRPr lang="en-US" sz="1700" dirty="0"/>
          </a:p>
        </p:txBody>
      </p:sp>
      <p:sp>
        <p:nvSpPr>
          <p:cNvPr id="7" name="Text 5"/>
          <p:cNvSpPr/>
          <p:nvPr/>
        </p:nvSpPr>
        <p:spPr>
          <a:xfrm>
            <a:off x="640080" y="2971800"/>
            <a:ext cx="457200" cy="457200"/>
          </a:xfrm>
          <a:prstGeom prst="ellipse">
            <a:avLst/>
          </a:prstGeom>
          <a:solidFill>
            <a:srgbClr val="C2410C"/>
          </a:solidFill>
          <a:ln>
            <a:solidFill>
              <a:srgbClr val="C2410C"/>
            </a:solid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8" name="Text 6"/>
          <p:cNvSpPr txBox="1"/>
          <p:nvPr/>
        </p:nvSpPr>
        <p:spPr>
          <a:xfrm>
            <a:off x="1325880" y="3017520"/>
            <a:ext cx="4114800" cy="411480"/>
          </a:xfrm>
          <a:prstGeom prst="rect">
            <a:avLst/>
          </a:prstGeom>
          <a:noFill/>
          <a:ln/>
        </p:spPr>
        <p:txBody>
          <a:bodyPr wrap="square" lIns="0" tIns="0" rIns="0" bIns="0" rtlCol="0" anchor="ctr"/>
          <a:lstStyle/>
          <a:p>
            <a:pPr marL="0" indent="0">
              <a:buNone/>
            </a:pPr>
            <a:r>
              <a:rPr lang="en-US" sz="1700" b="1" dirty="0">
                <a:solidFill>
                  <a:srgbClr val="1F2328"/>
                </a:solidFill>
                <a:latin typeface="Arial" pitchFamily="34" charset="0"/>
                <a:ea typeface="Arial" pitchFamily="34" charset="-122"/>
                <a:cs typeface="Arial" pitchFamily="34" charset="-120"/>
              </a:rPr>
              <a:t>Collect parcel  </a:t>
            </a:r>
            <a:r>
              <a:rPr lang="en-US" sz="1400" dirty="0">
                <a:solidFill>
                  <a:srgbClr val="6E7781"/>
                </a:solidFill>
                <a:latin typeface="Arial" pitchFamily="34" charset="0"/>
                <a:ea typeface="Arial" pitchFamily="34" charset="-122"/>
                <a:cs typeface="Arial" pitchFamily="34" charset="-120"/>
              </a:rPr>
              <a:t>pickup agent</a:t>
            </a:r>
            <a:endParaRPr lang="en-US" sz="1700" dirty="0"/>
          </a:p>
        </p:txBody>
      </p:sp>
      <p:sp>
        <p:nvSpPr>
          <p:cNvPr id="9" name="Text 7"/>
          <p:cNvSpPr/>
          <p:nvPr/>
        </p:nvSpPr>
        <p:spPr>
          <a:xfrm>
            <a:off x="640080" y="3749040"/>
            <a:ext cx="457200" cy="457200"/>
          </a:xfrm>
          <a:prstGeom prst="ellipse">
            <a:avLst/>
          </a:prstGeom>
          <a:solidFill>
            <a:srgbClr val="C2410C"/>
          </a:solidFill>
          <a:ln>
            <a:solidFill>
              <a:srgbClr val="C2410C"/>
            </a:solid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10" name="Text 8"/>
          <p:cNvSpPr txBox="1"/>
          <p:nvPr/>
        </p:nvSpPr>
        <p:spPr>
          <a:xfrm>
            <a:off x="1325880" y="3794760"/>
            <a:ext cx="4114800" cy="411480"/>
          </a:xfrm>
          <a:prstGeom prst="rect">
            <a:avLst/>
          </a:prstGeom>
          <a:noFill/>
          <a:ln/>
        </p:spPr>
        <p:txBody>
          <a:bodyPr wrap="square" lIns="0" tIns="0" rIns="0" bIns="0" rtlCol="0" anchor="ctr"/>
          <a:lstStyle/>
          <a:p>
            <a:pPr marL="0" indent="0">
              <a:buNone/>
            </a:pPr>
            <a:r>
              <a:rPr lang="en-US" sz="1700" b="1" dirty="0">
                <a:solidFill>
                  <a:srgbClr val="1F2328"/>
                </a:solidFill>
                <a:latin typeface="Arial" pitchFamily="34" charset="0"/>
                <a:ea typeface="Arial" pitchFamily="34" charset="-122"/>
                <a:cs typeface="Arial" pitchFamily="34" charset="-120"/>
              </a:rPr>
              <a:t>Hand over + tracking  </a:t>
            </a:r>
            <a:r>
              <a:rPr lang="en-US" sz="1400" dirty="0">
                <a:solidFill>
                  <a:srgbClr val="6E7781"/>
                </a:solidFill>
                <a:latin typeface="Arial" pitchFamily="34" charset="0"/>
                <a:ea typeface="Arial" pitchFamily="34" charset="-122"/>
                <a:cs typeface="Arial" pitchFamily="34" charset="-120"/>
              </a:rPr>
              <a:t>parallel</a:t>
            </a:r>
            <a:endParaRPr lang="en-US" sz="1700" dirty="0"/>
          </a:p>
        </p:txBody>
      </p:sp>
      <p:sp>
        <p:nvSpPr>
          <p:cNvPr id="11" name="Text 9"/>
          <p:cNvSpPr/>
          <p:nvPr/>
        </p:nvSpPr>
        <p:spPr>
          <a:xfrm>
            <a:off x="640080" y="4526280"/>
            <a:ext cx="457200" cy="457200"/>
          </a:xfrm>
          <a:prstGeom prst="ellipse">
            <a:avLst/>
          </a:prstGeom>
          <a:solidFill>
            <a:srgbClr val="C2410C"/>
          </a:solidFill>
          <a:ln>
            <a:solidFill>
              <a:srgbClr val="C2410C"/>
            </a:solid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12" name="Text 10"/>
          <p:cNvSpPr txBox="1"/>
          <p:nvPr/>
        </p:nvSpPr>
        <p:spPr>
          <a:xfrm>
            <a:off x="1325880" y="4572000"/>
            <a:ext cx="4114800" cy="411480"/>
          </a:xfrm>
          <a:prstGeom prst="rect">
            <a:avLst/>
          </a:prstGeom>
          <a:noFill/>
          <a:ln/>
        </p:spPr>
        <p:txBody>
          <a:bodyPr wrap="square" lIns="0" tIns="0" rIns="0" bIns="0" rtlCol="0" anchor="ctr"/>
          <a:lstStyle/>
          <a:p>
            <a:pPr marL="0" indent="0">
              <a:buNone/>
            </a:pPr>
            <a:r>
              <a:rPr lang="en-US" sz="1700" b="1" dirty="0">
                <a:solidFill>
                  <a:srgbClr val="1F2328"/>
                </a:solidFill>
                <a:latin typeface="Arial" pitchFamily="34" charset="0"/>
                <a:ea typeface="Arial" pitchFamily="34" charset="-122"/>
                <a:cs typeface="Arial" pitchFamily="34" charset="-120"/>
              </a:rPr>
              <a:t>Transport (+ customs)  </a:t>
            </a:r>
            <a:r>
              <a:rPr lang="en-US" sz="1400" dirty="0">
                <a:solidFill>
                  <a:srgbClr val="6E7781"/>
                </a:solidFill>
                <a:latin typeface="Arial" pitchFamily="34" charset="0"/>
                <a:ea typeface="Arial" pitchFamily="34" charset="-122"/>
                <a:cs typeface="Arial" pitchFamily="34" charset="-120"/>
              </a:rPr>
              <a:t>wait for arrival scan</a:t>
            </a:r>
            <a:endParaRPr lang="en-US" sz="1700" dirty="0"/>
          </a:p>
        </p:txBody>
      </p:sp>
      <p:sp>
        <p:nvSpPr>
          <p:cNvPr id="13" name="Text 11"/>
          <p:cNvSpPr/>
          <p:nvPr/>
        </p:nvSpPr>
        <p:spPr>
          <a:xfrm>
            <a:off x="640080" y="5303520"/>
            <a:ext cx="457200" cy="457200"/>
          </a:xfrm>
          <a:prstGeom prst="ellipse">
            <a:avLst/>
          </a:prstGeom>
          <a:solidFill>
            <a:srgbClr val="C2410C"/>
          </a:solidFill>
          <a:ln>
            <a:solidFill>
              <a:srgbClr val="C2410C"/>
            </a:solid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14" name="Text 12"/>
          <p:cNvSpPr txBox="1"/>
          <p:nvPr/>
        </p:nvSpPr>
        <p:spPr>
          <a:xfrm>
            <a:off x="1325880" y="5349240"/>
            <a:ext cx="4114800" cy="411480"/>
          </a:xfrm>
          <a:prstGeom prst="rect">
            <a:avLst/>
          </a:prstGeom>
          <a:noFill/>
          <a:ln/>
        </p:spPr>
        <p:txBody>
          <a:bodyPr wrap="square" lIns="0" tIns="0" rIns="0" bIns="0" rtlCol="0" anchor="ctr"/>
          <a:lstStyle/>
          <a:p>
            <a:pPr marL="0" indent="0">
              <a:buNone/>
            </a:pPr>
            <a:r>
              <a:rPr lang="en-US" sz="1700" b="1" dirty="0">
                <a:solidFill>
                  <a:srgbClr val="1F2328"/>
                </a:solidFill>
                <a:latin typeface="Arial" pitchFamily="34" charset="0"/>
                <a:ea typeface="Arial" pitchFamily="34" charset="-122"/>
                <a:cs typeface="Arial" pitchFamily="34" charset="-120"/>
              </a:rPr>
              <a:t>Attempt delivery  </a:t>
            </a:r>
            <a:r>
              <a:rPr lang="en-US" sz="1400" dirty="0">
                <a:solidFill>
                  <a:srgbClr val="6E7781"/>
                </a:solidFill>
                <a:latin typeface="Arial" pitchFamily="34" charset="0"/>
                <a:ea typeface="Arial" pitchFamily="34" charset="-122"/>
                <a:cs typeface="Arial" pitchFamily="34" charset="-120"/>
              </a:rPr>
              <a:t>outcome = Delivered</a:t>
            </a:r>
            <a:endParaRPr lang="en-US" sz="1700" dirty="0"/>
          </a:p>
        </p:txBody>
      </p:sp>
      <p:sp>
        <p:nvSpPr>
          <p:cNvPr id="15" name="Text 13"/>
          <p:cNvSpPr txBox="1"/>
          <p:nvPr/>
        </p:nvSpPr>
        <p:spPr>
          <a:xfrm>
            <a:off x="1325880" y="6080760"/>
            <a:ext cx="4114800" cy="365760"/>
          </a:xfrm>
          <a:prstGeom prst="rect">
            <a:avLst/>
          </a:prstGeom>
          <a:noFill/>
          <a:ln/>
        </p:spPr>
        <p:txBody>
          <a:bodyPr wrap="square" lIns="0" tIns="0" rIns="0" bIns="0" rtlCol="0" anchor="t"/>
          <a:lstStyle/>
          <a:p>
            <a:pPr marL="0" indent="0">
              <a:buNone/>
            </a:pPr>
            <a:r>
              <a:rPr lang="en-US" sz="1600" b="1" dirty="0">
                <a:solidFill>
                  <a:srgbClr val="C2410C"/>
                </a:solidFill>
                <a:latin typeface="Arial" pitchFamily="34" charset="0"/>
                <a:ea typeface="Arial" pitchFamily="34" charset="-122"/>
                <a:cs typeface="Arial" pitchFamily="34" charset="-120"/>
              </a:rPr>
              <a:t>→ Shipment delivered</a:t>
            </a:r>
            <a:endParaRPr lang="en-US" sz="1600" dirty="0"/>
          </a:p>
        </p:txBody>
      </p:sp>
      <p:sp>
        <p:nvSpPr>
          <p:cNvPr id="16" name="Shape 14"/>
          <p:cNvSpPr/>
          <p:nvPr/>
        </p:nvSpPr>
        <p:spPr>
          <a:xfrm>
            <a:off x="5852160" y="1371600"/>
            <a:ext cx="5669280" cy="4800600"/>
          </a:xfrm>
          <a:prstGeom prst="rect">
            <a:avLst/>
          </a:prstGeom>
          <a:solidFill>
            <a:srgbClr val="FFFFFF"/>
          </a:solidFill>
          <a:ln w="9525">
            <a:solidFill>
              <a:srgbClr val="D8DCE1"/>
            </a:solidFill>
            <a:prstDash val="solid"/>
          </a:ln>
        </p:spPr>
      </p:sp>
      <p:pic>
        <p:nvPicPr>
          <p:cNvPr id="17" name="Image 0" descr="Diagram crop: delivery with outcome gateway and retry loop"/>
          <p:cNvPicPr>
            <a:picLocks noChangeAspect="1"/>
          </p:cNvPicPr>
          <p:nvPr/>
        </p:nvPicPr>
        <p:blipFill>
          <a:blip r:embed="rId3"/>
          <a:stretch>
            <a:fillRect/>
          </a:stretch>
        </p:blipFill>
        <p:spPr>
          <a:xfrm>
            <a:off x="5943600" y="2734103"/>
            <a:ext cx="5486400" cy="2075593"/>
          </a:xfrm>
          <a:prstGeom prst="rect">
            <a:avLst/>
          </a:prstGeom>
        </p:spPr>
      </p:pic>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781"/>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411480"/>
            <a:ext cx="10881360" cy="685800"/>
          </a:xfrm>
          <a:prstGeom prst="rect">
            <a:avLst/>
          </a:prstGeom>
          <a:noFill/>
          <a:ln/>
        </p:spPr>
        <p:txBody>
          <a:bodyPr wrap="square" lIns="0" tIns="0" rIns="0" bIns="0" rtlCol="0" anchor="ctr"/>
          <a:lstStyle/>
          <a:p>
            <a:pPr marL="0" indent="0" algn="l">
              <a:buNone/>
            </a:pPr>
            <a:r>
              <a:rPr lang="en-US" sz="3000" b="1" dirty="0">
                <a:solidFill>
                  <a:srgbClr val="1F2328"/>
                </a:solidFill>
                <a:latin typeface="Arial" pitchFamily="34" charset="0"/>
                <a:ea typeface="Arial" pitchFamily="34" charset="-122"/>
                <a:cs typeface="Arial" pitchFamily="34" charset="-120"/>
              </a:rPr>
              <a:t>Alternate paths</a:t>
            </a:r>
            <a:endParaRPr lang="en-US" sz="3000" dirty="0"/>
          </a:p>
        </p:txBody>
      </p:sp>
      <p:sp>
        <p:nvSpPr>
          <p:cNvPr id="3" name="Text 1"/>
          <p:cNvSpPr txBox="1"/>
          <p:nvPr/>
        </p:nvSpPr>
        <p:spPr>
          <a:xfrm>
            <a:off x="640080" y="1371600"/>
            <a:ext cx="5394960" cy="457200"/>
          </a:xfrm>
          <a:prstGeom prst="rect">
            <a:avLst/>
          </a:prstGeom>
          <a:noFill/>
          <a:ln/>
        </p:spPr>
        <p:txBody>
          <a:bodyPr wrap="square" lIns="0" tIns="0" rIns="0" bIns="0" rtlCol="0" anchor="ctr"/>
          <a:lstStyle/>
          <a:p>
            <a:pPr marL="0" indent="0">
              <a:buNone/>
            </a:pPr>
            <a:r>
              <a:rPr lang="en-US" sz="1600" b="1" dirty="0">
                <a:solidFill>
                  <a:srgbClr val="1F2328"/>
                </a:solidFill>
                <a:latin typeface="Arial" pitchFamily="34" charset="0"/>
                <a:ea typeface="Arial" pitchFamily="34" charset="-122"/>
                <a:cs typeface="Arial" pitchFamily="34" charset="-120"/>
              </a:rPr>
              <a:t>Invalid booking</a:t>
            </a:r>
            <a:r>
              <a:rPr lang="en-US" sz="1600" dirty="0">
                <a:solidFill>
                  <a:srgbClr val="6E7781"/>
                </a:solidFill>
                <a:latin typeface="Arial" pitchFamily="34" charset="0"/>
                <a:ea typeface="Arial" pitchFamily="34" charset="-122"/>
                <a:cs typeface="Arial" pitchFamily="34" charset="-120"/>
              </a:rPr>
              <a:t>   →  Booking rejected</a:t>
            </a:r>
            <a:endParaRPr lang="en-US" sz="1600" dirty="0"/>
          </a:p>
        </p:txBody>
      </p:sp>
      <p:sp>
        <p:nvSpPr>
          <p:cNvPr id="4" name="Text 2"/>
          <p:cNvSpPr txBox="1"/>
          <p:nvPr/>
        </p:nvSpPr>
        <p:spPr>
          <a:xfrm>
            <a:off x="640080" y="1938528"/>
            <a:ext cx="5394960" cy="457200"/>
          </a:xfrm>
          <a:prstGeom prst="rect">
            <a:avLst/>
          </a:prstGeom>
          <a:noFill/>
          <a:ln/>
        </p:spPr>
        <p:txBody>
          <a:bodyPr wrap="square" lIns="0" tIns="0" rIns="0" bIns="0" rtlCol="0" anchor="ctr"/>
          <a:lstStyle/>
          <a:p>
            <a:pPr marL="0" indent="0">
              <a:buNone/>
            </a:pPr>
            <a:r>
              <a:rPr lang="en-US" sz="1600" b="1" dirty="0">
                <a:solidFill>
                  <a:srgbClr val="1F2328"/>
                </a:solidFill>
                <a:latin typeface="Arial" pitchFamily="34" charset="0"/>
                <a:ea typeface="Arial" pitchFamily="34" charset="-122"/>
                <a:cs typeface="Arial" pitchFamily="34" charset="-120"/>
              </a:rPr>
              <a:t>Pickup fails</a:t>
            </a:r>
            <a:r>
              <a:rPr lang="en-US" sz="1600" dirty="0">
                <a:solidFill>
                  <a:srgbClr val="6E7781"/>
                </a:solidFill>
                <a:latin typeface="Arial" pitchFamily="34" charset="0"/>
                <a:ea typeface="Arial" pitchFamily="34" charset="-122"/>
                <a:cs typeface="Arial" pitchFamily="34" charset="-120"/>
              </a:rPr>
              <a:t>   →  Booking cancelled</a:t>
            </a:r>
            <a:endParaRPr lang="en-US" sz="1600" dirty="0"/>
          </a:p>
        </p:txBody>
      </p:sp>
      <p:sp>
        <p:nvSpPr>
          <p:cNvPr id="5" name="Text 3"/>
          <p:cNvSpPr txBox="1"/>
          <p:nvPr/>
        </p:nvSpPr>
        <p:spPr>
          <a:xfrm>
            <a:off x="640080" y="2505456"/>
            <a:ext cx="5394960" cy="457200"/>
          </a:xfrm>
          <a:prstGeom prst="rect">
            <a:avLst/>
          </a:prstGeom>
          <a:noFill/>
          <a:ln/>
        </p:spPr>
        <p:txBody>
          <a:bodyPr wrap="square" lIns="0" tIns="0" rIns="0" bIns="0" rtlCol="0" anchor="ctr"/>
          <a:lstStyle/>
          <a:p>
            <a:pPr marL="0" indent="0">
              <a:buNone/>
            </a:pPr>
            <a:r>
              <a:rPr lang="en-US" sz="1600" b="1" dirty="0">
                <a:solidFill>
                  <a:srgbClr val="1F2328"/>
                </a:solidFill>
                <a:latin typeface="Arial" pitchFamily="34" charset="0"/>
                <a:ea typeface="Arial" pitchFamily="34" charset="-122"/>
                <a:cs typeface="Arial" pitchFamily="34" charset="-120"/>
              </a:rPr>
              <a:t>Running late</a:t>
            </a:r>
            <a:r>
              <a:rPr lang="en-US" sz="1600" dirty="0">
                <a:solidFill>
                  <a:srgbClr val="6E7781"/>
                </a:solidFill>
                <a:latin typeface="Arial" pitchFamily="34" charset="0"/>
                <a:ea typeface="Arial" pitchFamily="34" charset="-122"/>
                <a:cs typeface="Arial" pitchFamily="34" charset="-120"/>
              </a:rPr>
              <a:t>   →  Shipper informed, parcel continues</a:t>
            </a:r>
            <a:endParaRPr lang="en-US" sz="1600" dirty="0"/>
          </a:p>
        </p:txBody>
      </p:sp>
      <p:sp>
        <p:nvSpPr>
          <p:cNvPr id="6" name="Text 4"/>
          <p:cNvSpPr txBox="1"/>
          <p:nvPr/>
        </p:nvSpPr>
        <p:spPr>
          <a:xfrm>
            <a:off x="640080" y="3072384"/>
            <a:ext cx="5394960" cy="457200"/>
          </a:xfrm>
          <a:prstGeom prst="rect">
            <a:avLst/>
          </a:prstGeom>
          <a:noFill/>
          <a:ln/>
        </p:spPr>
        <p:txBody>
          <a:bodyPr wrap="square" lIns="0" tIns="0" rIns="0" bIns="0" rtlCol="0" anchor="ctr"/>
          <a:lstStyle/>
          <a:p>
            <a:pPr marL="0" indent="0">
              <a:buNone/>
            </a:pPr>
            <a:r>
              <a:rPr lang="en-US" sz="1600" b="1" dirty="0">
                <a:solidFill>
                  <a:srgbClr val="1F2328"/>
                </a:solidFill>
                <a:latin typeface="Arial" pitchFamily="34" charset="0"/>
                <a:ea typeface="Arial" pitchFamily="34" charset="-122"/>
                <a:cs typeface="Arial" pitchFamily="34" charset="-120"/>
              </a:rPr>
              <a:t>No scan 48 h</a:t>
            </a:r>
            <a:r>
              <a:rPr lang="en-US" sz="1600" dirty="0">
                <a:solidFill>
                  <a:srgbClr val="6E7781"/>
                </a:solidFill>
                <a:latin typeface="Arial" pitchFamily="34" charset="0"/>
                <a:ea typeface="Arial" pitchFamily="34" charset="-122"/>
                <a:cs typeface="Arial" pitchFamily="34" charset="-120"/>
              </a:rPr>
              <a:t>   →  Claims</a:t>
            </a:r>
            <a:endParaRPr lang="en-US" sz="1600" dirty="0"/>
          </a:p>
        </p:txBody>
      </p:sp>
      <p:sp>
        <p:nvSpPr>
          <p:cNvPr id="7" name="Text 5"/>
          <p:cNvSpPr txBox="1"/>
          <p:nvPr/>
        </p:nvSpPr>
        <p:spPr>
          <a:xfrm>
            <a:off x="640080" y="3639312"/>
            <a:ext cx="5394960" cy="457200"/>
          </a:xfrm>
          <a:prstGeom prst="rect">
            <a:avLst/>
          </a:prstGeom>
          <a:noFill/>
          <a:ln/>
        </p:spPr>
        <p:txBody>
          <a:bodyPr wrap="square" lIns="0" tIns="0" rIns="0" bIns="0" rtlCol="0" anchor="ctr"/>
          <a:lstStyle/>
          <a:p>
            <a:pPr marL="0" indent="0">
              <a:buNone/>
            </a:pPr>
            <a:r>
              <a:rPr lang="en-US" sz="1600" b="1" dirty="0">
                <a:solidFill>
                  <a:srgbClr val="1F2328"/>
                </a:solidFill>
                <a:latin typeface="Arial" pitchFamily="34" charset="0"/>
                <a:ea typeface="Arial" pitchFamily="34" charset="-122"/>
                <a:cs typeface="Arial" pitchFamily="34" charset="-120"/>
              </a:rPr>
              <a:t>Shipper cancels</a:t>
            </a:r>
            <a:r>
              <a:rPr lang="en-US" sz="1600" dirty="0">
                <a:solidFill>
                  <a:srgbClr val="6E7781"/>
                </a:solidFill>
                <a:latin typeface="Arial" pitchFamily="34" charset="0"/>
                <a:ea typeface="Arial" pitchFamily="34" charset="-122"/>
                <a:cs typeface="Arial" pitchFamily="34" charset="-120"/>
              </a:rPr>
              <a:t>   →  Return to sender</a:t>
            </a:r>
            <a:endParaRPr lang="en-US" sz="1600" dirty="0"/>
          </a:p>
        </p:txBody>
      </p:sp>
      <p:sp>
        <p:nvSpPr>
          <p:cNvPr id="8" name="Text 6"/>
          <p:cNvSpPr txBox="1"/>
          <p:nvPr/>
        </p:nvSpPr>
        <p:spPr>
          <a:xfrm>
            <a:off x="6217920" y="1371600"/>
            <a:ext cx="5394960" cy="457200"/>
          </a:xfrm>
          <a:prstGeom prst="rect">
            <a:avLst/>
          </a:prstGeom>
          <a:noFill/>
          <a:ln/>
        </p:spPr>
        <p:txBody>
          <a:bodyPr wrap="square" lIns="0" tIns="0" rIns="0" bIns="0" rtlCol="0" anchor="ctr"/>
          <a:lstStyle/>
          <a:p>
            <a:pPr marL="0" indent="0">
              <a:buNone/>
            </a:pPr>
            <a:r>
              <a:rPr lang="en-US" sz="1600" b="1" dirty="0">
                <a:solidFill>
                  <a:srgbClr val="1F2328"/>
                </a:solidFill>
                <a:latin typeface="Arial" pitchFamily="34" charset="0"/>
                <a:ea typeface="Arial" pitchFamily="34" charset="-122"/>
                <a:cs typeface="Arial" pitchFamily="34" charset="-120"/>
              </a:rPr>
              <a:t>Customs over 5 days</a:t>
            </a:r>
            <a:r>
              <a:rPr lang="en-US" sz="1600" dirty="0">
                <a:solidFill>
                  <a:srgbClr val="6E7781"/>
                </a:solidFill>
                <a:latin typeface="Arial" pitchFamily="34" charset="0"/>
                <a:ea typeface="Arial" pitchFamily="34" charset="-122"/>
                <a:cs typeface="Arial" pitchFamily="34" charset="-120"/>
              </a:rPr>
              <a:t>   →  Return to sender</a:t>
            </a:r>
            <a:endParaRPr lang="en-US" sz="1600" dirty="0"/>
          </a:p>
        </p:txBody>
      </p:sp>
      <p:sp>
        <p:nvSpPr>
          <p:cNvPr id="9" name="Text 7"/>
          <p:cNvSpPr txBox="1"/>
          <p:nvPr/>
        </p:nvSpPr>
        <p:spPr>
          <a:xfrm>
            <a:off x="6217920" y="1938528"/>
            <a:ext cx="5394960" cy="457200"/>
          </a:xfrm>
          <a:prstGeom prst="rect">
            <a:avLst/>
          </a:prstGeom>
          <a:noFill/>
          <a:ln/>
        </p:spPr>
        <p:txBody>
          <a:bodyPr wrap="square" lIns="0" tIns="0" rIns="0" bIns="0" rtlCol="0" anchor="ctr"/>
          <a:lstStyle/>
          <a:p>
            <a:pPr marL="0" indent="0">
              <a:buNone/>
            </a:pPr>
            <a:r>
              <a:rPr lang="en-US" sz="1600" b="1" dirty="0">
                <a:solidFill>
                  <a:srgbClr val="1F2328"/>
                </a:solidFill>
                <a:latin typeface="Arial" pitchFamily="34" charset="0"/>
                <a:ea typeface="Arial" pitchFamily="34" charset="-122"/>
                <a:cs typeface="Arial" pitchFamily="34" charset="-120"/>
              </a:rPr>
              <a:t>Not home (3 tries)</a:t>
            </a:r>
            <a:r>
              <a:rPr lang="en-US" sz="1600" dirty="0">
                <a:solidFill>
                  <a:srgbClr val="6E7781"/>
                </a:solidFill>
                <a:latin typeface="Arial" pitchFamily="34" charset="0"/>
                <a:ea typeface="Arial" pitchFamily="34" charset="-122"/>
                <a:cs typeface="Arial" pitchFamily="34" charset="-120"/>
              </a:rPr>
              <a:t>   →  Return to sender</a:t>
            </a:r>
            <a:endParaRPr lang="en-US" sz="1600" dirty="0"/>
          </a:p>
        </p:txBody>
      </p:sp>
      <p:sp>
        <p:nvSpPr>
          <p:cNvPr id="10" name="Text 8"/>
          <p:cNvSpPr txBox="1"/>
          <p:nvPr/>
        </p:nvSpPr>
        <p:spPr>
          <a:xfrm>
            <a:off x="6217920" y="2505456"/>
            <a:ext cx="5394960" cy="457200"/>
          </a:xfrm>
          <a:prstGeom prst="rect">
            <a:avLst/>
          </a:prstGeom>
          <a:noFill/>
          <a:ln/>
        </p:spPr>
        <p:txBody>
          <a:bodyPr wrap="square" lIns="0" tIns="0" rIns="0" bIns="0" rtlCol="0" anchor="ctr"/>
          <a:lstStyle/>
          <a:p>
            <a:pPr marL="0" indent="0">
              <a:buNone/>
            </a:pPr>
            <a:r>
              <a:rPr lang="en-US" sz="1600" b="1" dirty="0">
                <a:solidFill>
                  <a:srgbClr val="1F2328"/>
                </a:solidFill>
                <a:latin typeface="Arial" pitchFamily="34" charset="0"/>
                <a:ea typeface="Arial" pitchFamily="34" charset="-122"/>
                <a:cs typeface="Arial" pitchFamily="34" charset="-120"/>
              </a:rPr>
              <a:t>Refused / COD unpaid</a:t>
            </a:r>
            <a:r>
              <a:rPr lang="en-US" sz="1600" dirty="0">
                <a:solidFill>
                  <a:srgbClr val="6E7781"/>
                </a:solidFill>
                <a:latin typeface="Arial" pitchFamily="34" charset="0"/>
                <a:ea typeface="Arial" pitchFamily="34" charset="-122"/>
                <a:cs typeface="Arial" pitchFamily="34" charset="-120"/>
              </a:rPr>
              <a:t>   →  Return to sender</a:t>
            </a:r>
            <a:endParaRPr lang="en-US" sz="1600" dirty="0"/>
          </a:p>
        </p:txBody>
      </p:sp>
      <p:sp>
        <p:nvSpPr>
          <p:cNvPr id="11" name="Text 9"/>
          <p:cNvSpPr txBox="1"/>
          <p:nvPr/>
        </p:nvSpPr>
        <p:spPr>
          <a:xfrm>
            <a:off x="6217920" y="3072384"/>
            <a:ext cx="5394960" cy="457200"/>
          </a:xfrm>
          <a:prstGeom prst="rect">
            <a:avLst/>
          </a:prstGeom>
          <a:noFill/>
          <a:ln/>
        </p:spPr>
        <p:txBody>
          <a:bodyPr wrap="square" lIns="0" tIns="0" rIns="0" bIns="0" rtlCol="0" anchor="ctr"/>
          <a:lstStyle/>
          <a:p>
            <a:pPr marL="0" indent="0">
              <a:buNone/>
            </a:pPr>
            <a:r>
              <a:rPr lang="en-US" sz="1600" b="1" dirty="0">
                <a:solidFill>
                  <a:srgbClr val="1F2328"/>
                </a:solidFill>
                <a:latin typeface="Arial" pitchFamily="34" charset="0"/>
                <a:ea typeface="Arial" pitchFamily="34" charset="-122"/>
                <a:cs typeface="Arial" pitchFamily="34" charset="-120"/>
              </a:rPr>
              <a:t>Damaged</a:t>
            </a:r>
            <a:r>
              <a:rPr lang="en-US" sz="1600" dirty="0">
                <a:solidFill>
                  <a:srgbClr val="6E7781"/>
                </a:solidFill>
                <a:latin typeface="Arial" pitchFamily="34" charset="0"/>
                <a:ea typeface="Arial" pitchFamily="34" charset="-122"/>
                <a:cs typeface="Arial" pitchFamily="34" charset="-120"/>
              </a:rPr>
              <a:t>   →  Claims</a:t>
            </a:r>
            <a:endParaRPr lang="en-US" sz="1600" dirty="0"/>
          </a:p>
        </p:txBody>
      </p:sp>
      <p:sp>
        <p:nvSpPr>
          <p:cNvPr id="12" name="Shape 10"/>
          <p:cNvSpPr/>
          <p:nvPr/>
        </p:nvSpPr>
        <p:spPr>
          <a:xfrm>
            <a:off x="640080" y="4343400"/>
            <a:ext cx="10881360" cy="1828800"/>
          </a:xfrm>
          <a:prstGeom prst="rect">
            <a:avLst/>
          </a:prstGeom>
          <a:solidFill>
            <a:srgbClr val="FFFFFF"/>
          </a:solidFill>
          <a:ln w="9525">
            <a:solidFill>
              <a:srgbClr val="D8DCE1"/>
            </a:solidFill>
            <a:prstDash val="solid"/>
          </a:ln>
        </p:spPr>
      </p:sp>
      <p:pic>
        <p:nvPicPr>
          <p:cNvPr id="13" name="Image 0" descr="Diagram crop: shared Return to sender and Claims handlers"/>
          <p:cNvPicPr>
            <a:picLocks noChangeAspect="1"/>
          </p:cNvPicPr>
          <p:nvPr/>
        </p:nvPicPr>
        <p:blipFill>
          <a:blip r:embed="rId3"/>
          <a:stretch>
            <a:fillRect/>
          </a:stretch>
        </p:blipFill>
        <p:spPr>
          <a:xfrm>
            <a:off x="3404241" y="4434840"/>
            <a:ext cx="5353038" cy="1645920"/>
          </a:xfrm>
          <a:prstGeom prst="rect">
            <a:avLst/>
          </a:prstGeom>
        </p:spPr>
      </p:pic>
      <p:sp>
        <p:nvSpPr>
          <p:cNvPr id="25" name="Slide Number Placeholder 0"/>
          <p:cNvSpPr>
            <a:spLocks noGrp="1"/>
          </p:cNvSpPr>
          <p:nvPr>
            <p:ph type="sldNum" sz="quarter" idx="4294967295"/>
          </p:nvPr>
        </p:nvSpPr>
        <p:spPr>
          <a:xfrm>
            <a:off x="11247120" y="6355080"/>
            <a:ext cx="36576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E7781"/>
                </a:solidFill>
                <a:latin typeface="Arial"/>
                <a:ea typeface="Arial"/>
                <a:cs typeface="Aria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515600" cy="1371600"/>
          </a:xfrm>
          <a:prstGeom prst="rect">
            <a:avLst/>
          </a:prstGeom>
          <a:noFill/>
          <a:ln/>
        </p:spPr>
        <p:txBody>
          <a:bodyPr wrap="square" lIns="0" tIns="0" rIns="0" bIns="0" rtlCol="0" anchor="t"/>
          <a:lstStyle/>
          <a:p>
            <a:pPr marL="0" indent="0" algn="l">
              <a:buNone/>
            </a:pPr>
            <a:r>
              <a:rPr lang="en-US" sz="4400" b="1" dirty="0">
                <a:solidFill>
                  <a:srgbClr val="1F2328"/>
                </a:solidFill>
                <a:latin typeface="Arial" pitchFamily="34" charset="0"/>
                <a:ea typeface="Arial" pitchFamily="34" charset="-122"/>
                <a:cs typeface="Arial" pitchFamily="34" charset="-120"/>
              </a:rPr>
              <a:t>Thank you</a:t>
            </a:r>
            <a:endParaRPr lang="en-US" sz="4400" dirty="0"/>
          </a:p>
        </p:txBody>
      </p:sp>
      <p:sp>
        <p:nvSpPr>
          <p:cNvPr id="3" name="Text 1"/>
          <p:cNvSpPr txBox="1"/>
          <p:nvPr/>
        </p:nvSpPr>
        <p:spPr>
          <a:xfrm>
            <a:off x="731520" y="3886200"/>
            <a:ext cx="10058400" cy="457200"/>
          </a:xfrm>
          <a:prstGeom prst="rect">
            <a:avLst/>
          </a:prstGeom>
          <a:noFill/>
          <a:ln/>
        </p:spPr>
        <p:txBody>
          <a:bodyPr wrap="square" lIns="0" tIns="0" rIns="0" bIns="0" rtlCol="0" anchor="t"/>
          <a:lstStyle/>
          <a:p>
            <a:pPr marL="0" indent="0">
              <a:buNone/>
            </a:pPr>
            <a:r>
              <a:rPr lang="en-US" sz="1800" dirty="0">
                <a:solidFill>
                  <a:srgbClr val="6E7781"/>
                </a:solidFill>
                <a:latin typeface="Arial" pitchFamily="34" charset="0"/>
                <a:ea typeface="Arial" pitchFamily="34" charset="-122"/>
                <a:cs typeface="Arial" pitchFamily="34" charset="-120"/>
              </a:rPr>
              <a:t>6 task types · 2 gateway types · 5 intermediate events · 9 alternate paths</a:t>
            </a:r>
            <a:endParaRPr lang="en-US" sz="1800" dirty="0"/>
          </a:p>
        </p:txBody>
      </p:sp>
    </p:spTree>
  </p:cSld>
  <p:clrMapOvr>
    <a:masterClrMapping/>
  </p:clrMapOvr>
</p:sld>
</file>

<file path=ppt/theme/theme1.xml><?xml version="1.0" encoding="utf-8"?>
<a:theme xmlns:a="http://schemas.openxmlformats.org/drawingml/2006/main" name="Logistics">
  <a:themeElements>
    <a:clrScheme name="Logistics">
      <a:dk1>
        <a:srgbClr val="1F2328"/>
      </a:dk1>
      <a:lt1>
        <a:srgbClr val="FFFFFF"/>
      </a:lt1>
      <a:dk2>
        <a:srgbClr val="6E7781"/>
      </a:dk2>
      <a:lt2>
        <a:srgbClr val="F4F5F7"/>
      </a:lt2>
      <a:accent1>
        <a:srgbClr val="C2410C"/>
      </a:accent1>
      <a:accent2>
        <a:srgbClr val="F59E0B"/>
      </a:accent2>
      <a:accent3>
        <a:srgbClr val="6E7781"/>
      </a:accent3>
      <a:accent4>
        <a:srgbClr val="D8DCE1"/>
      </a:accent4>
      <a:accent5>
        <a:srgbClr val="15803D"/>
      </a:accent5>
      <a:accent6>
        <a:srgbClr val="1D4ED8"/>
      </a:accent6>
      <a:hlink>
        <a:srgbClr val="1D4ED8"/>
      </a:hlink>
      <a:folHlink>
        <a:srgbClr val="6E7781"/>
      </a:folHlink>
    </a:clrScheme>
    <a:fontScheme name="Logistic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TotalTime>
  <Words>906</Words>
  <Application>Microsoft Office PowerPoint</Application>
  <PresentationFormat>Widescreen</PresentationFormat>
  <Paragraphs>108</Paragraphs>
  <Slides>9</Slides>
  <Notes>9</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9</vt:i4>
      </vt:variant>
    </vt:vector>
  </HeadingPairs>
  <TitlesOfParts>
    <vt:vector size="11" baseType="lpstr">
      <vt:lpstr>Arial</vt:lpstr>
      <vt:lpstr>Logistics</vt:lpstr>
      <vt:lpstr>Logistics &amp; Shipment Exception Management</vt:lpstr>
      <vt:lpstr>The question</vt:lpstr>
      <vt:lpstr>The process</vt:lpstr>
      <vt:lpstr>Task types</vt:lpstr>
      <vt:lpstr>Gateways</vt:lpstr>
      <vt:lpstr>Intermediate events</vt:lpstr>
      <vt:lpstr>Critical path</vt:lpstr>
      <vt:lpstr>Alternate paths</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Logistics &amp; Shipment Exception Management</dc:title>
  <dc:subject>PptxGenJS Presentation</dc:subject>
  <dc:creator>PptxGenJS</dc:creator>
  <cp:lastModifiedBy>vinesh reddy</cp:lastModifiedBy>
  <cp:revision>1</cp:revision>
  <dcterms:created xsi:type="dcterms:W3CDTF">2026-10-12T02:45:25Z</dcterms:created>
  <dcterms:modified xsi:type="dcterms:W3CDTF">2026-10-12T03:19:51Z</dcterms:modified>
</cp:coreProperties>
</file>