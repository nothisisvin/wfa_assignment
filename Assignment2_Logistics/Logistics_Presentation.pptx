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7d7fd4d-d92a-e3dd-1f9b-e61f7158e2c7}">
          <p14:sldIdLst>
            <p14:sldId id="256"/>
          </p14:sldIdLst>
        </p14:section>
        <p14:section name="Process" id="{69642ede-57dd-fa05-71fc-8d445f061204}">
          <p14:sldIdLst>
            <p14:sldId id="257"/>
          </p14:sldIdLst>
        </p14:section>
        <p14:section name="Task types, gateways and events" id="{f3a6ecbe-cbd1-a567-95c6-81c8c5215880}">
          <p14:sldIdLst>
            <p14:sldId id="258"/>
            <p14:sldId id="259"/>
            <p14:sldId id="260"/>
          </p14:sldIdLst>
        </p14:section>
        <p14:section name="Critical and alternate paths" id="{16ed6688-00f5-d037-c1f8-c8d8d6d67b5c}">
          <p14:sldIdLst>
            <p14:sldId id="261"/>
            <p14:sldId id="262"/>
          </p14:sldIdLst>
        </p14:section>
        <p14:section name="Summary" id="{9793f782-e6e4-6eb1-9b98-074661c6e4cf}">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assignment: a courier moves a parcel from a shipper to a recipient through pickup, hubs and last-mile delivery. The question asks us to focus on how exceptions are detected and resolved. I will cover the four things asked for: task types, gateways, intermediate events, and the critical and alternate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diagram. The shipper and the recipient are external, so they are separate pools and only exchange messages with us (the dashed lines). Inside the courier pool there is one lane per role: Control Tower, Pickup Agent, Hub, Claims and Delivery Agent. The main flow runs left to right; exceptions branch off near where they happen and end in two shared handlers: Return to sender in the hub lane and Settle claim in the claims 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eleven tasks of six different types, and each type was chosen for a reason. Validate booking is a business rule task because rules decide the result, in a DMN table. Collect parcel, Attempt delivery and Settle claim are user tasks because a person decides, using a form. Send tasks send one-way messages to the shipper. Transport and Customs are receive tasks because the process waits for a message, the arrival scan or the clearance, and a receive task can carry a timer. Count attempt is a script task: it just adds one to a counter. Hand over and Return are manual tasks: physical work with no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gateway types. Exclusive gateways, the X, are used for every decision: exactly one path is taken. Booking valid, Collected, International, the four-way delivery Outcome, and Attempts less than three, which limits the retry loop. Exclusive gateways are also used as merges where paths join again. The parallel gateway, the plus, is used after pickup: handing the parcel over at the hub and sending the tracking number are independent, so they run at the same time, and the join waits for both before transport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intermediate events. Three are attached to the Transport task. ETA exceeded is a non-interrupting timer, drawn dashed: the shipper gets a delay notice but the transport keeps going. No scan for 48 hours is an interrupting timer: the parcel is treated as lost and goes to claims. Cancellation requested is an interrupting message event: the shipper cancels, transport stops, and the parcel goes back. Held more than 5 days is a timer on customs. Next day is an intermediate catch timer inside the delivery retry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critical path, or happy path, is what happens when nothing goes wrong. Booking received, validate, collect, then hand over and tracking in parallel, transport, customs only if international, and delivery. Every gateway takes its normal branch: booking valid yes, collected yes, outcome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alternate paths: nine exceptions, each solved inside the diagram. Most end in one of two shared handlers, Return to sender or Settle claim, which keeps the diagram small. The delay path is special because it is non-interrupting: it runs alongside the normal path. The not-home path is a loop with a limit: count the attempt, wait a day, retry, and after three attempts the parcel is returned.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six task types, two gateway types, five intermediate events, one critical path and nine alternate paths. Every exception the question mentions is detected and resolved inside the model.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320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698480" cy="155448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886200"/>
            <a:ext cx="10698480" cy="548640"/>
          </a:xfrm>
          <a:prstGeom prst="rect">
            <a:avLst/>
          </a:prstGeom>
          <a:noFill/>
          <a:ln/>
        </p:spPr>
        <p:txBody>
          <a:bodyPr wrap="square" rtlCol="0"/>
          <a:lstStyle>
            <a:lvl1pPr algn="l" indent="0" marL="0">
              <a:buNone/>
              <a:defRPr lang="en-US" sz="2000" dirty="0">
                <a:solidFill>
                  <a:srgbClr val="F0A970"/>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200" b="1" dirty="0">
                <a:solidFill>
                  <a:srgbClr val="13203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5D6778"/>
                </a:solidFill>
                <a:latin typeface="Calibri" pitchFamily="34" charset="0"/>
                <a:ea typeface="Calibri" pitchFamily="34" charset="-122"/>
                <a:cs typeface="Calibri" pitchFamily="34" charset="-120"/>
              </a:rPr>
              <a:t>Assignment 2  ·  Logistics &amp; Shipment Exception Management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77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7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698480" cy="155448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Logistics &amp; Shipment Exception Management</a:t>
            </a:r>
            <a:endParaRPr lang="en-US" sz="4000" dirty="0"/>
          </a:p>
        </p:txBody>
      </p:sp>
      <p:sp>
        <p:nvSpPr>
          <p:cNvPr id="3" name="Text 0"/>
          <p:cNvSpPr/>
          <p:nvPr>
            <p:ph idx="101" type="body" hasCustomPrompt="1"/>
          </p:nvPr>
        </p:nvSpPr>
        <p:spPr>
          <a:xfrm>
            <a:off x="731520" y="3886200"/>
            <a:ext cx="10698480" cy="548640"/>
          </a:xfrm>
          <a:prstGeom prst="rect">
            <a:avLst/>
          </a:prstGeom>
          <a:noFill/>
          <a:ln/>
        </p:spPr>
        <p:txBody>
          <a:bodyPr wrap="square" lIns="0" tIns="0" rIns="0" bIns="0" rtlCol="0" anchor="t"/>
          <a:lstStyle/>
          <a:p>
            <a:pPr algn="l" indent="0" marL="0">
              <a:buNone/>
            </a:pPr>
            <a:r>
              <a:rPr lang="en-US" sz="2000" dirty="0">
                <a:solidFill>
                  <a:srgbClr val="F0A970"/>
                </a:solidFill>
                <a:latin typeface="Calibri" pitchFamily="34" charset="0"/>
                <a:ea typeface="Calibri" pitchFamily="34" charset="-122"/>
                <a:cs typeface="Calibri" pitchFamily="34" charset="-120"/>
              </a:rPr>
              <a:t>Assignment 2  ·  BPMN 2.0 process model (Camunda 8)</a:t>
            </a:r>
            <a:endParaRPr lang="en-US" sz="2000" dirty="0"/>
          </a:p>
        </p:txBody>
      </p:sp>
      <p:sp>
        <p:nvSpPr>
          <p:cNvPr id="4" name="motif start"/>
          <p:cNvSpPr/>
          <p:nvPr/>
        </p:nvSpPr>
        <p:spPr>
          <a:xfrm>
            <a:off x="731520" y="1097280"/>
            <a:ext cx="457200" cy="457200"/>
          </a:xfrm>
          <a:prstGeom prst="ellipse">
            <a:avLst/>
          </a:prstGeom>
          <a:solidFill>
            <a:srgbClr val="13203A"/>
          </a:solidFill>
          <a:ln w="19050">
            <a:solidFill>
              <a:srgbClr val="F0A970"/>
            </a:solidFill>
            <a:prstDash val="solid"/>
          </a:ln>
        </p:spPr>
      </p:sp>
      <p:sp>
        <p:nvSpPr>
          <p:cNvPr id="5" name="Shape 3"/>
          <p:cNvSpPr/>
          <p:nvPr/>
        </p:nvSpPr>
        <p:spPr>
          <a:xfrm>
            <a:off x="1188720" y="1325880"/>
            <a:ext cx="457200" cy="0"/>
          </a:xfrm>
          <a:prstGeom prst="line">
            <a:avLst/>
          </a:prstGeom>
          <a:noFill/>
          <a:ln w="15875">
            <a:solidFill>
              <a:srgbClr val="C9D2E0"/>
            </a:solidFill>
            <a:prstDash val="solid"/>
            <a:tailEnd type="triangle"/>
          </a:ln>
        </p:spPr>
      </p:sp>
      <p:sp>
        <p:nvSpPr>
          <p:cNvPr id="6" name="motif task"/>
          <p:cNvSpPr/>
          <p:nvPr/>
        </p:nvSpPr>
        <p:spPr>
          <a:xfrm>
            <a:off x="1645920" y="1051560"/>
            <a:ext cx="914400" cy="548640"/>
          </a:xfrm>
          <a:prstGeom prst="roundRect">
            <a:avLst>
              <a:gd name="adj" fmla="val 16667"/>
            </a:avLst>
          </a:prstGeom>
          <a:solidFill>
            <a:srgbClr val="13203A"/>
          </a:solidFill>
          <a:ln w="19050">
            <a:solidFill>
              <a:srgbClr val="F0A970"/>
            </a:solidFill>
            <a:prstDash val="solid"/>
          </a:ln>
        </p:spPr>
      </p:sp>
      <p:sp>
        <p:nvSpPr>
          <p:cNvPr id="7" name="Shape 5"/>
          <p:cNvSpPr/>
          <p:nvPr/>
        </p:nvSpPr>
        <p:spPr>
          <a:xfrm>
            <a:off x="2560320" y="1325880"/>
            <a:ext cx="457200" cy="0"/>
          </a:xfrm>
          <a:prstGeom prst="line">
            <a:avLst/>
          </a:prstGeom>
          <a:noFill/>
          <a:ln w="15875">
            <a:solidFill>
              <a:srgbClr val="C9D2E0"/>
            </a:solidFill>
            <a:prstDash val="solid"/>
            <a:tailEnd type="triangle"/>
          </a:ln>
        </p:spPr>
      </p:sp>
      <p:sp>
        <p:nvSpPr>
          <p:cNvPr id="8" name="motif gateway"/>
          <p:cNvSpPr/>
          <p:nvPr/>
        </p:nvSpPr>
        <p:spPr>
          <a:xfrm>
            <a:off x="3017520" y="1051560"/>
            <a:ext cx="548640" cy="548640"/>
          </a:xfrm>
          <a:prstGeom prst="diamond">
            <a:avLst/>
          </a:prstGeom>
          <a:solidFill>
            <a:srgbClr val="13203A"/>
          </a:solidFill>
          <a:ln w="19050">
            <a:solidFill>
              <a:srgbClr val="F0A970"/>
            </a:solidFill>
            <a:prstDash val="solid"/>
          </a:ln>
        </p:spPr>
      </p:sp>
      <p:sp>
        <p:nvSpPr>
          <p:cNvPr id="9" name="Shape 7"/>
          <p:cNvSpPr/>
          <p:nvPr/>
        </p:nvSpPr>
        <p:spPr>
          <a:xfrm>
            <a:off x="3566160" y="1325880"/>
            <a:ext cx="457200" cy="0"/>
          </a:xfrm>
          <a:prstGeom prst="line">
            <a:avLst/>
          </a:prstGeom>
          <a:noFill/>
          <a:ln w="15875">
            <a:solidFill>
              <a:srgbClr val="C9D2E0"/>
            </a:solidFill>
            <a:prstDash val="solid"/>
            <a:tailEnd type="triangle"/>
          </a:ln>
        </p:spPr>
      </p:sp>
      <p:sp>
        <p:nvSpPr>
          <p:cNvPr id="10" name="motif end"/>
          <p:cNvSpPr/>
          <p:nvPr/>
        </p:nvSpPr>
        <p:spPr>
          <a:xfrm>
            <a:off x="4023360" y="1097280"/>
            <a:ext cx="457200" cy="457200"/>
          </a:xfrm>
          <a:prstGeom prst="ellipse">
            <a:avLst/>
          </a:prstGeom>
          <a:solidFill>
            <a:srgbClr val="13203A"/>
          </a:solidFill>
          <a:ln w="50800">
            <a:solidFill>
              <a:srgbClr val="F0A970"/>
            </a:solidFill>
            <a:prstDash val="solid"/>
          </a:ln>
        </p:spPr>
      </p:sp>
      <p:sp>
        <p:nvSpPr>
          <p:cNvPr id="11" name="Text 9"/>
          <p:cNvSpPr txBox="1"/>
          <p:nvPr/>
        </p:nvSpPr>
        <p:spPr>
          <a:xfrm>
            <a:off x="731520" y="5669280"/>
            <a:ext cx="10698480" cy="365760"/>
          </a:xfrm>
          <a:prstGeom prst="rect">
            <a:avLst/>
          </a:prstGeom>
          <a:noFill/>
          <a:ln/>
        </p:spPr>
        <p:txBody>
          <a:bodyPr wrap="square" lIns="0" tIns="0" rIns="0" bIns="0" rtlCol="0" anchor="ctr"/>
          <a:lstStyle/>
          <a:p>
            <a:pPr indent="0" marL="0">
              <a:buNone/>
            </a:pPr>
            <a:r>
              <a:rPr lang="en-US" sz="1600" dirty="0">
                <a:solidFill>
                  <a:srgbClr val="C9D2E0"/>
                </a:solidFill>
              </a:rPr>
              <a:t>[Your name]  ·  [Roll number]  ·  [Course]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rgbClr val="13203A"/>
                </a:solidFill>
                <a:latin typeface="Cambria" pitchFamily="34" charset="0"/>
                <a:ea typeface="Cambria" pitchFamily="34" charset="-122"/>
                <a:cs typeface="Cambria" pitchFamily="34" charset="-120"/>
              </a:rPr>
              <a:t>Process overview</a:t>
            </a:r>
            <a:endParaRPr lang="en-US" sz="3200" dirty="0"/>
          </a:p>
        </p:txBody>
      </p:sp>
      <p:sp>
        <p:nvSpPr>
          <p:cNvPr id="3" name="Text 1"/>
          <p:cNvSpPr txBox="1"/>
          <p:nvPr/>
        </p:nvSpPr>
        <p:spPr>
          <a:xfrm>
            <a:off x="548640" y="1051560"/>
            <a:ext cx="11064240" cy="365760"/>
          </a:xfrm>
          <a:prstGeom prst="rect">
            <a:avLst/>
          </a:prstGeom>
          <a:noFill/>
          <a:ln/>
        </p:spPr>
        <p:txBody>
          <a:bodyPr wrap="square" lIns="0" tIns="0" rIns="0" bIns="0" rtlCol="0" anchor="ctr"/>
          <a:lstStyle/>
          <a:p>
            <a:pPr indent="0" marL="0">
              <a:buNone/>
            </a:pPr>
            <a:r>
              <a:rPr lang="en-US" sz="1400" dirty="0">
                <a:solidFill>
                  <a:srgbClr val="5D6778"/>
                </a:solidFill>
              </a:rPr>
              <a:t>Pools: Shipper / Customer, Recipient   ·   Lanes: Control Tower / Dispatcher, Pickup Agent, Hub / Warehouse, Claims Department, Delivery Agent</a:t>
            </a:r>
            <a:endParaRPr lang="en-US" sz="1400" dirty="0"/>
          </a:p>
        </p:txBody>
      </p:sp>
      <p:sp>
        <p:nvSpPr>
          <p:cNvPr id="4" name="diagram frame"/>
          <p:cNvSpPr/>
          <p:nvPr/>
        </p:nvSpPr>
        <p:spPr>
          <a:xfrm>
            <a:off x="1375532" y="1463040"/>
            <a:ext cx="9440631" cy="4937760"/>
          </a:xfrm>
          <a:prstGeom prst="rect">
            <a:avLst/>
          </a:prstGeom>
          <a:solidFill>
            <a:srgbClr val="FFFFFF"/>
          </a:solidFill>
          <a:ln w="9525">
            <a:solidFill>
              <a:srgbClr val="DFE3EA"/>
            </a:solidFill>
            <a:prstDash val="solid"/>
          </a:ln>
        </p:spPr>
      </p:sp>
      <p:pic>
        <p:nvPicPr>
          <p:cNvPr id="5" name="Image 0" descr="BPMN diagram of the shipment process: a courier pool with five lanes between the Shipper and Recipient pools">    </p:cNvPr>
          <p:cNvPicPr>
            <a:picLocks noChangeAspect="1"/>
          </p:cNvPicPr>
          <p:nvPr/>
        </p:nvPicPr>
        <p:blipFill>
          <a:blip r:embed="rId1"/>
          <a:stretch>
            <a:fillRect/>
          </a:stretch>
        </p:blipFill>
        <p:spPr>
          <a:xfrm>
            <a:off x="1466972" y="1554480"/>
            <a:ext cx="9257751" cy="475488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7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rgbClr val="13203A"/>
                </a:solidFill>
                <a:latin typeface="Cambria" pitchFamily="34" charset="0"/>
                <a:ea typeface="Cambria" pitchFamily="34" charset="-122"/>
                <a:cs typeface="Cambria" pitchFamily="34" charset="-120"/>
              </a:rPr>
              <a:t>Task types used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412480" cy="914400"/>
        </p:xfrm>
        <a:graphic>
          <a:graphicData uri="http://schemas.openxmlformats.org/drawingml/2006/table">
            <a:tbl>
              <a:tblPr/>
              <a:tblGrid>
                <a:gridCol w="1463040"/>
                <a:gridCol w="3840480"/>
                <a:gridCol w="310896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Task type</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13203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Used for</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13203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Why this type</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13203A"/>
                    </a:solidFill>
                  </a:tcPr>
                </a:tc>
              </a:tr>
              <a:tr h="0">
                <a:tc>
                  <a:txBody>
                    <a:bodyPr/>
                    <a:lstStyle/>
                    <a:p>
                      <a:pPr indent="0" marL="0">
                        <a:buNone/>
                      </a:pPr>
                      <a:r>
                        <a:rPr lang="en-US" sz="1600" b="1" dirty="0">
                          <a:solidFill>
                            <a:srgbClr val="13203A"/>
                          </a:solidFill>
                          <a:latin typeface="Calibri" pitchFamily="34" charset="0"/>
                          <a:ea typeface="Calibri" pitchFamily="34" charset="-122"/>
                          <a:cs typeface="Calibri" pitchFamily="34" charset="-120"/>
                        </a:rPr>
                        <a:t>Business rule</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Validate booking</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Decided by the booking-validation DMN table (prohibited item, address, 70 kg limit)</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3203A"/>
                          </a:solidFill>
                          <a:latin typeface="Calibri" pitchFamily="34" charset="0"/>
                          <a:ea typeface="Calibri" pitchFamily="34" charset="-122"/>
                          <a:cs typeface="Calibri" pitchFamily="34" charset="-120"/>
                        </a:rPr>
                        <a:t>User</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Collect parcel · Attempt delivery · Settle claim</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A person decides; the result is entered in a Camunda form</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r>
              <a:tr h="0">
                <a:tc>
                  <a:txBody>
                    <a:bodyPr/>
                    <a:lstStyle/>
                    <a:p>
                      <a:pPr indent="0" marL="0">
                        <a:buNone/>
                      </a:pPr>
                      <a:r>
                        <a:rPr lang="en-US" sz="1600" b="1" dirty="0">
                          <a:solidFill>
                            <a:srgbClr val="13203A"/>
                          </a:solidFill>
                          <a:latin typeface="Calibri" pitchFamily="34" charset="0"/>
                          <a:ea typeface="Calibri" pitchFamily="34" charset="-122"/>
                          <a:cs typeface="Calibri" pitchFamily="34" charset="-120"/>
                        </a:rPr>
                        <a:t>Send</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Send tracking number · Send delay notice</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One-way message to the shipper</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3203A"/>
                          </a:solidFill>
                          <a:latin typeface="Calibri" pitchFamily="34" charset="0"/>
                          <a:ea typeface="Calibri" pitchFamily="34" charset="-122"/>
                          <a:cs typeface="Calibri" pitchFamily="34" charset="-120"/>
                        </a:rPr>
                        <a:t>Receive</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Transport to destination hub · Customs clearance</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The process waits for a message; a timer can be attached</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r>
              <a:tr h="0">
                <a:tc>
                  <a:txBody>
                    <a:bodyPr/>
                    <a:lstStyle/>
                    <a:p>
                      <a:pPr indent="0" marL="0">
                        <a:buNone/>
                      </a:pPr>
                      <a:r>
                        <a:rPr lang="en-US" sz="1600" b="1" dirty="0">
                          <a:solidFill>
                            <a:srgbClr val="13203A"/>
                          </a:solidFill>
                          <a:latin typeface="Calibri" pitchFamily="34" charset="0"/>
                          <a:ea typeface="Calibri" pitchFamily="34" charset="-122"/>
                          <a:cs typeface="Calibri" pitchFamily="34" charset="-120"/>
                        </a:rPr>
                        <a:t>Script</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Count attempt</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Adds 1 to the attempt counter; no system needed</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3203A"/>
                          </a:solidFill>
                          <a:latin typeface="Calibri" pitchFamily="34" charset="0"/>
                          <a:ea typeface="Calibri" pitchFamily="34" charset="-122"/>
                          <a:cs typeface="Calibri" pitchFamily="34" charset="-120"/>
                        </a:rPr>
                        <a:t>Manual</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Hand over at hub · Return to shipper</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Physical work with no system</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r>
            </a:tbl>
          </a:graphicData>
        </a:graphic>
      </p:graphicFrame>
      <p:sp>
        <p:nvSpPr>
          <p:cNvPr id="4" name="stat panel"/>
          <p:cNvSpPr/>
          <p:nvPr/>
        </p:nvSpPr>
        <p:spPr>
          <a:xfrm>
            <a:off x="9281160" y="1280160"/>
            <a:ext cx="2331720" cy="4754880"/>
          </a:xfrm>
          <a:prstGeom prst="roundRect">
            <a:avLst>
              <a:gd name="adj" fmla="val 4706"/>
            </a:avLst>
          </a:prstGeom>
          <a:solidFill>
            <a:srgbClr val="EEF1F5"/>
          </a:solidFill>
          <a:ln w="12700">
            <a:solidFill>
              <a:srgbClr val="EEF1F5"/>
            </a:solidFill>
            <a:prstDash val="solid"/>
          </a:ln>
        </p:spPr>
      </p:sp>
      <p:sp>
        <p:nvSpPr>
          <p:cNvPr id="5" name="Text 2"/>
          <p:cNvSpPr txBox="1"/>
          <p:nvPr/>
        </p:nvSpPr>
        <p:spPr>
          <a:xfrm>
            <a:off x="9464040" y="1554480"/>
            <a:ext cx="1965960" cy="4206240"/>
          </a:xfrm>
          <a:prstGeom prst="rect">
            <a:avLst/>
          </a:prstGeom>
          <a:noFill/>
          <a:ln/>
        </p:spPr>
        <p:txBody>
          <a:bodyPr wrap="square" lIns="0" tIns="0" rIns="0" bIns="0" rtlCol="0" anchor="ctr"/>
          <a:lstStyle/>
          <a:p>
            <a:pPr algn="ctr" indent="0" marL="0">
              <a:buNone/>
            </a:pPr>
            <a:r>
              <a:rPr lang="en-US" sz="5400" b="1" dirty="0">
                <a:solidFill>
                  <a:srgbClr val="B4561C"/>
                </a:solidFill>
                <a:latin typeface="Cambria" pitchFamily="34" charset="0"/>
                <a:ea typeface="Cambria" pitchFamily="34" charset="-122"/>
                <a:cs typeface="Cambria" pitchFamily="34" charset="-120"/>
              </a:rPr>
              <a:t>11</a:t>
            </a:r>
            <a:endParaRPr lang="en-US" sz="5400" dirty="0"/>
          </a:p>
          <a:p>
            <a:pPr algn="ctr" indent="0" marL="0">
              <a:buNone/>
            </a:pPr>
            <a:r>
              <a:rPr lang="en-US" sz="1400" dirty="0">
                <a:solidFill>
                  <a:srgbClr val="3A4659"/>
                </a:solidFill>
              </a:rPr>
              <a:t>tasks in the model</a:t>
            </a:r>
            <a:endParaRPr lang="en-US" sz="5400" dirty="0"/>
          </a:p>
          <a:p>
            <a:pPr algn="ctr" indent="0" marL="0">
              <a:buNone/>
            </a:pPr>
            <a:r>
              <a:rPr lang="en-US" sz="1400" dirty="0">
                <a:solidFill>
                  <a:srgbClr val="000000"/>
                </a:solidFill>
              </a:rPr>
              <a:t> </a:t>
            </a:r>
            <a:endParaRPr lang="en-US" sz="5400" dirty="0"/>
          </a:p>
          <a:p>
            <a:pPr algn="ctr" indent="0" marL="0">
              <a:buNone/>
            </a:pPr>
            <a:r>
              <a:rPr lang="en-US" sz="5400" b="1" dirty="0">
                <a:solidFill>
                  <a:srgbClr val="B4561C"/>
                </a:solidFill>
                <a:latin typeface="Cambria" pitchFamily="34" charset="0"/>
                <a:ea typeface="Cambria" pitchFamily="34" charset="-122"/>
                <a:cs typeface="Cambria" pitchFamily="34" charset="-120"/>
              </a:rPr>
              <a:t>6</a:t>
            </a:r>
            <a:endParaRPr lang="en-US" sz="5400" dirty="0"/>
          </a:p>
          <a:p>
            <a:pPr algn="ctr" indent="0" marL="0">
              <a:buNone/>
            </a:pPr>
            <a:r>
              <a:rPr lang="en-US" sz="1400" dirty="0">
                <a:solidFill>
                  <a:srgbClr val="3A4659"/>
                </a:solidFill>
              </a:rPr>
              <a:t>different task types</a:t>
            </a:r>
            <a:endParaRPr lang="en-US" sz="5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7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rgbClr val="13203A"/>
                </a:solidFill>
                <a:latin typeface="Cambria" pitchFamily="34" charset="0"/>
                <a:ea typeface="Cambria" pitchFamily="34" charset="-122"/>
                <a:cs typeface="Cambria" pitchFamily="34" charset="-120"/>
              </a:rPr>
              <a:t>Gateways used</a:t>
            </a:r>
            <a:endParaRPr lang="en-US" sz="3200" dirty="0"/>
          </a:p>
        </p:txBody>
      </p:sp>
      <p:sp>
        <p:nvSpPr>
          <p:cNvPr id="3" name="gateway card 1"/>
          <p:cNvSpPr/>
          <p:nvPr/>
        </p:nvSpPr>
        <p:spPr>
          <a:xfrm>
            <a:off x="548640" y="1325880"/>
            <a:ext cx="5372100" cy="4800600"/>
          </a:xfrm>
          <a:prstGeom prst="roundRect">
            <a:avLst>
              <a:gd name="adj" fmla="val 2286"/>
            </a:avLst>
          </a:prstGeom>
          <a:solidFill>
            <a:srgbClr val="EEF1F5"/>
          </a:solidFill>
          <a:ln w="12700">
            <a:solidFill>
              <a:srgbClr val="EEF1F5"/>
            </a:solidFill>
            <a:prstDash val="solid"/>
          </a:ln>
        </p:spPr>
      </p:sp>
      <p:sp>
        <p:nvSpPr>
          <p:cNvPr id="4" name="gateway glyph 1"/>
          <p:cNvSpPr/>
          <p:nvPr/>
        </p:nvSpPr>
        <p:spPr>
          <a:xfrm>
            <a:off x="868680" y="1645920"/>
            <a:ext cx="777240" cy="777240"/>
          </a:xfrm>
          <a:prstGeom prst="diamond">
            <a:avLst/>
          </a:prstGeom>
          <a:solidFill>
            <a:srgbClr val="FFFFFF"/>
          </a:solidFill>
          <a:ln w="28575">
            <a:solidFill>
              <a:srgbClr val="B4561C"/>
            </a:solidFill>
            <a:prstDash val="solid"/>
          </a:ln>
        </p:spPr>
      </p:sp>
      <p:sp>
        <p:nvSpPr>
          <p:cNvPr id="5" name="Text 3"/>
          <p:cNvSpPr txBox="1"/>
          <p:nvPr/>
        </p:nvSpPr>
        <p:spPr>
          <a:xfrm>
            <a:off x="868680" y="1645920"/>
            <a:ext cx="777240" cy="777240"/>
          </a:xfrm>
          <a:prstGeom prst="rect">
            <a:avLst/>
          </a:prstGeom>
          <a:noFill/>
          <a:ln/>
        </p:spPr>
        <p:txBody>
          <a:bodyPr wrap="square" lIns="0" tIns="0" rIns="0" bIns="0" rtlCol="0" anchor="ctr"/>
          <a:lstStyle/>
          <a:p>
            <a:pPr algn="ctr" indent="0" marL="0">
              <a:buNone/>
            </a:pPr>
            <a:r>
              <a:rPr lang="en-US" sz="2600" b="1" dirty="0">
                <a:solidFill>
                  <a:srgbClr val="B4561C"/>
                </a:solidFill>
              </a:rPr>
              <a:t>X</a:t>
            </a:r>
            <a:endParaRPr lang="en-US" sz="2600" dirty="0"/>
          </a:p>
        </p:txBody>
      </p:sp>
      <p:sp>
        <p:nvSpPr>
          <p:cNvPr id="6" name="Text 4"/>
          <p:cNvSpPr txBox="1"/>
          <p:nvPr/>
        </p:nvSpPr>
        <p:spPr>
          <a:xfrm>
            <a:off x="1828800" y="1600200"/>
            <a:ext cx="3909060" cy="868680"/>
          </a:xfrm>
          <a:prstGeom prst="rect">
            <a:avLst/>
          </a:prstGeom>
          <a:noFill/>
          <a:ln/>
        </p:spPr>
        <p:txBody>
          <a:bodyPr wrap="square" lIns="0" tIns="0" rIns="0" bIns="0" rtlCol="0" anchor="ctr"/>
          <a:lstStyle/>
          <a:p>
            <a:pPr indent="0" marL="0">
              <a:buNone/>
            </a:pPr>
            <a:r>
              <a:rPr lang="en-US" sz="2000" b="1" dirty="0">
                <a:solidFill>
                  <a:srgbClr val="13203A"/>
                </a:solidFill>
                <a:latin typeface="Cambria" pitchFamily="34" charset="0"/>
                <a:ea typeface="Cambria" pitchFamily="34" charset="-122"/>
                <a:cs typeface="Cambria" pitchFamily="34" charset="-120"/>
              </a:rPr>
              <a:t>Exclusive (XOR)</a:t>
            </a:r>
            <a:endParaRPr lang="en-US" sz="2000" dirty="0"/>
          </a:p>
          <a:p>
            <a:pPr indent="0" marL="0">
              <a:buNone/>
            </a:pPr>
            <a:r>
              <a:rPr lang="en-US" sz="1400" i="1" dirty="0">
                <a:solidFill>
                  <a:srgbClr val="B4561C"/>
                </a:solidFill>
              </a:rPr>
              <a:t>Exactly one outgoing path is taken</a:t>
            </a:r>
            <a:endParaRPr lang="en-US" sz="2000" dirty="0"/>
          </a:p>
        </p:txBody>
      </p:sp>
      <p:sp>
        <p:nvSpPr>
          <p:cNvPr id="7" name="Text 5"/>
          <p:cNvSpPr txBox="1"/>
          <p:nvPr/>
        </p:nvSpPr>
        <p:spPr>
          <a:xfrm>
            <a:off x="868680" y="2697480"/>
            <a:ext cx="4732020" cy="320040"/>
          </a:xfrm>
          <a:prstGeom prst="rect">
            <a:avLst/>
          </a:prstGeom>
          <a:noFill/>
          <a:ln/>
        </p:spPr>
        <p:txBody>
          <a:bodyPr wrap="square" lIns="0" tIns="0" rIns="0" bIns="0" rtlCol="0" anchor="ctr"/>
          <a:lstStyle/>
          <a:p>
            <a:pPr indent="0" marL="0">
              <a:buNone/>
            </a:pPr>
            <a:r>
              <a:rPr lang="en-US" sz="1400" b="1" dirty="0">
                <a:solidFill>
                  <a:srgbClr val="13203A"/>
                </a:solidFill>
              </a:rPr>
              <a:t>Used at</a:t>
            </a:r>
            <a:endParaRPr lang="en-US" sz="1400" dirty="0"/>
          </a:p>
        </p:txBody>
      </p:sp>
      <p:sp>
        <p:nvSpPr>
          <p:cNvPr id="8" name="Text 6"/>
          <p:cNvSpPr txBox="1"/>
          <p:nvPr/>
        </p:nvSpPr>
        <p:spPr>
          <a:xfrm>
            <a:off x="868680" y="3063240"/>
            <a:ext cx="4732020" cy="2880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A4659"/>
                </a:solidFill>
              </a:rPr>
              <a:t>Booking valid? (Yes / No)</a:t>
            </a:r>
            <a:endParaRPr lang="en-US" sz="1400" dirty="0"/>
          </a:p>
          <a:p>
            <a:pPr marL="342900" indent="-342900">
              <a:spcAft>
                <a:spcPts val="600"/>
              </a:spcAft>
              <a:buSzPct val="100000"/>
              <a:buChar char="•"/>
            </a:pPr>
            <a:r>
              <a:rPr lang="en-US" sz="1400" dirty="0">
                <a:solidFill>
                  <a:srgbClr val="3A4659"/>
                </a:solidFill>
              </a:rPr>
              <a:t>Collected? (Yes / No)</a:t>
            </a:r>
            <a:endParaRPr lang="en-US" sz="1400" dirty="0"/>
          </a:p>
          <a:p>
            <a:pPr marL="342900" indent="-342900">
              <a:spcAft>
                <a:spcPts val="600"/>
              </a:spcAft>
              <a:buSzPct val="100000"/>
              <a:buChar char="•"/>
            </a:pPr>
            <a:r>
              <a:rPr lang="en-US" sz="1400" dirty="0">
                <a:solidFill>
                  <a:srgbClr val="3A4659"/>
                </a:solidFill>
              </a:rPr>
              <a:t>International? (Yes / No)</a:t>
            </a:r>
            <a:endParaRPr lang="en-US" sz="1400" dirty="0"/>
          </a:p>
          <a:p>
            <a:pPr marL="342900" indent="-342900">
              <a:spcAft>
                <a:spcPts val="600"/>
              </a:spcAft>
              <a:buSzPct val="100000"/>
              <a:buChar char="•"/>
            </a:pPr>
            <a:r>
              <a:rPr lang="en-US" sz="1400" dirty="0">
                <a:solidFill>
                  <a:srgbClr val="3A4659"/>
                </a:solidFill>
              </a:rPr>
              <a:t>Outcome? (Delivered / Not home / Refused / Damaged)</a:t>
            </a:r>
            <a:endParaRPr lang="en-US" sz="1400" dirty="0"/>
          </a:p>
          <a:p>
            <a:pPr marL="342900" indent="-342900">
              <a:spcAft>
                <a:spcPts val="600"/>
              </a:spcAft>
              <a:buSzPct val="100000"/>
              <a:buChar char="•"/>
            </a:pPr>
            <a:r>
              <a:rPr lang="en-US" sz="1400" dirty="0">
                <a:solidFill>
                  <a:srgbClr val="3A4659"/>
                </a:solidFill>
              </a:rPr>
              <a:t>Attempts &lt; 3? (limits the retry loop)</a:t>
            </a:r>
            <a:endParaRPr lang="en-US" sz="1400" dirty="0"/>
          </a:p>
          <a:p>
            <a:pPr marL="342900" indent="-342900">
              <a:spcAft>
                <a:spcPts val="600"/>
              </a:spcAft>
              <a:buSzPct val="100000"/>
              <a:buChar char="•"/>
            </a:pPr>
            <a:r>
              <a:rPr lang="en-US" sz="1400" dirty="0">
                <a:solidFill>
                  <a:srgbClr val="3A4659"/>
                </a:solidFill>
              </a:rPr>
              <a:t>Merges: delivery retry loop, after customs, before Return to sender, before Claims</a:t>
            </a:r>
            <a:endParaRPr lang="en-US" sz="1400" dirty="0"/>
          </a:p>
        </p:txBody>
      </p:sp>
      <p:sp>
        <p:nvSpPr>
          <p:cNvPr id="9" name="gateway card 2"/>
          <p:cNvSpPr/>
          <p:nvPr/>
        </p:nvSpPr>
        <p:spPr>
          <a:xfrm>
            <a:off x="6240780" y="1325880"/>
            <a:ext cx="5372100" cy="4800600"/>
          </a:xfrm>
          <a:prstGeom prst="roundRect">
            <a:avLst>
              <a:gd name="adj" fmla="val 2286"/>
            </a:avLst>
          </a:prstGeom>
          <a:solidFill>
            <a:srgbClr val="EEF1F5"/>
          </a:solidFill>
          <a:ln w="12700">
            <a:solidFill>
              <a:srgbClr val="EEF1F5"/>
            </a:solidFill>
            <a:prstDash val="solid"/>
          </a:ln>
        </p:spPr>
      </p:sp>
      <p:sp>
        <p:nvSpPr>
          <p:cNvPr id="10" name="gateway glyph 2"/>
          <p:cNvSpPr/>
          <p:nvPr/>
        </p:nvSpPr>
        <p:spPr>
          <a:xfrm>
            <a:off x="6560820" y="1645920"/>
            <a:ext cx="777240" cy="777240"/>
          </a:xfrm>
          <a:prstGeom prst="diamond">
            <a:avLst/>
          </a:prstGeom>
          <a:solidFill>
            <a:srgbClr val="FFFFFF"/>
          </a:solidFill>
          <a:ln w="28575">
            <a:solidFill>
              <a:srgbClr val="B4561C"/>
            </a:solidFill>
            <a:prstDash val="solid"/>
          </a:ln>
        </p:spPr>
      </p:sp>
      <p:sp>
        <p:nvSpPr>
          <p:cNvPr id="11" name="Text 9"/>
          <p:cNvSpPr txBox="1"/>
          <p:nvPr/>
        </p:nvSpPr>
        <p:spPr>
          <a:xfrm>
            <a:off x="6560820" y="1645920"/>
            <a:ext cx="777240" cy="777240"/>
          </a:xfrm>
          <a:prstGeom prst="rect">
            <a:avLst/>
          </a:prstGeom>
          <a:noFill/>
          <a:ln/>
        </p:spPr>
        <p:txBody>
          <a:bodyPr wrap="square" lIns="0" tIns="0" rIns="0" bIns="0" rtlCol="0" anchor="ctr"/>
          <a:lstStyle/>
          <a:p>
            <a:pPr algn="ctr" indent="0" marL="0">
              <a:buNone/>
            </a:pPr>
            <a:r>
              <a:rPr lang="en-US" sz="2600" b="1" dirty="0">
                <a:solidFill>
                  <a:srgbClr val="B4561C"/>
                </a:solidFill>
              </a:rPr>
              <a:t>+</a:t>
            </a:r>
            <a:endParaRPr lang="en-US" sz="2600" dirty="0"/>
          </a:p>
        </p:txBody>
      </p:sp>
      <p:sp>
        <p:nvSpPr>
          <p:cNvPr id="12" name="Text 10"/>
          <p:cNvSpPr txBox="1"/>
          <p:nvPr/>
        </p:nvSpPr>
        <p:spPr>
          <a:xfrm>
            <a:off x="7520940" y="1600200"/>
            <a:ext cx="3909060" cy="868680"/>
          </a:xfrm>
          <a:prstGeom prst="rect">
            <a:avLst/>
          </a:prstGeom>
          <a:noFill/>
          <a:ln/>
        </p:spPr>
        <p:txBody>
          <a:bodyPr wrap="square" lIns="0" tIns="0" rIns="0" bIns="0" rtlCol="0" anchor="ctr"/>
          <a:lstStyle/>
          <a:p>
            <a:pPr indent="0" marL="0">
              <a:buNone/>
            </a:pPr>
            <a:r>
              <a:rPr lang="en-US" sz="2000" b="1" dirty="0">
                <a:solidFill>
                  <a:srgbClr val="13203A"/>
                </a:solidFill>
                <a:latin typeface="Cambria" pitchFamily="34" charset="0"/>
                <a:ea typeface="Cambria" pitchFamily="34" charset="-122"/>
                <a:cs typeface="Cambria" pitchFamily="34" charset="-120"/>
              </a:rPr>
              <a:t>Parallel (AND)</a:t>
            </a:r>
            <a:endParaRPr lang="en-US" sz="2000" dirty="0"/>
          </a:p>
          <a:p>
            <a:pPr indent="0" marL="0">
              <a:buNone/>
            </a:pPr>
            <a:r>
              <a:rPr lang="en-US" sz="1400" i="1" dirty="0">
                <a:solidFill>
                  <a:srgbClr val="B4561C"/>
                </a:solidFill>
              </a:rPr>
              <a:t>All outgoing paths run at the same time</a:t>
            </a:r>
            <a:endParaRPr lang="en-US" sz="2000" dirty="0"/>
          </a:p>
        </p:txBody>
      </p:sp>
      <p:sp>
        <p:nvSpPr>
          <p:cNvPr id="13" name="Text 11"/>
          <p:cNvSpPr txBox="1"/>
          <p:nvPr/>
        </p:nvSpPr>
        <p:spPr>
          <a:xfrm>
            <a:off x="6560820" y="2697480"/>
            <a:ext cx="4732020" cy="320040"/>
          </a:xfrm>
          <a:prstGeom prst="rect">
            <a:avLst/>
          </a:prstGeom>
          <a:noFill/>
          <a:ln/>
        </p:spPr>
        <p:txBody>
          <a:bodyPr wrap="square" lIns="0" tIns="0" rIns="0" bIns="0" rtlCol="0" anchor="ctr"/>
          <a:lstStyle/>
          <a:p>
            <a:pPr indent="0" marL="0">
              <a:buNone/>
            </a:pPr>
            <a:r>
              <a:rPr lang="en-US" sz="1400" b="1" dirty="0">
                <a:solidFill>
                  <a:srgbClr val="13203A"/>
                </a:solidFill>
              </a:rPr>
              <a:t>Used at</a:t>
            </a:r>
            <a:endParaRPr lang="en-US" sz="1400" dirty="0"/>
          </a:p>
        </p:txBody>
      </p:sp>
      <p:sp>
        <p:nvSpPr>
          <p:cNvPr id="14" name="Text 12"/>
          <p:cNvSpPr txBox="1"/>
          <p:nvPr/>
        </p:nvSpPr>
        <p:spPr>
          <a:xfrm>
            <a:off x="6560820" y="3063240"/>
            <a:ext cx="4732020" cy="2880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A4659"/>
                </a:solidFill>
              </a:rPr>
              <a:t>Split after Collected? = Yes</a:t>
            </a:r>
            <a:endParaRPr lang="en-US" sz="1400" dirty="0"/>
          </a:p>
          <a:p>
            <a:pPr marL="342900" indent="-342900">
              <a:spcAft>
                <a:spcPts val="600"/>
              </a:spcAft>
              <a:buSzPct val="100000"/>
              <a:buChar char="•"/>
            </a:pPr>
            <a:r>
              <a:rPr lang="en-US" sz="1400" dirty="0">
                <a:solidFill>
                  <a:srgbClr val="3A4659"/>
                </a:solidFill>
              </a:rPr>
              <a:t>Hand over at hub  ∥  Send tracking number</a:t>
            </a:r>
            <a:endParaRPr lang="en-US" sz="1400" dirty="0"/>
          </a:p>
          <a:p>
            <a:pPr marL="342900" indent="-342900">
              <a:spcAft>
                <a:spcPts val="600"/>
              </a:spcAft>
              <a:buSzPct val="100000"/>
              <a:buChar char="•"/>
            </a:pPr>
            <a:r>
              <a:rPr lang="en-US" sz="1400" dirty="0">
                <a:solidFill>
                  <a:srgbClr val="3A4659"/>
                </a:solidFill>
              </a:rPr>
              <a:t>Join before Transport: waits until both are done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7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rgbClr val="13203A"/>
                </a:solidFill>
                <a:latin typeface="Cambria" pitchFamily="34" charset="0"/>
                <a:ea typeface="Cambria" pitchFamily="34" charset="-122"/>
                <a:cs typeface="Cambria" pitchFamily="34" charset="-120"/>
              </a:rPr>
              <a:t>Intermediate events used</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377440"/>
                <a:gridCol w="2743200"/>
                <a:gridCol w="2651760"/>
                <a:gridCol w="329184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Event</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13203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Kind</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13203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Where it sits</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13203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What happens</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13203A"/>
                    </a:solidFill>
                  </a:tcPr>
                </a:tc>
              </a:tr>
              <a:tr h="0">
                <a:tc>
                  <a:txBody>
                    <a:bodyPr/>
                    <a:lstStyle/>
                    <a:p>
                      <a:pPr indent="0" marL="0">
                        <a:buNone/>
                      </a:pPr>
                      <a:r>
                        <a:rPr lang="en-US" sz="1600" b="1" dirty="0">
                          <a:solidFill>
                            <a:srgbClr val="13203A"/>
                          </a:solidFill>
                          <a:latin typeface="Calibri" pitchFamily="34" charset="0"/>
                          <a:ea typeface="Calibri" pitchFamily="34" charset="-122"/>
                          <a:cs typeface="Calibri" pitchFamily="34" charset="-120"/>
                        </a:rPr>
                        <a:t>ETA exceeded</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Timer · boundary, non-interrupting</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Transport to destination hub</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Sends a delay notice; transport carries on</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3203A"/>
                          </a:solidFill>
                          <a:latin typeface="Calibri" pitchFamily="34" charset="0"/>
                          <a:ea typeface="Calibri" pitchFamily="34" charset="-122"/>
                          <a:cs typeface="Calibri" pitchFamily="34" charset="-120"/>
                        </a:rPr>
                        <a:t>No scan for 48 h</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Timer · boundary, interrupting</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Transport to destination hub</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Parcel treated as lost → Claims</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r>
              <a:tr h="0">
                <a:tc>
                  <a:txBody>
                    <a:bodyPr/>
                    <a:lstStyle/>
                    <a:p>
                      <a:pPr indent="0" marL="0">
                        <a:buNone/>
                      </a:pPr>
                      <a:r>
                        <a:rPr lang="en-US" sz="1600" b="1" dirty="0">
                          <a:solidFill>
                            <a:srgbClr val="13203A"/>
                          </a:solidFill>
                          <a:latin typeface="Calibri" pitchFamily="34" charset="0"/>
                          <a:ea typeface="Calibri" pitchFamily="34" charset="-122"/>
                          <a:cs typeface="Calibri" pitchFamily="34" charset="-120"/>
                        </a:rPr>
                        <a:t>Cancellation requested</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Message · boundary, interrupting</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Transport to destination hub</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Transport stops → Return to sender</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3203A"/>
                          </a:solidFill>
                          <a:latin typeface="Calibri" pitchFamily="34" charset="0"/>
                          <a:ea typeface="Calibri" pitchFamily="34" charset="-122"/>
                          <a:cs typeface="Calibri" pitchFamily="34" charset="-120"/>
                        </a:rPr>
                        <a:t>Held &gt; 5 days</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Timer · boundary, interrupting</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Customs clearance</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Customs hold too long → Return to sender</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r>
              <a:tr h="0">
                <a:tc>
                  <a:txBody>
                    <a:bodyPr/>
                    <a:lstStyle/>
                    <a:p>
                      <a:pPr indent="0" marL="0">
                        <a:buNone/>
                      </a:pPr>
                      <a:r>
                        <a:rPr lang="en-US" sz="1600" b="1" dirty="0">
                          <a:solidFill>
                            <a:srgbClr val="13203A"/>
                          </a:solidFill>
                          <a:latin typeface="Calibri" pitchFamily="34" charset="0"/>
                          <a:ea typeface="Calibri" pitchFamily="34" charset="-122"/>
                          <a:cs typeface="Calibri" pitchFamily="34" charset="-120"/>
                        </a:rPr>
                        <a:t>Next day</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Timer · intermediate catch</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Delivery retry loop</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600" dirty="0">
                          <a:solidFill>
                            <a:srgbClr val="3A4659"/>
                          </a:solidFill>
                          <a:latin typeface="Calibri" pitchFamily="34" charset="0"/>
                          <a:ea typeface="Calibri" pitchFamily="34" charset="-122"/>
                          <a:cs typeface="Calibri" pitchFamily="34" charset="-120"/>
                        </a:rPr>
                        <a:t>Waits one day before the next attempt</a:t>
                      </a:r>
                      <a:endParaRPr lang="en-US" sz="16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15000"/>
            <a:ext cx="11064240" cy="502920"/>
          </a:xfrm>
          <a:prstGeom prst="rect">
            <a:avLst/>
          </a:prstGeom>
          <a:noFill/>
          <a:ln/>
        </p:spPr>
        <p:txBody>
          <a:bodyPr wrap="square" lIns="0" tIns="0" rIns="0" bIns="0" rtlCol="0" anchor="t"/>
          <a:lstStyle/>
          <a:p>
            <a:pPr indent="0" marL="0">
              <a:buNone/>
            </a:pPr>
            <a:r>
              <a:rPr lang="en-US" sz="1300" i="1" dirty="0">
                <a:solidFill>
                  <a:srgbClr val="5D6778"/>
                </a:solidFill>
              </a:rPr>
              <a:t>Also in the model: a message start event (Booking received) and six end events: Booking rejected, Booking cancelled, Shipper informed, Shipment delivered, Returned to sender, Claim settled.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7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rgbClr val="13203A"/>
                </a:solidFill>
                <a:latin typeface="Cambria" pitchFamily="34" charset="0"/>
                <a:ea typeface="Cambria" pitchFamily="34" charset="-122"/>
                <a:cs typeface="Cambria" pitchFamily="34" charset="-120"/>
              </a:rPr>
              <a:t>Critical path (happy path)</a:t>
            </a:r>
            <a:endParaRPr lang="en-US" sz="3200" dirty="0"/>
          </a:p>
        </p:txBody>
      </p:sp>
      <p:sp>
        <p:nvSpPr>
          <p:cNvPr id="3" name="Text 1"/>
          <p:cNvSpPr txBox="1"/>
          <p:nvPr/>
        </p:nvSpPr>
        <p:spPr>
          <a:xfrm>
            <a:off x="548640" y="1097280"/>
            <a:ext cx="11064240" cy="457200"/>
          </a:xfrm>
          <a:prstGeom prst="rect">
            <a:avLst/>
          </a:prstGeom>
          <a:noFill/>
          <a:ln/>
        </p:spPr>
        <p:txBody>
          <a:bodyPr wrap="square" lIns="0" tIns="0" rIns="0" bIns="0" rtlCol="0" anchor="ctr"/>
          <a:lstStyle/>
          <a:p>
            <a:pPr indent="0" marL="0">
              <a:buNone/>
            </a:pPr>
            <a:r>
              <a:rPr lang="en-US" sz="1600" dirty="0">
                <a:solidFill>
                  <a:srgbClr val="3A4659"/>
                </a:solidFill>
              </a:rPr>
              <a:t>The route a parcel takes when nothing goes wrong: every gateway takes its normal branch.</a:t>
            </a:r>
            <a:endParaRPr lang="en-US" sz="1600" dirty="0"/>
          </a:p>
        </p:txBody>
      </p:sp>
      <p:sp>
        <p:nvSpPr>
          <p:cNvPr id="4" name="start event"/>
          <p:cNvSpPr/>
          <p:nvPr/>
        </p:nvSpPr>
        <p:spPr>
          <a:xfrm>
            <a:off x="548640" y="2811780"/>
            <a:ext cx="457200" cy="457200"/>
          </a:xfrm>
          <a:prstGeom prst="ellipse">
            <a:avLst/>
          </a:prstGeom>
          <a:solidFill>
            <a:srgbClr val="FFFFFF"/>
          </a:solidFill>
          <a:ln w="19050">
            <a:solidFill>
              <a:srgbClr val="13203A"/>
            </a:solidFill>
            <a:prstDash val="solid"/>
          </a:ln>
        </p:spPr>
      </p:sp>
      <p:sp>
        <p:nvSpPr>
          <p:cNvPr id="5" name="Text 3"/>
          <p:cNvSpPr txBox="1"/>
          <p:nvPr/>
        </p:nvSpPr>
        <p:spPr>
          <a:xfrm>
            <a:off x="320040" y="2263140"/>
            <a:ext cx="914400" cy="502920"/>
          </a:xfrm>
          <a:prstGeom prst="rect">
            <a:avLst/>
          </a:prstGeom>
          <a:noFill/>
          <a:ln/>
        </p:spPr>
        <p:txBody>
          <a:bodyPr wrap="square" lIns="0" tIns="0" rIns="0" bIns="0" rtlCol="0" anchor="b"/>
          <a:lstStyle/>
          <a:p>
            <a:pPr algn="ctr" indent="0" marL="0">
              <a:buNone/>
            </a:pPr>
            <a:r>
              <a:rPr lang="en-US" sz="1100" dirty="0">
                <a:solidFill>
                  <a:srgbClr val="5D6778"/>
                </a:solidFill>
              </a:rPr>
              <a:t>Booking received</a:t>
            </a:r>
            <a:endParaRPr lang="en-US" sz="1100" dirty="0"/>
          </a:p>
        </p:txBody>
      </p:sp>
      <p:sp>
        <p:nvSpPr>
          <p:cNvPr id="6" name="Shape 4"/>
          <p:cNvSpPr/>
          <p:nvPr/>
        </p:nvSpPr>
        <p:spPr>
          <a:xfrm>
            <a:off x="1005840" y="3040380"/>
            <a:ext cx="274320" cy="0"/>
          </a:xfrm>
          <a:prstGeom prst="line">
            <a:avLst/>
          </a:prstGeom>
          <a:noFill/>
          <a:ln w="19050">
            <a:solidFill>
              <a:srgbClr val="5D6778"/>
            </a:solidFill>
            <a:prstDash val="solid"/>
            <a:tailEnd type="triangle"/>
          </a:ln>
        </p:spPr>
      </p:sp>
      <p:sp>
        <p:nvSpPr>
          <p:cNvPr id="7" name="step 1"/>
          <p:cNvSpPr/>
          <p:nvPr/>
        </p:nvSpPr>
        <p:spPr>
          <a:xfrm>
            <a:off x="1280160" y="2423160"/>
            <a:ext cx="1371600" cy="1234440"/>
          </a:xfrm>
          <a:prstGeom prst="roundRect">
            <a:avLst>
              <a:gd name="adj" fmla="val 7407"/>
            </a:avLst>
          </a:prstGeom>
          <a:solidFill>
            <a:srgbClr val="FFFFFF"/>
          </a:solidFill>
          <a:ln w="22225">
            <a:solidFill>
              <a:srgbClr val="B4561C"/>
            </a:solidFill>
          </a:ln>
        </p:spPr>
        <p:txBody>
          <a:bodyPr wrap="square" lIns="50800" tIns="50800" rIns="50800" bIns="50800" rtlCol="0" anchor="ctr"/>
          <a:lstStyle/>
          <a:p>
            <a:pPr algn="ctr" indent="0" marL="0">
              <a:buNone/>
            </a:pPr>
            <a:r>
              <a:rPr lang="en-US" sz="1300" b="1" dirty="0">
                <a:solidFill>
                  <a:srgbClr val="13203A"/>
                </a:solidFill>
              </a:rPr>
              <a:t>Validate booking</a:t>
            </a:r>
            <a:endParaRPr lang="en-US" sz="1300" dirty="0"/>
          </a:p>
        </p:txBody>
      </p:sp>
      <p:sp>
        <p:nvSpPr>
          <p:cNvPr id="8" name="step number 1"/>
          <p:cNvSpPr/>
          <p:nvPr/>
        </p:nvSpPr>
        <p:spPr>
          <a:xfrm>
            <a:off x="1783080" y="1920240"/>
            <a:ext cx="365760" cy="365760"/>
          </a:xfrm>
          <a:prstGeom prst="ellipse">
            <a:avLst/>
          </a:prstGeom>
          <a:solidFill>
            <a:srgbClr val="B4561C"/>
          </a:solidFill>
          <a:ln>
            <a:solidFill>
              <a:srgbClr val="B4561C"/>
            </a:solid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9" name="Text 7"/>
          <p:cNvSpPr txBox="1"/>
          <p:nvPr/>
        </p:nvSpPr>
        <p:spPr>
          <a:xfrm>
            <a:off x="1234440" y="3749040"/>
            <a:ext cx="1463040" cy="548640"/>
          </a:xfrm>
          <a:prstGeom prst="rect">
            <a:avLst/>
          </a:prstGeom>
          <a:noFill/>
          <a:ln/>
        </p:spPr>
        <p:txBody>
          <a:bodyPr wrap="square" lIns="0" tIns="0" rIns="0" bIns="0" rtlCol="0" anchor="t"/>
          <a:lstStyle/>
          <a:p>
            <a:pPr algn="ctr" indent="0" marL="0">
              <a:buNone/>
            </a:pPr>
            <a:r>
              <a:rPr lang="en-US" sz="1100" i="1" dirty="0">
                <a:solidFill>
                  <a:srgbClr val="5D6778"/>
                </a:solidFill>
              </a:rPr>
              <a:t>Control Tower</a:t>
            </a:r>
            <a:endParaRPr lang="en-US" sz="1100" dirty="0"/>
          </a:p>
        </p:txBody>
      </p:sp>
      <p:sp>
        <p:nvSpPr>
          <p:cNvPr id="10" name="Shape 8"/>
          <p:cNvSpPr/>
          <p:nvPr/>
        </p:nvSpPr>
        <p:spPr>
          <a:xfrm>
            <a:off x="2651760" y="3040380"/>
            <a:ext cx="274320" cy="0"/>
          </a:xfrm>
          <a:prstGeom prst="line">
            <a:avLst/>
          </a:prstGeom>
          <a:noFill/>
          <a:ln w="19050">
            <a:solidFill>
              <a:srgbClr val="5D6778"/>
            </a:solidFill>
            <a:prstDash val="solid"/>
            <a:tailEnd type="triangle"/>
          </a:ln>
        </p:spPr>
      </p:sp>
      <p:sp>
        <p:nvSpPr>
          <p:cNvPr id="11" name="step 2"/>
          <p:cNvSpPr/>
          <p:nvPr/>
        </p:nvSpPr>
        <p:spPr>
          <a:xfrm>
            <a:off x="2926080" y="2423160"/>
            <a:ext cx="1371600" cy="1234440"/>
          </a:xfrm>
          <a:prstGeom prst="roundRect">
            <a:avLst>
              <a:gd name="adj" fmla="val 7407"/>
            </a:avLst>
          </a:prstGeom>
          <a:solidFill>
            <a:srgbClr val="FFFFFF"/>
          </a:solidFill>
          <a:ln w="22225">
            <a:solidFill>
              <a:srgbClr val="B4561C"/>
            </a:solidFill>
          </a:ln>
        </p:spPr>
        <p:txBody>
          <a:bodyPr wrap="square" lIns="50800" tIns="50800" rIns="50800" bIns="50800" rtlCol="0" anchor="ctr"/>
          <a:lstStyle/>
          <a:p>
            <a:pPr algn="ctr" indent="0" marL="0">
              <a:buNone/>
            </a:pPr>
            <a:r>
              <a:rPr lang="en-US" sz="1300" b="1" dirty="0">
                <a:solidFill>
                  <a:srgbClr val="13203A"/>
                </a:solidFill>
              </a:rPr>
              <a:t>Collect parcel</a:t>
            </a:r>
            <a:endParaRPr lang="en-US" sz="1300" dirty="0"/>
          </a:p>
        </p:txBody>
      </p:sp>
      <p:sp>
        <p:nvSpPr>
          <p:cNvPr id="12" name="step number 2"/>
          <p:cNvSpPr/>
          <p:nvPr/>
        </p:nvSpPr>
        <p:spPr>
          <a:xfrm>
            <a:off x="3429000" y="1920240"/>
            <a:ext cx="365760" cy="365760"/>
          </a:xfrm>
          <a:prstGeom prst="ellipse">
            <a:avLst/>
          </a:prstGeom>
          <a:solidFill>
            <a:srgbClr val="B4561C"/>
          </a:solidFill>
          <a:ln>
            <a:solidFill>
              <a:srgbClr val="B4561C"/>
            </a:solid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Text 11"/>
          <p:cNvSpPr txBox="1"/>
          <p:nvPr/>
        </p:nvSpPr>
        <p:spPr>
          <a:xfrm>
            <a:off x="2880360" y="3749040"/>
            <a:ext cx="1463040" cy="548640"/>
          </a:xfrm>
          <a:prstGeom prst="rect">
            <a:avLst/>
          </a:prstGeom>
          <a:noFill/>
          <a:ln/>
        </p:spPr>
        <p:txBody>
          <a:bodyPr wrap="square" lIns="0" tIns="0" rIns="0" bIns="0" rtlCol="0" anchor="t"/>
          <a:lstStyle/>
          <a:p>
            <a:pPr algn="ctr" indent="0" marL="0">
              <a:buNone/>
            </a:pPr>
            <a:r>
              <a:rPr lang="en-US" sz="1100" i="1" dirty="0">
                <a:solidFill>
                  <a:srgbClr val="5D6778"/>
                </a:solidFill>
              </a:rPr>
              <a:t>Pickup Agent</a:t>
            </a:r>
            <a:endParaRPr lang="en-US" sz="1100" dirty="0"/>
          </a:p>
        </p:txBody>
      </p:sp>
      <p:sp>
        <p:nvSpPr>
          <p:cNvPr id="14" name="Shape 12"/>
          <p:cNvSpPr/>
          <p:nvPr/>
        </p:nvSpPr>
        <p:spPr>
          <a:xfrm>
            <a:off x="4297680" y="3040380"/>
            <a:ext cx="274320" cy="0"/>
          </a:xfrm>
          <a:prstGeom prst="line">
            <a:avLst/>
          </a:prstGeom>
          <a:noFill/>
          <a:ln w="19050">
            <a:solidFill>
              <a:srgbClr val="5D6778"/>
            </a:solidFill>
            <a:prstDash val="solid"/>
            <a:tailEnd type="triangle"/>
          </a:ln>
        </p:spPr>
      </p:sp>
      <p:sp>
        <p:nvSpPr>
          <p:cNvPr id="15" name="step 3"/>
          <p:cNvSpPr/>
          <p:nvPr/>
        </p:nvSpPr>
        <p:spPr>
          <a:xfrm>
            <a:off x="4572000" y="2423160"/>
            <a:ext cx="1371600" cy="1234440"/>
          </a:xfrm>
          <a:prstGeom prst="roundRect">
            <a:avLst>
              <a:gd name="adj" fmla="val 7407"/>
            </a:avLst>
          </a:prstGeom>
          <a:solidFill>
            <a:srgbClr val="EEF1F5"/>
          </a:solidFill>
          <a:ln w="22225">
            <a:solidFill>
              <a:srgbClr val="B4561C"/>
            </a:solidFill>
          </a:ln>
        </p:spPr>
        <p:txBody>
          <a:bodyPr wrap="square" lIns="50800" tIns="50800" rIns="50800" bIns="50800" rtlCol="0" anchor="ctr"/>
          <a:lstStyle/>
          <a:p>
            <a:pPr algn="ctr" indent="0" marL="0">
              <a:buNone/>
            </a:pPr>
            <a:r>
              <a:rPr lang="en-US" sz="1300" b="1" dirty="0">
                <a:solidFill>
                  <a:srgbClr val="13203A"/>
                </a:solidFill>
              </a:rPr>
              <a:t>Hand over at hub ∥ Send tracking</a:t>
            </a:r>
            <a:endParaRPr lang="en-US" sz="1300" dirty="0"/>
          </a:p>
        </p:txBody>
      </p:sp>
      <p:sp>
        <p:nvSpPr>
          <p:cNvPr id="16" name="step number 3"/>
          <p:cNvSpPr/>
          <p:nvPr/>
        </p:nvSpPr>
        <p:spPr>
          <a:xfrm>
            <a:off x="5074920" y="1920240"/>
            <a:ext cx="365760" cy="365760"/>
          </a:xfrm>
          <a:prstGeom prst="ellipse">
            <a:avLst/>
          </a:prstGeom>
          <a:solidFill>
            <a:srgbClr val="B4561C"/>
          </a:solidFill>
          <a:ln>
            <a:solidFill>
              <a:srgbClr val="B4561C"/>
            </a:solid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7" name="Text 15"/>
          <p:cNvSpPr txBox="1"/>
          <p:nvPr/>
        </p:nvSpPr>
        <p:spPr>
          <a:xfrm>
            <a:off x="4526280" y="3749040"/>
            <a:ext cx="1463040" cy="548640"/>
          </a:xfrm>
          <a:prstGeom prst="rect">
            <a:avLst/>
          </a:prstGeom>
          <a:noFill/>
          <a:ln/>
        </p:spPr>
        <p:txBody>
          <a:bodyPr wrap="square" lIns="0" tIns="0" rIns="0" bIns="0" rtlCol="0" anchor="t"/>
          <a:lstStyle/>
          <a:p>
            <a:pPr algn="ctr" indent="0" marL="0">
              <a:buNone/>
            </a:pPr>
            <a:r>
              <a:rPr lang="en-US" sz="1100" i="1" dirty="0">
                <a:solidFill>
                  <a:srgbClr val="5D6778"/>
                </a:solidFill>
              </a:rPr>
              <a:t>Pickup Agent + Control Tower</a:t>
            </a:r>
            <a:endParaRPr lang="en-US" sz="1100" dirty="0"/>
          </a:p>
        </p:txBody>
      </p:sp>
      <p:sp>
        <p:nvSpPr>
          <p:cNvPr id="18" name="Shape 16"/>
          <p:cNvSpPr/>
          <p:nvPr/>
        </p:nvSpPr>
        <p:spPr>
          <a:xfrm>
            <a:off x="5943600" y="3040380"/>
            <a:ext cx="274320" cy="0"/>
          </a:xfrm>
          <a:prstGeom prst="line">
            <a:avLst/>
          </a:prstGeom>
          <a:noFill/>
          <a:ln w="19050">
            <a:solidFill>
              <a:srgbClr val="5D6778"/>
            </a:solidFill>
            <a:prstDash val="solid"/>
            <a:tailEnd type="triangle"/>
          </a:ln>
        </p:spPr>
      </p:sp>
      <p:sp>
        <p:nvSpPr>
          <p:cNvPr id="19" name="step 4"/>
          <p:cNvSpPr/>
          <p:nvPr/>
        </p:nvSpPr>
        <p:spPr>
          <a:xfrm>
            <a:off x="6217920" y="2423160"/>
            <a:ext cx="1371600" cy="1234440"/>
          </a:xfrm>
          <a:prstGeom prst="roundRect">
            <a:avLst>
              <a:gd name="adj" fmla="val 7407"/>
            </a:avLst>
          </a:prstGeom>
          <a:solidFill>
            <a:srgbClr val="FFFFFF"/>
          </a:solidFill>
          <a:ln w="22225">
            <a:solidFill>
              <a:srgbClr val="B4561C"/>
            </a:solidFill>
          </a:ln>
        </p:spPr>
        <p:txBody>
          <a:bodyPr wrap="square" lIns="50800" tIns="50800" rIns="50800" bIns="50800" rtlCol="0" anchor="ctr"/>
          <a:lstStyle/>
          <a:p>
            <a:pPr algn="ctr" indent="0" marL="0">
              <a:buNone/>
            </a:pPr>
            <a:r>
              <a:rPr lang="en-US" sz="1300" b="1" dirty="0">
                <a:solidFill>
                  <a:srgbClr val="13203A"/>
                </a:solidFill>
              </a:rPr>
              <a:t>Transport to destination hub</a:t>
            </a:r>
            <a:endParaRPr lang="en-US" sz="1300" dirty="0"/>
          </a:p>
        </p:txBody>
      </p:sp>
      <p:sp>
        <p:nvSpPr>
          <p:cNvPr id="20" name="step number 4"/>
          <p:cNvSpPr/>
          <p:nvPr/>
        </p:nvSpPr>
        <p:spPr>
          <a:xfrm>
            <a:off x="6720840" y="1920240"/>
            <a:ext cx="365760" cy="365760"/>
          </a:xfrm>
          <a:prstGeom prst="ellipse">
            <a:avLst/>
          </a:prstGeom>
          <a:solidFill>
            <a:srgbClr val="B4561C"/>
          </a:solidFill>
          <a:ln>
            <a:solidFill>
              <a:srgbClr val="B4561C"/>
            </a:solid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1" name="Text 19"/>
          <p:cNvSpPr txBox="1"/>
          <p:nvPr/>
        </p:nvSpPr>
        <p:spPr>
          <a:xfrm>
            <a:off x="6172200" y="3749040"/>
            <a:ext cx="1463040" cy="548640"/>
          </a:xfrm>
          <a:prstGeom prst="rect">
            <a:avLst/>
          </a:prstGeom>
          <a:noFill/>
          <a:ln/>
        </p:spPr>
        <p:txBody>
          <a:bodyPr wrap="square" lIns="0" tIns="0" rIns="0" bIns="0" rtlCol="0" anchor="t"/>
          <a:lstStyle/>
          <a:p>
            <a:pPr algn="ctr" indent="0" marL="0">
              <a:buNone/>
            </a:pPr>
            <a:r>
              <a:rPr lang="en-US" sz="1100" i="1" dirty="0">
                <a:solidFill>
                  <a:srgbClr val="5D6778"/>
                </a:solidFill>
              </a:rPr>
              <a:t>Hub / Warehouse</a:t>
            </a:r>
            <a:endParaRPr lang="en-US" sz="1100" dirty="0"/>
          </a:p>
        </p:txBody>
      </p:sp>
      <p:sp>
        <p:nvSpPr>
          <p:cNvPr id="22" name="Shape 20"/>
          <p:cNvSpPr/>
          <p:nvPr/>
        </p:nvSpPr>
        <p:spPr>
          <a:xfrm>
            <a:off x="7589520" y="3040380"/>
            <a:ext cx="274320" cy="0"/>
          </a:xfrm>
          <a:prstGeom prst="line">
            <a:avLst/>
          </a:prstGeom>
          <a:noFill/>
          <a:ln w="19050">
            <a:solidFill>
              <a:srgbClr val="5D6778"/>
            </a:solidFill>
            <a:prstDash val="solid"/>
            <a:tailEnd type="triangle"/>
          </a:ln>
        </p:spPr>
      </p:sp>
      <p:sp>
        <p:nvSpPr>
          <p:cNvPr id="23" name="step 5"/>
          <p:cNvSpPr/>
          <p:nvPr/>
        </p:nvSpPr>
        <p:spPr>
          <a:xfrm>
            <a:off x="7863840" y="2423160"/>
            <a:ext cx="1371600" cy="1234440"/>
          </a:xfrm>
          <a:prstGeom prst="roundRect">
            <a:avLst>
              <a:gd name="adj" fmla="val 7407"/>
            </a:avLst>
          </a:prstGeom>
          <a:solidFill>
            <a:srgbClr val="FFFFFF"/>
          </a:solidFill>
          <a:ln w="22225">
            <a:solidFill>
              <a:srgbClr val="B4561C"/>
            </a:solidFill>
          </a:ln>
        </p:spPr>
        <p:txBody>
          <a:bodyPr wrap="square" lIns="50800" tIns="50800" rIns="50800" bIns="50800" rtlCol="0" anchor="ctr"/>
          <a:lstStyle/>
          <a:p>
            <a:pPr algn="ctr" indent="0" marL="0">
              <a:buNone/>
            </a:pPr>
            <a:r>
              <a:rPr lang="en-US" sz="1300" b="1" dirty="0">
                <a:solidFill>
                  <a:srgbClr val="13203A"/>
                </a:solidFill>
              </a:rPr>
              <a:t>Customs clearance (if international)</a:t>
            </a:r>
            <a:endParaRPr lang="en-US" sz="1300" dirty="0"/>
          </a:p>
        </p:txBody>
      </p:sp>
      <p:sp>
        <p:nvSpPr>
          <p:cNvPr id="24" name="step number 5"/>
          <p:cNvSpPr/>
          <p:nvPr/>
        </p:nvSpPr>
        <p:spPr>
          <a:xfrm>
            <a:off x="8366760" y="1920240"/>
            <a:ext cx="365760" cy="365760"/>
          </a:xfrm>
          <a:prstGeom prst="ellipse">
            <a:avLst/>
          </a:prstGeom>
          <a:solidFill>
            <a:srgbClr val="B4561C"/>
          </a:solidFill>
          <a:ln>
            <a:solidFill>
              <a:srgbClr val="B4561C"/>
            </a:solid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5" name="Text 23"/>
          <p:cNvSpPr txBox="1"/>
          <p:nvPr/>
        </p:nvSpPr>
        <p:spPr>
          <a:xfrm>
            <a:off x="7818120" y="3749040"/>
            <a:ext cx="1463040" cy="548640"/>
          </a:xfrm>
          <a:prstGeom prst="rect">
            <a:avLst/>
          </a:prstGeom>
          <a:noFill/>
          <a:ln/>
        </p:spPr>
        <p:txBody>
          <a:bodyPr wrap="square" lIns="0" tIns="0" rIns="0" bIns="0" rtlCol="0" anchor="t"/>
          <a:lstStyle/>
          <a:p>
            <a:pPr algn="ctr" indent="0" marL="0">
              <a:buNone/>
            </a:pPr>
            <a:r>
              <a:rPr lang="en-US" sz="1100" i="1" dirty="0">
                <a:solidFill>
                  <a:srgbClr val="5D6778"/>
                </a:solidFill>
              </a:rPr>
              <a:t>Hub / Warehouse</a:t>
            </a:r>
            <a:endParaRPr lang="en-US" sz="1100" dirty="0"/>
          </a:p>
        </p:txBody>
      </p:sp>
      <p:sp>
        <p:nvSpPr>
          <p:cNvPr id="26" name="Shape 24"/>
          <p:cNvSpPr/>
          <p:nvPr/>
        </p:nvSpPr>
        <p:spPr>
          <a:xfrm>
            <a:off x="9235440" y="3040380"/>
            <a:ext cx="274320" cy="0"/>
          </a:xfrm>
          <a:prstGeom prst="line">
            <a:avLst/>
          </a:prstGeom>
          <a:noFill/>
          <a:ln w="19050">
            <a:solidFill>
              <a:srgbClr val="5D6778"/>
            </a:solidFill>
            <a:prstDash val="solid"/>
            <a:tailEnd type="triangle"/>
          </a:ln>
        </p:spPr>
      </p:sp>
      <p:sp>
        <p:nvSpPr>
          <p:cNvPr id="27" name="step 6"/>
          <p:cNvSpPr/>
          <p:nvPr/>
        </p:nvSpPr>
        <p:spPr>
          <a:xfrm>
            <a:off x="9509760" y="2423160"/>
            <a:ext cx="1371600" cy="1234440"/>
          </a:xfrm>
          <a:prstGeom prst="roundRect">
            <a:avLst>
              <a:gd name="adj" fmla="val 7407"/>
            </a:avLst>
          </a:prstGeom>
          <a:solidFill>
            <a:srgbClr val="FFFFFF"/>
          </a:solidFill>
          <a:ln w="22225">
            <a:solidFill>
              <a:srgbClr val="B4561C"/>
            </a:solidFill>
          </a:ln>
        </p:spPr>
        <p:txBody>
          <a:bodyPr wrap="square" lIns="50800" tIns="50800" rIns="50800" bIns="50800" rtlCol="0" anchor="ctr"/>
          <a:lstStyle/>
          <a:p>
            <a:pPr algn="ctr" indent="0" marL="0">
              <a:buNone/>
            </a:pPr>
            <a:r>
              <a:rPr lang="en-US" sz="1300" b="1" dirty="0">
                <a:solidFill>
                  <a:srgbClr val="13203A"/>
                </a:solidFill>
              </a:rPr>
              <a:t>Attempt delivery</a:t>
            </a:r>
            <a:endParaRPr lang="en-US" sz="1300" dirty="0"/>
          </a:p>
        </p:txBody>
      </p:sp>
      <p:sp>
        <p:nvSpPr>
          <p:cNvPr id="28" name="step number 6"/>
          <p:cNvSpPr/>
          <p:nvPr/>
        </p:nvSpPr>
        <p:spPr>
          <a:xfrm>
            <a:off x="10012680" y="1920240"/>
            <a:ext cx="365760" cy="365760"/>
          </a:xfrm>
          <a:prstGeom prst="ellipse">
            <a:avLst/>
          </a:prstGeom>
          <a:solidFill>
            <a:srgbClr val="B4561C"/>
          </a:solidFill>
          <a:ln>
            <a:solidFill>
              <a:srgbClr val="B4561C"/>
            </a:solid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9" name="Text 27"/>
          <p:cNvSpPr txBox="1"/>
          <p:nvPr/>
        </p:nvSpPr>
        <p:spPr>
          <a:xfrm>
            <a:off x="9464040" y="3749040"/>
            <a:ext cx="1463040" cy="548640"/>
          </a:xfrm>
          <a:prstGeom prst="rect">
            <a:avLst/>
          </a:prstGeom>
          <a:noFill/>
          <a:ln/>
        </p:spPr>
        <p:txBody>
          <a:bodyPr wrap="square" lIns="0" tIns="0" rIns="0" bIns="0" rtlCol="0" anchor="t"/>
          <a:lstStyle/>
          <a:p>
            <a:pPr algn="ctr" indent="0" marL="0">
              <a:buNone/>
            </a:pPr>
            <a:r>
              <a:rPr lang="en-US" sz="1100" i="1" dirty="0">
                <a:solidFill>
                  <a:srgbClr val="5D6778"/>
                </a:solidFill>
              </a:rPr>
              <a:t>Delivery Agent</a:t>
            </a:r>
            <a:endParaRPr lang="en-US" sz="1100" dirty="0"/>
          </a:p>
        </p:txBody>
      </p:sp>
      <p:sp>
        <p:nvSpPr>
          <p:cNvPr id="30" name="Shape 28"/>
          <p:cNvSpPr/>
          <p:nvPr/>
        </p:nvSpPr>
        <p:spPr>
          <a:xfrm>
            <a:off x="10881360" y="3040380"/>
            <a:ext cx="274320" cy="0"/>
          </a:xfrm>
          <a:prstGeom prst="line">
            <a:avLst/>
          </a:prstGeom>
          <a:noFill/>
          <a:ln w="19050">
            <a:solidFill>
              <a:srgbClr val="5D6778"/>
            </a:solidFill>
            <a:prstDash val="solid"/>
            <a:tailEnd type="triangle"/>
          </a:ln>
        </p:spPr>
      </p:sp>
      <p:sp>
        <p:nvSpPr>
          <p:cNvPr id="31" name="end event"/>
          <p:cNvSpPr/>
          <p:nvPr/>
        </p:nvSpPr>
        <p:spPr>
          <a:xfrm>
            <a:off x="11155680" y="2811780"/>
            <a:ext cx="457200" cy="457200"/>
          </a:xfrm>
          <a:prstGeom prst="ellipse">
            <a:avLst/>
          </a:prstGeom>
          <a:solidFill>
            <a:srgbClr val="FFFFFF"/>
          </a:solidFill>
          <a:ln w="50800">
            <a:solidFill>
              <a:srgbClr val="13203A"/>
            </a:solidFill>
            <a:prstDash val="solid"/>
          </a:ln>
        </p:spPr>
      </p:sp>
      <p:sp>
        <p:nvSpPr>
          <p:cNvPr id="32" name="Text 30"/>
          <p:cNvSpPr txBox="1"/>
          <p:nvPr/>
        </p:nvSpPr>
        <p:spPr>
          <a:xfrm>
            <a:off x="10881360" y="2263140"/>
            <a:ext cx="1005840" cy="502920"/>
          </a:xfrm>
          <a:prstGeom prst="rect">
            <a:avLst/>
          </a:prstGeom>
          <a:noFill/>
          <a:ln/>
        </p:spPr>
        <p:txBody>
          <a:bodyPr wrap="square" lIns="0" tIns="0" rIns="0" bIns="0" rtlCol="0" anchor="b"/>
          <a:lstStyle/>
          <a:p>
            <a:pPr algn="ctr" indent="0" marL="0">
              <a:buNone/>
            </a:pPr>
            <a:r>
              <a:rPr lang="en-US" sz="1100" dirty="0">
                <a:solidFill>
                  <a:srgbClr val="5D6778"/>
                </a:solidFill>
              </a:rPr>
              <a:t>Shipment delivered</a:t>
            </a:r>
            <a:endParaRPr lang="en-US" sz="1100" dirty="0"/>
          </a:p>
        </p:txBody>
      </p:sp>
      <p:sp>
        <p:nvSpPr>
          <p:cNvPr id="33" name="critical path note"/>
          <p:cNvSpPr/>
          <p:nvPr/>
        </p:nvSpPr>
        <p:spPr>
          <a:xfrm>
            <a:off x="548640" y="4572000"/>
            <a:ext cx="11064240" cy="1463040"/>
          </a:xfrm>
          <a:prstGeom prst="roundRect">
            <a:avLst>
              <a:gd name="adj" fmla="val 7500"/>
            </a:avLst>
          </a:prstGeom>
          <a:solidFill>
            <a:srgbClr val="EEF1F5"/>
          </a:solidFill>
          <a:ln w="12700">
            <a:solidFill>
              <a:srgbClr val="EEF1F5"/>
            </a:solidFill>
            <a:prstDash val="solid"/>
          </a:ln>
        </p:spPr>
      </p:sp>
      <p:sp>
        <p:nvSpPr>
          <p:cNvPr id="34" name="Text 32"/>
          <p:cNvSpPr txBox="1"/>
          <p:nvPr/>
        </p:nvSpPr>
        <p:spPr>
          <a:xfrm>
            <a:off x="822960" y="4709160"/>
            <a:ext cx="10515600" cy="1188720"/>
          </a:xfrm>
          <a:prstGeom prst="rect">
            <a:avLst/>
          </a:prstGeom>
          <a:noFill/>
          <a:ln/>
        </p:spPr>
        <p:txBody>
          <a:bodyPr wrap="square" lIns="0" tIns="0" rIns="0" bIns="0" rtlCol="0" anchor="ctr"/>
          <a:lstStyle/>
          <a:p>
            <a:pPr marL="342900" indent="-342900">
              <a:spcAft>
                <a:spcPts val="400"/>
              </a:spcAft>
              <a:buSzPct val="100000"/>
              <a:buChar char="•"/>
            </a:pPr>
            <a:r>
              <a:rPr lang="en-US" sz="1500" dirty="0">
                <a:solidFill>
                  <a:srgbClr val="3A4659"/>
                </a:solidFill>
              </a:rPr>
              <a:t>Gateway choices on this path: Booking valid? = Yes · Collected? = Yes · Outcome? = Delivered</a:t>
            </a:r>
            <a:endParaRPr lang="en-US" sz="1500" dirty="0"/>
          </a:p>
          <a:p>
            <a:pPr marL="342900" indent="-342900">
              <a:spcAft>
                <a:spcPts val="400"/>
              </a:spcAft>
              <a:buSzPct val="100000"/>
              <a:buChar char="•"/>
            </a:pPr>
            <a:r>
              <a:rPr lang="en-US" sz="1500" dirty="0">
                <a:solidFill>
                  <a:srgbClr val="3A4659"/>
                </a:solidFill>
              </a:rPr>
              <a:t>Step 3 is a parallel split (shaded): both tasks run together and the join waits for both</a:t>
            </a:r>
            <a:endParaRPr lang="en-US" sz="1500" dirty="0"/>
          </a:p>
          <a:p>
            <a:pPr marL="342900" indent="-342900">
              <a:spcAft>
                <a:spcPts val="400"/>
              </a:spcAft>
              <a:buSzPct val="100000"/>
              <a:buChar char="•"/>
            </a:pPr>
            <a:r>
              <a:rPr lang="en-US" sz="1500" dirty="0">
                <a:solidFill>
                  <a:srgbClr val="3A4659"/>
                </a:solidFill>
              </a:rPr>
              <a:t>Every other route through the diagram is an alternate path (next slide)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7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rgbClr val="13203A"/>
                </a:solidFill>
                <a:latin typeface="Cambria" pitchFamily="34" charset="0"/>
                <a:ea typeface="Cambria" pitchFamily="34" charset="-122"/>
                <a:cs typeface="Cambria" pitchFamily="34" charset="-120"/>
              </a:rPr>
              <a:t>Alternate paths (exceptions)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2926080"/>
                <a:gridCol w="5212080"/>
                <a:gridCol w="292608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When this happens</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1320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Alternate path in the diagram</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1320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Ends at</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13203A"/>
                    </a:solidFill>
                  </a:tcPr>
                </a:tc>
              </a:tr>
              <a:tr h="0">
                <a:tc>
                  <a:txBody>
                    <a:bodyPr/>
                    <a:lstStyle/>
                    <a:p>
                      <a:pPr indent="0" marL="0">
                        <a:buNone/>
                      </a:pPr>
                      <a:r>
                        <a:rPr lang="en-US" sz="1400" b="1" dirty="0">
                          <a:solidFill>
                            <a:srgbClr val="13203A"/>
                          </a:solidFill>
                          <a:latin typeface="Calibri" pitchFamily="34" charset="0"/>
                          <a:ea typeface="Calibri" pitchFamily="34" charset="-122"/>
                          <a:cs typeface="Calibri" pitchFamily="34" charset="-120"/>
                        </a:rPr>
                        <a:t>Booking is invalid</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400" dirty="0">
                          <a:solidFill>
                            <a:srgbClr val="3A4659"/>
                          </a:solidFill>
                          <a:latin typeface="Calibri" pitchFamily="34" charset="0"/>
                          <a:ea typeface="Calibri" pitchFamily="34" charset="-122"/>
                          <a:cs typeface="Calibri" pitchFamily="34" charset="-120"/>
                        </a:rPr>
                        <a:t>Booking valid? = No (DMN result)</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400" dirty="0">
                          <a:solidFill>
                            <a:srgbClr val="3A4659"/>
                          </a:solidFill>
                          <a:latin typeface="Calibri" pitchFamily="34" charset="0"/>
                          <a:ea typeface="Calibri" pitchFamily="34" charset="-122"/>
                          <a:cs typeface="Calibri" pitchFamily="34" charset="-120"/>
                        </a:rPr>
                        <a:t>Booking rejected</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3203A"/>
                          </a:solidFill>
                          <a:latin typeface="Calibri" pitchFamily="34" charset="0"/>
                          <a:ea typeface="Calibri" pitchFamily="34" charset="-122"/>
                          <a:cs typeface="Calibri" pitchFamily="34" charset="-120"/>
                        </a:rPr>
                        <a:t>Pickup fails</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400" dirty="0">
                          <a:solidFill>
                            <a:srgbClr val="3A4659"/>
                          </a:solidFill>
                          <a:latin typeface="Calibri" pitchFamily="34" charset="0"/>
                          <a:ea typeface="Calibri" pitchFamily="34" charset="-122"/>
                          <a:cs typeface="Calibri" pitchFamily="34" charset="-120"/>
                        </a:rPr>
                        <a:t>Collected? = No</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400" dirty="0">
                          <a:solidFill>
                            <a:srgbClr val="3A4659"/>
                          </a:solidFill>
                          <a:latin typeface="Calibri" pitchFamily="34" charset="0"/>
                          <a:ea typeface="Calibri" pitchFamily="34" charset="-122"/>
                          <a:cs typeface="Calibri" pitchFamily="34" charset="-120"/>
                        </a:rPr>
                        <a:t>Booking cancelled</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r>
              <a:tr h="0">
                <a:tc>
                  <a:txBody>
                    <a:bodyPr/>
                    <a:lstStyle/>
                    <a:p>
                      <a:pPr indent="0" marL="0">
                        <a:buNone/>
                      </a:pPr>
                      <a:r>
                        <a:rPr lang="en-US" sz="1400" b="1" dirty="0">
                          <a:solidFill>
                            <a:srgbClr val="13203A"/>
                          </a:solidFill>
                          <a:latin typeface="Calibri" pitchFamily="34" charset="0"/>
                          <a:ea typeface="Calibri" pitchFamily="34" charset="-122"/>
                          <a:cs typeface="Calibri" pitchFamily="34" charset="-120"/>
                        </a:rPr>
                        <a:t>Transport runs late</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400" dirty="0">
                          <a:solidFill>
                            <a:srgbClr val="3A4659"/>
                          </a:solidFill>
                          <a:latin typeface="Calibri" pitchFamily="34" charset="0"/>
                          <a:ea typeface="Calibri" pitchFamily="34" charset="-122"/>
                          <a:cs typeface="Calibri" pitchFamily="34" charset="-120"/>
                        </a:rPr>
                        <a:t>Non-interrupting timer → Send delay notice</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400" dirty="0">
                          <a:solidFill>
                            <a:srgbClr val="3A4659"/>
                          </a:solidFill>
                          <a:latin typeface="Calibri" pitchFamily="34" charset="0"/>
                          <a:ea typeface="Calibri" pitchFamily="34" charset="-122"/>
                          <a:cs typeface="Calibri" pitchFamily="34" charset="-120"/>
                        </a:rPr>
                        <a:t>Shipper informed (parcel keeps moving)</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3203A"/>
                          </a:solidFill>
                          <a:latin typeface="Calibri" pitchFamily="34" charset="0"/>
                          <a:ea typeface="Calibri" pitchFamily="34" charset="-122"/>
                          <a:cs typeface="Calibri" pitchFamily="34" charset="-120"/>
                        </a:rPr>
                        <a:t>No scan for 48 hours</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400" dirty="0">
                          <a:solidFill>
                            <a:srgbClr val="3A4659"/>
                          </a:solidFill>
                          <a:latin typeface="Calibri" pitchFamily="34" charset="0"/>
                          <a:ea typeface="Calibri" pitchFamily="34" charset="-122"/>
                          <a:cs typeface="Calibri" pitchFamily="34" charset="-120"/>
                        </a:rPr>
                        <a:t>Interrupting timer → Settle claim</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400" dirty="0">
                          <a:solidFill>
                            <a:srgbClr val="3A4659"/>
                          </a:solidFill>
                          <a:latin typeface="Calibri" pitchFamily="34" charset="0"/>
                          <a:ea typeface="Calibri" pitchFamily="34" charset="-122"/>
                          <a:cs typeface="Calibri" pitchFamily="34" charset="-120"/>
                        </a:rPr>
                        <a:t>Claim settled</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r>
              <a:tr h="0">
                <a:tc>
                  <a:txBody>
                    <a:bodyPr/>
                    <a:lstStyle/>
                    <a:p>
                      <a:pPr indent="0" marL="0">
                        <a:buNone/>
                      </a:pPr>
                      <a:r>
                        <a:rPr lang="en-US" sz="1400" b="1" dirty="0">
                          <a:solidFill>
                            <a:srgbClr val="13203A"/>
                          </a:solidFill>
                          <a:latin typeface="Calibri" pitchFamily="34" charset="0"/>
                          <a:ea typeface="Calibri" pitchFamily="34" charset="-122"/>
                          <a:cs typeface="Calibri" pitchFamily="34" charset="-120"/>
                        </a:rPr>
                        <a:t>Shipper cancels in transit</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400" dirty="0">
                          <a:solidFill>
                            <a:srgbClr val="3A4659"/>
                          </a:solidFill>
                          <a:latin typeface="Calibri" pitchFamily="34" charset="0"/>
                          <a:ea typeface="Calibri" pitchFamily="34" charset="-122"/>
                          <a:cs typeface="Calibri" pitchFamily="34" charset="-120"/>
                        </a:rPr>
                        <a:t>Message boundary event → Return to shipper</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400" dirty="0">
                          <a:solidFill>
                            <a:srgbClr val="3A4659"/>
                          </a:solidFill>
                          <a:latin typeface="Calibri" pitchFamily="34" charset="0"/>
                          <a:ea typeface="Calibri" pitchFamily="34" charset="-122"/>
                          <a:cs typeface="Calibri" pitchFamily="34" charset="-120"/>
                        </a:rPr>
                        <a:t>Returned to sender</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3203A"/>
                          </a:solidFill>
                          <a:latin typeface="Calibri" pitchFamily="34" charset="0"/>
                          <a:ea typeface="Calibri" pitchFamily="34" charset="-122"/>
                          <a:cs typeface="Calibri" pitchFamily="34" charset="-120"/>
                        </a:rPr>
                        <a:t>Customs hold over 5 days</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400" dirty="0">
                          <a:solidFill>
                            <a:srgbClr val="3A4659"/>
                          </a:solidFill>
                          <a:latin typeface="Calibri" pitchFamily="34" charset="0"/>
                          <a:ea typeface="Calibri" pitchFamily="34" charset="-122"/>
                          <a:cs typeface="Calibri" pitchFamily="34" charset="-120"/>
                        </a:rPr>
                        <a:t>Timer boundary event → Return to shipper</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400" dirty="0">
                          <a:solidFill>
                            <a:srgbClr val="3A4659"/>
                          </a:solidFill>
                          <a:latin typeface="Calibri" pitchFamily="34" charset="0"/>
                          <a:ea typeface="Calibri" pitchFamily="34" charset="-122"/>
                          <a:cs typeface="Calibri" pitchFamily="34" charset="-120"/>
                        </a:rPr>
                        <a:t>Returned to sender</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r>
              <a:tr h="0">
                <a:tc>
                  <a:txBody>
                    <a:bodyPr/>
                    <a:lstStyle/>
                    <a:p>
                      <a:pPr indent="0" marL="0">
                        <a:buNone/>
                      </a:pPr>
                      <a:r>
                        <a:rPr lang="en-US" sz="1400" b="1" dirty="0">
                          <a:solidFill>
                            <a:srgbClr val="13203A"/>
                          </a:solidFill>
                          <a:latin typeface="Calibri" pitchFamily="34" charset="0"/>
                          <a:ea typeface="Calibri" pitchFamily="34" charset="-122"/>
                          <a:cs typeface="Calibri" pitchFamily="34" charset="-120"/>
                        </a:rPr>
                        <a:t>Recipient not home</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400" dirty="0">
                          <a:solidFill>
                            <a:srgbClr val="3A4659"/>
                          </a:solidFill>
                          <a:latin typeface="Calibri" pitchFamily="34" charset="0"/>
                          <a:ea typeface="Calibri" pitchFamily="34" charset="-122"/>
                          <a:cs typeface="Calibri" pitchFamily="34" charset="-120"/>
                        </a:rPr>
                        <a:t>Count attempt → Next day → retry (max 3)</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400" dirty="0">
                          <a:solidFill>
                            <a:srgbClr val="3A4659"/>
                          </a:solidFill>
                          <a:latin typeface="Calibri" pitchFamily="34" charset="0"/>
                          <a:ea typeface="Calibri" pitchFamily="34" charset="-122"/>
                          <a:cs typeface="Calibri" pitchFamily="34" charset="-120"/>
                        </a:rPr>
                        <a:t>Delivered, or returned after 3 tries</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3203A"/>
                          </a:solidFill>
                          <a:latin typeface="Calibri" pitchFamily="34" charset="0"/>
                          <a:ea typeface="Calibri" pitchFamily="34" charset="-122"/>
                          <a:cs typeface="Calibri" pitchFamily="34" charset="-120"/>
                        </a:rPr>
                        <a:t>Refused / COD not paid</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400" dirty="0">
                          <a:solidFill>
                            <a:srgbClr val="3A4659"/>
                          </a:solidFill>
                          <a:latin typeface="Calibri" pitchFamily="34" charset="0"/>
                          <a:ea typeface="Calibri" pitchFamily="34" charset="-122"/>
                          <a:cs typeface="Calibri" pitchFamily="34" charset="-120"/>
                        </a:rPr>
                        <a:t>Outcome? = Refused → Return to shipper</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c>
                  <a:txBody>
                    <a:bodyPr/>
                    <a:lstStyle/>
                    <a:p>
                      <a:pPr indent="0" marL="0">
                        <a:buNone/>
                      </a:pPr>
                      <a:r>
                        <a:rPr lang="en-US" sz="1400" dirty="0">
                          <a:solidFill>
                            <a:srgbClr val="3A4659"/>
                          </a:solidFill>
                          <a:latin typeface="Calibri" pitchFamily="34" charset="0"/>
                          <a:ea typeface="Calibri" pitchFamily="34" charset="-122"/>
                          <a:cs typeface="Calibri" pitchFamily="34" charset="-120"/>
                        </a:rPr>
                        <a:t>Returned to sender</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EEF1F5"/>
                    </a:solidFill>
                  </a:tcPr>
                </a:tc>
              </a:tr>
              <a:tr h="0">
                <a:tc>
                  <a:txBody>
                    <a:bodyPr/>
                    <a:lstStyle/>
                    <a:p>
                      <a:pPr indent="0" marL="0">
                        <a:buNone/>
                      </a:pPr>
                      <a:r>
                        <a:rPr lang="en-US" sz="1400" b="1" dirty="0">
                          <a:solidFill>
                            <a:srgbClr val="13203A"/>
                          </a:solidFill>
                          <a:latin typeface="Calibri" pitchFamily="34" charset="0"/>
                          <a:ea typeface="Calibri" pitchFamily="34" charset="-122"/>
                          <a:cs typeface="Calibri" pitchFamily="34" charset="-120"/>
                        </a:rPr>
                        <a:t>Parcel damaged</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400" dirty="0">
                          <a:solidFill>
                            <a:srgbClr val="3A4659"/>
                          </a:solidFill>
                          <a:latin typeface="Calibri" pitchFamily="34" charset="0"/>
                          <a:ea typeface="Calibri" pitchFamily="34" charset="-122"/>
                          <a:cs typeface="Calibri" pitchFamily="34" charset="-120"/>
                        </a:rPr>
                        <a:t>Outcome? = Damaged → Settle claim</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c>
                  <a:txBody>
                    <a:bodyPr/>
                    <a:lstStyle/>
                    <a:p>
                      <a:pPr indent="0" marL="0">
                        <a:buNone/>
                      </a:pPr>
                      <a:r>
                        <a:rPr lang="en-US" sz="1400" dirty="0">
                          <a:solidFill>
                            <a:srgbClr val="3A4659"/>
                          </a:solidFill>
                          <a:latin typeface="Calibri" pitchFamily="34" charset="0"/>
                          <a:ea typeface="Calibri" pitchFamily="34" charset="-122"/>
                          <a:cs typeface="Calibri" pitchFamily="34" charset="-120"/>
                        </a:rPr>
                        <a:t>Claim settled</a:t>
                      </a:r>
                      <a:endParaRPr lang="en-US" sz="1400" dirty="0">
                        <a:latin typeface="Calibri" charset="0"/>
                        <a:ea typeface="Calibri" charset="0"/>
                        <a:cs typeface="Calibri" charset="0"/>
                      </a:endParaRPr>
                    </a:p>
                  </a:txBody>
                  <a:tcPr marL="101600" marR="101600" marT="50800" marB="50800" anchor="ctr">
                    <a:lnL w="9525" cap="flat" cmpd="sng" algn="ctr">
                      <a:solidFill>
                        <a:srgbClr val="DFE3EA"/>
                      </a:solidFill>
                      <a:prstDash val="solid"/>
                      <a:round/>
                      <a:headEnd type="none" w="med" len="med"/>
                      <a:tailEnd type="none" w="med" len="med"/>
                    </a:lnL>
                    <a:lnR w="9525" cap="flat" cmpd="sng" algn="ctr">
                      <a:solidFill>
                        <a:srgbClr val="DFE3EA"/>
                      </a:solidFill>
                      <a:prstDash val="solid"/>
                      <a:round/>
                      <a:headEnd type="none" w="med" len="med"/>
                      <a:tailEnd type="none" w="med" len="med"/>
                    </a:lnR>
                    <a:lnT w="9525" cap="flat" cmpd="sng" algn="ctr">
                      <a:solidFill>
                        <a:srgbClr val="DFE3EA"/>
                      </a:solidFill>
                      <a:prstDash val="solid"/>
                      <a:round/>
                      <a:headEnd type="none" w="med" len="med"/>
                      <a:tailEnd type="none" w="med" len="med"/>
                    </a:lnT>
                    <a:lnB w="9525" cap="flat" cmpd="sng" algn="ctr">
                      <a:solidFill>
                        <a:srgbClr val="DFE3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D67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698480" cy="155448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Summary</a:t>
            </a:r>
            <a:endParaRPr lang="en-US" sz="4000" dirty="0"/>
          </a:p>
        </p:txBody>
      </p:sp>
      <p:sp>
        <p:nvSpPr>
          <p:cNvPr id="3" name="Text 0"/>
          <p:cNvSpPr/>
          <p:nvPr>
            <p:ph idx="101" type="body" hasCustomPrompt="1"/>
          </p:nvPr>
        </p:nvSpPr>
        <p:spPr>
          <a:xfrm>
            <a:off x="731520" y="3886200"/>
            <a:ext cx="10698480" cy="548640"/>
          </a:xfrm>
          <a:prstGeom prst="rect">
            <a:avLst/>
          </a:prstGeom>
          <a:noFill/>
          <a:ln/>
        </p:spPr>
        <p:txBody>
          <a:bodyPr wrap="square" lIns="0" tIns="0" rIns="0" bIns="0" rtlCol="0" anchor="t"/>
          <a:lstStyle/>
          <a:p>
            <a:pPr algn="l" indent="0" marL="0">
              <a:buNone/>
            </a:pPr>
            <a:r>
              <a:rPr lang="en-US" sz="2000" dirty="0">
                <a:solidFill>
                  <a:srgbClr val="F0A970"/>
                </a:solidFill>
                <a:latin typeface="Calibri" pitchFamily="34" charset="0"/>
                <a:ea typeface="Calibri" pitchFamily="34" charset="-122"/>
                <a:cs typeface="Calibri" pitchFamily="34" charset="-120"/>
              </a:rPr>
              <a:t>One critical path and nine alternate paths, each handled inside the diagram.</a:t>
            </a:r>
            <a:endParaRPr lang="en-US" sz="2000" dirty="0"/>
          </a:p>
        </p:txBody>
      </p:sp>
      <p:sp>
        <p:nvSpPr>
          <p:cNvPr id="4" name="Text 2"/>
          <p:cNvSpPr txBox="1"/>
          <p:nvPr/>
        </p:nvSpPr>
        <p:spPr>
          <a:xfrm>
            <a:off x="731520" y="4709160"/>
            <a:ext cx="2491740" cy="1188720"/>
          </a:xfrm>
          <a:prstGeom prst="rect">
            <a:avLst/>
          </a:prstGeom>
          <a:noFill/>
          <a:ln/>
        </p:spPr>
        <p:txBody>
          <a:bodyPr wrap="square" lIns="0" tIns="0" rIns="0" bIns="0" rtlCol="0" anchor="t"/>
          <a:lstStyle/>
          <a:p>
            <a:pPr indent="0" marL="0">
              <a:buNone/>
            </a:pPr>
            <a:r>
              <a:rPr lang="en-US" sz="4800" b="1" dirty="0">
                <a:solidFill>
                  <a:srgbClr val="F0A970"/>
                </a:solidFill>
                <a:latin typeface="Cambria" pitchFamily="34" charset="0"/>
                <a:ea typeface="Cambria" pitchFamily="34" charset="-122"/>
                <a:cs typeface="Cambria" pitchFamily="34" charset="-120"/>
              </a:rPr>
              <a:t>6</a:t>
            </a:r>
            <a:endParaRPr lang="en-US" sz="4800" dirty="0"/>
          </a:p>
          <a:p>
            <a:pPr indent="0" marL="0">
              <a:buNone/>
            </a:pPr>
            <a:r>
              <a:rPr lang="en-US" sz="1500" dirty="0">
                <a:solidFill>
                  <a:srgbClr val="C9D2E0"/>
                </a:solidFill>
              </a:rPr>
              <a:t>task types</a:t>
            </a:r>
            <a:endParaRPr lang="en-US" sz="4800" dirty="0"/>
          </a:p>
        </p:txBody>
      </p:sp>
      <p:sp>
        <p:nvSpPr>
          <p:cNvPr id="5" name="Text 3"/>
          <p:cNvSpPr txBox="1"/>
          <p:nvPr/>
        </p:nvSpPr>
        <p:spPr>
          <a:xfrm>
            <a:off x="3497580" y="4709160"/>
            <a:ext cx="2491740" cy="1188720"/>
          </a:xfrm>
          <a:prstGeom prst="rect">
            <a:avLst/>
          </a:prstGeom>
          <a:noFill/>
          <a:ln/>
        </p:spPr>
        <p:txBody>
          <a:bodyPr wrap="square" lIns="0" tIns="0" rIns="0" bIns="0" rtlCol="0" anchor="t"/>
          <a:lstStyle/>
          <a:p>
            <a:pPr indent="0" marL="0">
              <a:buNone/>
            </a:pPr>
            <a:r>
              <a:rPr lang="en-US" sz="4800" b="1" dirty="0">
                <a:solidFill>
                  <a:srgbClr val="F0A970"/>
                </a:solidFill>
                <a:latin typeface="Cambria" pitchFamily="34" charset="0"/>
                <a:ea typeface="Cambria" pitchFamily="34" charset="-122"/>
                <a:cs typeface="Cambria" pitchFamily="34" charset="-120"/>
              </a:rPr>
              <a:t>2</a:t>
            </a:r>
            <a:endParaRPr lang="en-US" sz="4800" dirty="0"/>
          </a:p>
          <a:p>
            <a:pPr indent="0" marL="0">
              <a:buNone/>
            </a:pPr>
            <a:r>
              <a:rPr lang="en-US" sz="1500" dirty="0">
                <a:solidFill>
                  <a:srgbClr val="C9D2E0"/>
                </a:solidFill>
              </a:rPr>
              <a:t>gateway types</a:t>
            </a:r>
            <a:endParaRPr lang="en-US" sz="4800" dirty="0"/>
          </a:p>
        </p:txBody>
      </p:sp>
      <p:sp>
        <p:nvSpPr>
          <p:cNvPr id="6" name="Text 4"/>
          <p:cNvSpPr txBox="1"/>
          <p:nvPr/>
        </p:nvSpPr>
        <p:spPr>
          <a:xfrm>
            <a:off x="6263640" y="4709160"/>
            <a:ext cx="2491740" cy="1188720"/>
          </a:xfrm>
          <a:prstGeom prst="rect">
            <a:avLst/>
          </a:prstGeom>
          <a:noFill/>
          <a:ln/>
        </p:spPr>
        <p:txBody>
          <a:bodyPr wrap="square" lIns="0" tIns="0" rIns="0" bIns="0" rtlCol="0" anchor="t"/>
          <a:lstStyle/>
          <a:p>
            <a:pPr indent="0" marL="0">
              <a:buNone/>
            </a:pPr>
            <a:r>
              <a:rPr lang="en-US" sz="4800" b="1" dirty="0">
                <a:solidFill>
                  <a:srgbClr val="F0A970"/>
                </a:solidFill>
                <a:latin typeface="Cambria" pitchFamily="34" charset="0"/>
                <a:ea typeface="Cambria" pitchFamily="34" charset="-122"/>
                <a:cs typeface="Cambria" pitchFamily="34" charset="-120"/>
              </a:rPr>
              <a:t>5</a:t>
            </a:r>
            <a:endParaRPr lang="en-US" sz="4800" dirty="0"/>
          </a:p>
          <a:p>
            <a:pPr indent="0" marL="0">
              <a:buNone/>
            </a:pPr>
            <a:r>
              <a:rPr lang="en-US" sz="1500" dirty="0">
                <a:solidFill>
                  <a:srgbClr val="C9D2E0"/>
                </a:solidFill>
              </a:rPr>
              <a:t>intermediate events</a:t>
            </a:r>
            <a:endParaRPr lang="en-US" sz="4800" dirty="0"/>
          </a:p>
        </p:txBody>
      </p:sp>
      <p:sp>
        <p:nvSpPr>
          <p:cNvPr id="7" name="Text 5"/>
          <p:cNvSpPr txBox="1"/>
          <p:nvPr/>
        </p:nvSpPr>
        <p:spPr>
          <a:xfrm>
            <a:off x="9029700" y="4709160"/>
            <a:ext cx="2491740" cy="1188720"/>
          </a:xfrm>
          <a:prstGeom prst="rect">
            <a:avLst/>
          </a:prstGeom>
          <a:noFill/>
          <a:ln/>
        </p:spPr>
        <p:txBody>
          <a:bodyPr wrap="square" lIns="0" tIns="0" rIns="0" bIns="0" rtlCol="0" anchor="t"/>
          <a:lstStyle/>
          <a:p>
            <a:pPr indent="0" marL="0">
              <a:buNone/>
            </a:pPr>
            <a:r>
              <a:rPr lang="en-US" sz="4800" b="1" dirty="0">
                <a:solidFill>
                  <a:srgbClr val="F0A970"/>
                </a:solidFill>
                <a:latin typeface="Cambria" pitchFamily="34" charset="0"/>
                <a:ea typeface="Cambria" pitchFamily="34" charset="-122"/>
                <a:cs typeface="Cambria" pitchFamily="34" charset="-120"/>
              </a:rPr>
              <a:t>9</a:t>
            </a:r>
            <a:endParaRPr lang="en-US" sz="4800" dirty="0"/>
          </a:p>
          <a:p>
            <a:pPr indent="0" marL="0">
              <a:buNone/>
            </a:pPr>
            <a:r>
              <a:rPr lang="en-US" sz="1500" dirty="0">
                <a:solidFill>
                  <a:srgbClr val="C9D2E0"/>
                </a:solidFill>
              </a:rPr>
              <a:t>alternate paths</a:t>
            </a:r>
            <a:endParaRPr lang="en-US" sz="4800" dirty="0"/>
          </a:p>
        </p:txBody>
      </p:sp>
      <p:sp>
        <p:nvSpPr>
          <p:cNvPr id="8" name="Text 6"/>
          <p:cNvSpPr txBox="1"/>
          <p:nvPr/>
        </p:nvSpPr>
        <p:spPr>
          <a:xfrm>
            <a:off x="731520" y="5989320"/>
            <a:ext cx="10698480" cy="457200"/>
          </a:xfrm>
          <a:prstGeom prst="rect">
            <a:avLst/>
          </a:prstGeom>
          <a:noFill/>
          <a:ln/>
        </p:spPr>
        <p:txBody>
          <a:bodyPr wrap="square" lIns="0" tIns="0" rIns="0" bIns="0" rtlCol="0" anchor="ctr"/>
          <a:lstStyle/>
          <a:p>
            <a:pPr indent="0" marL="0">
              <a:buNone/>
            </a:pPr>
            <a:r>
              <a:rPr lang="en-US" sz="2200" b="1" dirty="0">
                <a:solidFill>
                  <a:srgbClr val="F0A970"/>
                </a:solidFill>
                <a:latin typeface="Cambria" pitchFamily="34" charset="0"/>
                <a:ea typeface="Cambria" pitchFamily="34" charset="-122"/>
                <a:cs typeface="Cambria" pitchFamily="34" charset="-120"/>
              </a:rPr>
              <a:t>Thank you  ·  Questions?</a:t>
            </a:r>
            <a:endParaRPr lang="en-US" sz="2200" dirty="0"/>
          </a:p>
        </p:txBody>
      </p:sp>
    </p:spTree>
  </p:cSld>
  <p:clrMapOvr>
    <a:masterClrMapping/>
  </p:clrMapOvr>
</p:sld>
</file>

<file path=ppt/theme/theme1.xml><?xml version="1.0" encoding="utf-8"?>
<a:theme xmlns:a="http://schemas.openxmlformats.org/drawingml/2006/main" name="Logistics BPMN">
  <a:themeElements>
    <a:clrScheme name="Logistics BPMN">
      <a:dk1>
        <a:srgbClr val="13203A"/>
      </a:dk1>
      <a:lt1>
        <a:srgbClr val="FFFFFF"/>
      </a:lt1>
      <a:dk2>
        <a:srgbClr val="3A4659"/>
      </a:dk2>
      <a:lt2>
        <a:srgbClr val="EEF1F5"/>
      </a:lt2>
      <a:accent1>
        <a:srgbClr val="B4561C"/>
      </a:accent1>
      <a:accent2>
        <a:srgbClr val="F0A970"/>
      </a:accent2>
      <a:accent3>
        <a:srgbClr val="5D6778"/>
      </a:accent3>
      <a:accent4>
        <a:srgbClr val="DFE3EA"/>
      </a:accent4>
      <a:accent5>
        <a:srgbClr val="2E7D5B"/>
      </a:accent5>
      <a:accent6>
        <a:srgbClr val="7A4E96"/>
      </a:accent6>
      <a:hlink>
        <a:srgbClr val="2E5EAA"/>
      </a:hlink>
      <a:folHlink>
        <a:srgbClr val="5D6778"/>
      </a:folHlink>
    </a:clrScheme>
    <a:fontScheme name="Logistics BPM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Logistics &amp; Shipment Exception Management</dc:title>
  <dc:subject>BPMN 2.0 process model</dc:subject>
  <dc:creator>[Your name]</dc:creator>
  <cp:lastModifiedBy>[Your name]</cp:lastModifiedBy>
  <cp:revision>1</cp:revision>
  <dcterms:created xsi:type="dcterms:W3CDTF">2026-10-10T19:17:35Z</dcterms:created>
  <dcterms:modified xsi:type="dcterms:W3CDTF">2026-10-10T19:17:35Z</dcterms:modified>
</cp:coreProperties>
</file>