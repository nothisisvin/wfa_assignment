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2ECC7F-A49F-4D6D-B575-C8373CF5E512}" v="1" dt="2026-10-12T03:02:57.4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15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esh reddy" userId="3fef659a863e9622" providerId="LiveId" clId="{A5E9213C-D311-4F2C-98F7-AD373E71AFE0}"/>
    <pc:docChg chg="undo custSel modSld">
      <pc:chgData name="vinesh reddy" userId="3fef659a863e9622" providerId="LiveId" clId="{A5E9213C-D311-4F2C-98F7-AD373E71AFE0}" dt="2026-10-12T03:14:48.914" v="11" actId="1035"/>
      <pc:docMkLst>
        <pc:docMk/>
      </pc:docMkLst>
      <pc:sldChg chg="addSp delSp modSp mod">
        <pc:chgData name="vinesh reddy" userId="3fef659a863e9622" providerId="LiveId" clId="{A5E9213C-D311-4F2C-98F7-AD373E71AFE0}" dt="2026-10-12T03:10:55.038" v="8" actId="1036"/>
        <pc:sldMkLst>
          <pc:docMk/>
          <pc:sldMk cId="0" sldId="258"/>
        </pc:sldMkLst>
        <pc:spChg chg="add del mod">
          <ac:chgData name="vinesh reddy" userId="3fef659a863e9622" providerId="LiveId" clId="{A5E9213C-D311-4F2C-98F7-AD373E71AFE0}" dt="2026-10-12T03:02:59.510" v="4"/>
          <ac:spMkLst>
            <pc:docMk/>
            <pc:sldMk cId="0" sldId="258"/>
            <ac:spMk id="6" creationId="{4B932DF4-99FC-5458-657D-5A198EF5DABF}"/>
          </ac:spMkLst>
        </pc:spChg>
        <pc:picChg chg="mod">
          <ac:chgData name="vinesh reddy" userId="3fef659a863e9622" providerId="LiveId" clId="{A5E9213C-D311-4F2C-98F7-AD373E71AFE0}" dt="2026-10-12T03:10:55.038" v="8" actId="1036"/>
          <ac:picMkLst>
            <pc:docMk/>
            <pc:sldMk cId="0" sldId="258"/>
            <ac:picMk id="5" creationId="{00000000-0000-0000-0000-000000000000}"/>
          </ac:picMkLst>
        </pc:picChg>
      </pc:sldChg>
      <pc:sldChg chg="modSp mod">
        <pc:chgData name="vinesh reddy" userId="3fef659a863e9622" providerId="LiveId" clId="{A5E9213C-D311-4F2C-98F7-AD373E71AFE0}" dt="2026-10-12T03:14:48.914" v="11" actId="1035"/>
        <pc:sldMkLst>
          <pc:docMk/>
          <pc:sldMk cId="0" sldId="264"/>
        </pc:sldMkLst>
        <pc:spChg chg="mod">
          <ac:chgData name="vinesh reddy" userId="3fef659a863e9622" providerId="LiveId" clId="{A5E9213C-D311-4F2C-98F7-AD373E71AFE0}" dt="2026-10-12T03:14:48.914" v="11" actId="1035"/>
          <ac:spMkLst>
            <pc:docMk/>
            <pc:sldMk cId="0" sldId="264"/>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6876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assignment: a bank processes a loan application through checks, underwriting, the offer and disbursement. The question asks us to show every point where an application can stall, be rejected or be cancelled.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a bank handles personal and secured loans through document checks, identity verification, credit assessment, underwriting, the offer and disbursement. It starts when the application arrives and ends when the loan is disbursed, or the application is rejected, withdrawn or lapsed. The bottom line lists the failure areas we had to cover.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diagram. Applicant and Credit Bureau are external pools; the bank has five lanes. The dotted box at the top is the withdrawal event sub-process.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task types. Check eligibility is a business rule task that uses a DMN table. The three user tasks need human judgement and have forms. Service tasks are automated calls: credit score, backup bureau, KYC, AML and disbursement. Send tasks send messages to the applicant, and Receive documents waits for the applicant with a seven-day timer.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gateway types. Exclusive gateways choose one path; Eligible? has three outcomes. The parallel gateway runs the credit, KYC and AML checks at the same time; the two credit paths, normal and backup, are merged first so the join gets exactly three tokens. The event-based gateway after the offer waits for whichever happens first: the signed agreement, a decline, or the fifteen-day timer.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intermediate events. Boundary events: a seven-day timer on Receive documents, an error event when the credit bureau is down, and an error event when the payment fails. After the offer, two message catch events and a fifteen-day timer race through the event-based gateway. The crops show the payment retry and the document request.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path: application received, eligibility check, the three checks in parallel, underwriting, the signed offer, and disbursement. Every gateway takes its normal branch, and the process ends at Loan disbursed.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alternate paths. Three end in the same rejection letter. The bureau outage recovers instead of failing. Confirmed fraud uses a terminate end event to stop everything. Withdrawal can happen at any stage, so it is an interrupting event sub-process.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five task types, three gateway types, six intermediate events, one critical path and ten alternate paths.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_TITLE">
    <p:bg>
      <p:bgPr>
        <a:solidFill>
          <a:srgbClr val="17252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914400" y="2468880"/>
            <a:ext cx="10332720" cy="1280160"/>
          </a:xfrm>
          <a:prstGeom prst="rect">
            <a:avLst/>
          </a:prstGeom>
          <a:noFill/>
          <a:ln/>
        </p:spPr>
        <p:txBody>
          <a:bodyPr wrap="square" rtlCol="0"/>
          <a:lstStyle>
            <a:lvl1pPr marL="0" indent="0" algn="ctr">
              <a:buNone/>
              <a:defRPr lang="en-US" sz="4400" b="1" dirty="0">
                <a:solidFill>
                  <a:srgbClr val="EEF3F5"/>
                </a:solidFill>
                <a:latin typeface="Cambria" pitchFamily="34" charset="0"/>
                <a:ea typeface="Cambria" pitchFamily="34" charset="-122"/>
                <a:cs typeface="Cambria" pitchFamily="34" charset="-120"/>
              </a:defRPr>
            </a:lvl1pPr>
          </a:lstStyle>
          <a:p>
            <a:pPr marL="0" indent="0" algn="ctr">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_CONTENT">
    <p:bg>
      <p:bgPr>
        <a:solidFill>
          <a:srgbClr val="17252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685800"/>
            <a:ext cx="10881360" cy="640080"/>
          </a:xfrm>
          <a:prstGeom prst="rect">
            <a:avLst/>
          </a:prstGeom>
          <a:noFill/>
          <a:ln/>
        </p:spPr>
        <p:txBody>
          <a:bodyPr wrap="square" rtlCol="0"/>
          <a:lstStyle>
            <a:lvl1pPr marL="0" indent="0" algn="l">
              <a:buNone/>
              <a:defRPr lang="en-US" sz="3000" b="1" dirty="0">
                <a:solidFill>
                  <a:srgbClr val="EEF3F5"/>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14400" y="1920240"/>
            <a:ext cx="10332720" cy="365760"/>
          </a:xfrm>
          <a:prstGeom prst="rect">
            <a:avLst/>
          </a:prstGeom>
          <a:noFill/>
          <a:ln/>
        </p:spPr>
        <p:txBody>
          <a:bodyPr wrap="square" lIns="0" tIns="0" rIns="0" bIns="0" rtlCol="0" anchor="t"/>
          <a:lstStyle/>
          <a:p>
            <a:pPr marL="0" indent="0" algn="ctr">
              <a:buNone/>
            </a:pPr>
            <a:r>
              <a:rPr lang="en-US" sz="1400" b="1" kern="0" spc="400" dirty="0">
                <a:solidFill>
                  <a:srgbClr val="4FD1C5"/>
                </a:solidFill>
                <a:latin typeface="Calibri" pitchFamily="34" charset="0"/>
                <a:ea typeface="Calibri" pitchFamily="34" charset="-122"/>
                <a:cs typeface="Calibri" pitchFamily="34" charset="-120"/>
              </a:rPr>
              <a:t>ASSIGNMENT 3</a:t>
            </a:r>
            <a:endParaRPr lang="en-US" sz="1400" dirty="0"/>
          </a:p>
        </p:txBody>
      </p:sp>
      <p:sp>
        <p:nvSpPr>
          <p:cNvPr id="3" name="Text 0"/>
          <p:cNvSpPr>
            <a:spLocks noGrp="1"/>
          </p:cNvSpPr>
          <p:nvPr>
            <p:ph type="title" idx="100" hasCustomPrompt="1"/>
          </p:nvPr>
        </p:nvSpPr>
        <p:spPr>
          <a:xfrm>
            <a:off x="914400" y="2468880"/>
            <a:ext cx="10332720" cy="1280160"/>
          </a:xfrm>
          <a:prstGeom prst="rect">
            <a:avLst/>
          </a:prstGeom>
          <a:noFill/>
          <a:ln/>
        </p:spPr>
        <p:txBody>
          <a:bodyPr wrap="square" lIns="0" tIns="0" rIns="0" bIns="0" rtlCol="0" anchor="ctr"/>
          <a:lstStyle/>
          <a:p>
            <a:pPr marL="0" indent="0" algn="ctr">
              <a:buNone/>
            </a:pPr>
            <a:r>
              <a:rPr lang="en-US" sz="4400" b="1" dirty="0">
                <a:solidFill>
                  <a:srgbClr val="EEF3F5"/>
                </a:solidFill>
                <a:latin typeface="Cambria" pitchFamily="34" charset="0"/>
                <a:ea typeface="Cambria" pitchFamily="34" charset="-122"/>
                <a:cs typeface="Cambria" pitchFamily="34" charset="-120"/>
              </a:rPr>
              <a:t>Loan Origination &amp; Approval System</a:t>
            </a:r>
            <a:endParaRPr lang="en-US" sz="4400" dirty="0"/>
          </a:p>
        </p:txBody>
      </p:sp>
      <p:sp>
        <p:nvSpPr>
          <p:cNvPr id="4" name="Text 2"/>
          <p:cNvSpPr txBox="1"/>
          <p:nvPr/>
        </p:nvSpPr>
        <p:spPr>
          <a:xfrm>
            <a:off x="914400" y="3840480"/>
            <a:ext cx="10332720" cy="457200"/>
          </a:xfrm>
          <a:prstGeom prst="rect">
            <a:avLst/>
          </a:prstGeom>
          <a:noFill/>
          <a:ln/>
        </p:spPr>
        <p:txBody>
          <a:bodyPr wrap="square" lIns="0" tIns="0" rIns="0" bIns="0" rtlCol="0" anchor="t"/>
          <a:lstStyle/>
          <a:p>
            <a:pPr marL="0" indent="0" algn="ctr">
              <a:buNone/>
            </a:pPr>
            <a:r>
              <a:rPr lang="en-US" sz="1800" dirty="0">
                <a:solidFill>
                  <a:srgbClr val="A7BAC4"/>
                </a:solidFill>
                <a:latin typeface="Calibri" pitchFamily="34" charset="0"/>
                <a:ea typeface="Calibri" pitchFamily="34" charset="-122"/>
                <a:cs typeface="Calibri" pitchFamily="34" charset="-120"/>
              </a:rPr>
              <a:t>From application to disbursement, with every point where it can stop</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01</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The question</a:t>
            </a:r>
            <a:endParaRPr lang="en-US" sz="3000" dirty="0"/>
          </a:p>
        </p:txBody>
      </p:sp>
      <p:sp>
        <p:nvSpPr>
          <p:cNvPr id="4" name="Shape 2"/>
          <p:cNvSpPr/>
          <p:nvPr/>
        </p:nvSpPr>
        <p:spPr>
          <a:xfrm>
            <a:off x="640080" y="1691640"/>
            <a:ext cx="3474720" cy="2103120"/>
          </a:xfrm>
          <a:prstGeom prst="roundRect">
            <a:avLst>
              <a:gd name="adj" fmla="val 4348"/>
            </a:avLst>
          </a:prstGeom>
          <a:solidFill>
            <a:srgbClr val="213540"/>
          </a:solidFill>
          <a:ln w="12700">
            <a:solidFill>
              <a:srgbClr val="213540"/>
            </a:solidFill>
            <a:prstDash val="solid"/>
          </a:ln>
        </p:spPr>
      </p:sp>
      <p:sp>
        <p:nvSpPr>
          <p:cNvPr id="5" name="Text 3"/>
          <p:cNvSpPr txBox="1"/>
          <p:nvPr/>
        </p:nvSpPr>
        <p:spPr>
          <a:xfrm>
            <a:off x="868680" y="1920240"/>
            <a:ext cx="3017520" cy="1737360"/>
          </a:xfrm>
          <a:prstGeom prst="rect">
            <a:avLst/>
          </a:prstGeom>
          <a:noFill/>
          <a:ln/>
        </p:spPr>
        <p:txBody>
          <a:bodyPr wrap="square" lIns="0" tIns="0" rIns="0" bIns="0" rtlCol="0" anchor="t"/>
          <a:lstStyle/>
          <a:p>
            <a:pPr marL="0" indent="0">
              <a:spcAft>
                <a:spcPts val="600"/>
              </a:spcAft>
              <a:buNone/>
            </a:pPr>
            <a:r>
              <a:rPr lang="en-US" sz="1500" b="1" dirty="0">
                <a:solidFill>
                  <a:srgbClr val="4FD1C5"/>
                </a:solidFill>
                <a:latin typeface="Calibri" pitchFamily="34" charset="0"/>
                <a:ea typeface="Calibri" pitchFamily="34" charset="-122"/>
                <a:cs typeface="Calibri" pitchFamily="34" charset="-120"/>
              </a:rPr>
              <a:t>What happens</a:t>
            </a:r>
            <a:endParaRPr lang="en-US" sz="1500" dirty="0"/>
          </a:p>
          <a:p>
            <a:pPr marL="0" indent="0">
              <a:spcAft>
                <a:spcPts val="600"/>
              </a:spcAft>
              <a:buNone/>
            </a:pPr>
            <a:r>
              <a:rPr lang="en-US" sz="1600" dirty="0">
                <a:solidFill>
                  <a:srgbClr val="EEF3F5"/>
                </a:solidFill>
                <a:latin typeface="Calibri" pitchFamily="34" charset="0"/>
                <a:ea typeface="Calibri" pitchFamily="34" charset="-122"/>
                <a:cs typeface="Calibri" pitchFamily="34" charset="-120"/>
              </a:rPr>
              <a:t>A bank checks documents and identity, assesses credit, underwrites, makes an offer and pays out the loan.</a:t>
            </a:r>
            <a:endParaRPr lang="en-US" sz="1500" dirty="0"/>
          </a:p>
        </p:txBody>
      </p:sp>
      <p:sp>
        <p:nvSpPr>
          <p:cNvPr id="6" name="Shape 4"/>
          <p:cNvSpPr/>
          <p:nvPr/>
        </p:nvSpPr>
        <p:spPr>
          <a:xfrm>
            <a:off x="4343400" y="1691640"/>
            <a:ext cx="3474720" cy="2103120"/>
          </a:xfrm>
          <a:prstGeom prst="roundRect">
            <a:avLst>
              <a:gd name="adj" fmla="val 4348"/>
            </a:avLst>
          </a:prstGeom>
          <a:solidFill>
            <a:srgbClr val="213540"/>
          </a:solidFill>
          <a:ln w="12700">
            <a:solidFill>
              <a:srgbClr val="213540"/>
            </a:solidFill>
            <a:prstDash val="solid"/>
          </a:ln>
        </p:spPr>
      </p:sp>
      <p:sp>
        <p:nvSpPr>
          <p:cNvPr id="7" name="Text 5"/>
          <p:cNvSpPr txBox="1"/>
          <p:nvPr/>
        </p:nvSpPr>
        <p:spPr>
          <a:xfrm>
            <a:off x="4572000" y="1920240"/>
            <a:ext cx="3017520" cy="1737360"/>
          </a:xfrm>
          <a:prstGeom prst="rect">
            <a:avLst/>
          </a:prstGeom>
          <a:noFill/>
          <a:ln/>
        </p:spPr>
        <p:txBody>
          <a:bodyPr wrap="square" lIns="0" tIns="0" rIns="0" bIns="0" rtlCol="0" anchor="t"/>
          <a:lstStyle/>
          <a:p>
            <a:pPr marL="0" indent="0">
              <a:spcAft>
                <a:spcPts val="600"/>
              </a:spcAft>
              <a:buNone/>
            </a:pPr>
            <a:r>
              <a:rPr lang="en-US" sz="1500" b="1" dirty="0">
                <a:solidFill>
                  <a:srgbClr val="4FD1C5"/>
                </a:solidFill>
                <a:latin typeface="Calibri" pitchFamily="34" charset="0"/>
                <a:ea typeface="Calibri" pitchFamily="34" charset="-122"/>
                <a:cs typeface="Calibri" pitchFamily="34" charset="-120"/>
              </a:rPr>
              <a:t>Starts</a:t>
            </a:r>
            <a:endParaRPr lang="en-US" sz="1500" dirty="0"/>
          </a:p>
          <a:p>
            <a:pPr marL="0" indent="0">
              <a:spcAft>
                <a:spcPts val="600"/>
              </a:spcAft>
              <a:buNone/>
            </a:pPr>
            <a:r>
              <a:rPr lang="en-US" sz="1600" dirty="0">
                <a:solidFill>
                  <a:srgbClr val="EEF3F5"/>
                </a:solidFill>
                <a:latin typeface="Calibri" pitchFamily="34" charset="0"/>
                <a:ea typeface="Calibri" pitchFamily="34" charset="-122"/>
                <a:cs typeface="Calibri" pitchFamily="34" charset="-120"/>
              </a:rPr>
              <a:t>An applicant submits an application with documents</a:t>
            </a:r>
            <a:endParaRPr lang="en-US" sz="1500" dirty="0"/>
          </a:p>
        </p:txBody>
      </p:sp>
      <p:sp>
        <p:nvSpPr>
          <p:cNvPr id="8" name="Shape 6"/>
          <p:cNvSpPr/>
          <p:nvPr/>
        </p:nvSpPr>
        <p:spPr>
          <a:xfrm>
            <a:off x="8046720" y="1691640"/>
            <a:ext cx="3474720" cy="2103120"/>
          </a:xfrm>
          <a:prstGeom prst="roundRect">
            <a:avLst>
              <a:gd name="adj" fmla="val 4348"/>
            </a:avLst>
          </a:prstGeom>
          <a:solidFill>
            <a:srgbClr val="213540"/>
          </a:solidFill>
          <a:ln w="12700">
            <a:solidFill>
              <a:srgbClr val="213540"/>
            </a:solidFill>
            <a:prstDash val="solid"/>
          </a:ln>
        </p:spPr>
      </p:sp>
      <p:sp>
        <p:nvSpPr>
          <p:cNvPr id="9" name="Text 7"/>
          <p:cNvSpPr txBox="1"/>
          <p:nvPr/>
        </p:nvSpPr>
        <p:spPr>
          <a:xfrm>
            <a:off x="8275320" y="1920240"/>
            <a:ext cx="3017520" cy="1737360"/>
          </a:xfrm>
          <a:prstGeom prst="rect">
            <a:avLst/>
          </a:prstGeom>
          <a:noFill/>
          <a:ln/>
        </p:spPr>
        <p:txBody>
          <a:bodyPr wrap="square" lIns="0" tIns="0" rIns="0" bIns="0" rtlCol="0" anchor="t"/>
          <a:lstStyle/>
          <a:p>
            <a:pPr marL="0" indent="0">
              <a:spcAft>
                <a:spcPts val="600"/>
              </a:spcAft>
              <a:buNone/>
            </a:pPr>
            <a:r>
              <a:rPr lang="en-US" sz="1500" b="1" dirty="0">
                <a:solidFill>
                  <a:srgbClr val="4FD1C5"/>
                </a:solidFill>
                <a:latin typeface="Calibri" pitchFamily="34" charset="0"/>
                <a:ea typeface="Calibri" pitchFamily="34" charset="-122"/>
                <a:cs typeface="Calibri" pitchFamily="34" charset="-120"/>
              </a:rPr>
              <a:t>Ends</a:t>
            </a:r>
            <a:endParaRPr lang="en-US" sz="1500" dirty="0"/>
          </a:p>
          <a:p>
            <a:pPr marL="0" indent="0">
              <a:spcAft>
                <a:spcPts val="600"/>
              </a:spcAft>
              <a:buNone/>
            </a:pPr>
            <a:r>
              <a:rPr lang="en-US" sz="1600" dirty="0">
                <a:solidFill>
                  <a:srgbClr val="EEF3F5"/>
                </a:solidFill>
                <a:latin typeface="Calibri" pitchFamily="34" charset="0"/>
                <a:ea typeface="Calibri" pitchFamily="34" charset="-122"/>
                <a:cs typeface="Calibri" pitchFamily="34" charset="-120"/>
              </a:rPr>
              <a:t>Disbursed, rejected, withdrawn or lapsed</a:t>
            </a:r>
            <a:endParaRPr lang="en-US" sz="1500" dirty="0"/>
          </a:p>
        </p:txBody>
      </p:sp>
      <p:sp>
        <p:nvSpPr>
          <p:cNvPr id="10" name="Text 8"/>
          <p:cNvSpPr txBox="1"/>
          <p:nvPr/>
        </p:nvSpPr>
        <p:spPr>
          <a:xfrm>
            <a:off x="640080" y="4160520"/>
            <a:ext cx="5486400" cy="365760"/>
          </a:xfrm>
          <a:prstGeom prst="rect">
            <a:avLst/>
          </a:prstGeom>
          <a:noFill/>
          <a:ln/>
        </p:spPr>
        <p:txBody>
          <a:bodyPr wrap="square" lIns="0" tIns="0" rIns="0" bIns="0" rtlCol="0" anchor="t"/>
          <a:lstStyle/>
          <a:p>
            <a:pPr marL="0" indent="0">
              <a:buNone/>
            </a:pPr>
            <a:r>
              <a:rPr lang="en-US" sz="1600" b="1" dirty="0">
                <a:solidFill>
                  <a:srgbClr val="4FD1C5"/>
                </a:solidFill>
                <a:latin typeface="Calibri" pitchFamily="34" charset="0"/>
                <a:ea typeface="Calibri" pitchFamily="34" charset="-122"/>
                <a:cs typeface="Calibri" pitchFamily="34" charset="-120"/>
              </a:rPr>
              <a:t>Failure areas to cover</a:t>
            </a:r>
            <a:endParaRPr lang="en-US" sz="1600" dirty="0"/>
          </a:p>
        </p:txBody>
      </p:sp>
      <p:sp>
        <p:nvSpPr>
          <p:cNvPr id="11" name="Text 9"/>
          <p:cNvSpPr txBox="1"/>
          <p:nvPr/>
        </p:nvSpPr>
        <p:spPr>
          <a:xfrm>
            <a:off x="640080" y="4572000"/>
            <a:ext cx="10881360" cy="914400"/>
          </a:xfrm>
          <a:prstGeom prst="rect">
            <a:avLst/>
          </a:prstGeom>
          <a:noFill/>
          <a:ln/>
        </p:spPr>
        <p:txBody>
          <a:bodyPr wrap="square" lIns="0" tIns="0" rIns="0" bIns="0" rtlCol="0" anchor="t"/>
          <a:lstStyle/>
          <a:p>
            <a:pPr marL="0" indent="0">
              <a:buNone/>
            </a:pPr>
            <a:r>
              <a:rPr lang="en-US" sz="1600" dirty="0">
                <a:solidFill>
                  <a:srgbClr val="A7BAC4"/>
                </a:solidFill>
                <a:latin typeface="Calibri" pitchFamily="34" charset="0"/>
                <a:ea typeface="Calibri" pitchFamily="34" charset="-122"/>
                <a:cs typeface="Calibri" pitchFamily="34" charset="-120"/>
              </a:rPr>
              <a:t>Documents and identity  ·  Fraud, AML, sanctions  ·  Credit bureau down  ·  Credit outcomes  ·  Timeouts, withdrawal, refusal  ·  Disbursement failures</a:t>
            </a:r>
            <a:endParaRPr lang="en-US" sz="16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02</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The process</a:t>
            </a:r>
            <a:endParaRPr lang="en-US" sz="3000" dirty="0"/>
          </a:p>
        </p:txBody>
      </p:sp>
      <p:sp>
        <p:nvSpPr>
          <p:cNvPr id="4" name="Shape 2"/>
          <p:cNvSpPr/>
          <p:nvPr/>
        </p:nvSpPr>
        <p:spPr>
          <a:xfrm>
            <a:off x="640080" y="1508760"/>
            <a:ext cx="10881360" cy="4754880"/>
          </a:xfrm>
          <a:prstGeom prst="roundRect">
            <a:avLst>
              <a:gd name="adj" fmla="val 1538"/>
            </a:avLst>
          </a:prstGeom>
          <a:solidFill>
            <a:srgbClr val="FFFFFF"/>
          </a:solidFill>
          <a:ln w="12700">
            <a:solidFill>
              <a:srgbClr val="FFFFFF"/>
            </a:solidFill>
            <a:prstDash val="solid"/>
          </a:ln>
        </p:spPr>
      </p:sp>
      <p:pic>
        <p:nvPicPr>
          <p:cNvPr id="5" name="Image 0" descr="Full loan BPMN diagram"/>
          <p:cNvPicPr>
            <a:picLocks noChangeAspect="1"/>
          </p:cNvPicPr>
          <p:nvPr/>
        </p:nvPicPr>
        <p:blipFill>
          <a:blip r:embed="rId3"/>
          <a:stretch>
            <a:fillRect/>
          </a:stretch>
        </p:blipFill>
        <p:spPr>
          <a:xfrm>
            <a:off x="1789926" y="1605280"/>
            <a:ext cx="8581668" cy="4572000"/>
          </a:xfrm>
          <a:prstGeom prst="rect">
            <a:avLst/>
          </a:prstGeom>
        </p:spPr>
      </p:pic>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03</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Task types</a:t>
            </a:r>
            <a:endParaRPr lang="en-US" sz="3000" dirty="0"/>
          </a:p>
        </p:txBody>
      </p:sp>
      <p:sp>
        <p:nvSpPr>
          <p:cNvPr id="4" name="Shape 2"/>
          <p:cNvSpPr/>
          <p:nvPr/>
        </p:nvSpPr>
        <p:spPr>
          <a:xfrm>
            <a:off x="640080" y="2011680"/>
            <a:ext cx="2057400" cy="3108960"/>
          </a:xfrm>
          <a:prstGeom prst="roundRect">
            <a:avLst>
              <a:gd name="adj" fmla="val 4444"/>
            </a:avLst>
          </a:prstGeom>
          <a:solidFill>
            <a:srgbClr val="213540"/>
          </a:solidFill>
          <a:ln w="12700">
            <a:solidFill>
              <a:srgbClr val="213540"/>
            </a:solidFill>
            <a:prstDash val="solid"/>
          </a:ln>
        </p:spPr>
      </p:sp>
      <p:sp>
        <p:nvSpPr>
          <p:cNvPr id="5" name="Text 3"/>
          <p:cNvSpPr txBox="1"/>
          <p:nvPr/>
        </p:nvSpPr>
        <p:spPr>
          <a:xfrm>
            <a:off x="822960" y="2240280"/>
            <a:ext cx="1691640" cy="2743200"/>
          </a:xfrm>
          <a:prstGeom prst="rect">
            <a:avLst/>
          </a:prstGeom>
          <a:noFill/>
          <a:ln/>
        </p:spPr>
        <p:txBody>
          <a:bodyPr wrap="square" lIns="0" tIns="0" rIns="0" bIns="0" rtlCol="0" anchor="t"/>
          <a:lstStyle/>
          <a:p>
            <a:pPr marL="0" indent="0">
              <a:buNone/>
            </a:pPr>
            <a:r>
              <a:rPr lang="en-US" sz="1800" b="1" dirty="0">
                <a:solidFill>
                  <a:srgbClr val="4FD1C5"/>
                </a:solidFill>
                <a:latin typeface="Calibri" pitchFamily="34" charset="0"/>
                <a:ea typeface="Calibri" pitchFamily="34" charset="-122"/>
                <a:cs typeface="Calibri" pitchFamily="34" charset="-120"/>
              </a:rPr>
              <a:t>Business rule</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500" dirty="0">
                <a:solidFill>
                  <a:srgbClr val="EEF3F5"/>
                </a:solidFill>
                <a:latin typeface="Calibri" pitchFamily="34" charset="0"/>
                <a:ea typeface="Calibri" pitchFamily="34" charset="-122"/>
                <a:cs typeface="Calibri" pitchFamily="34" charset="-120"/>
              </a:rPr>
              <a:t>Check eligibility</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400" i="1" dirty="0">
                <a:solidFill>
                  <a:srgbClr val="A7BAC4"/>
                </a:solidFill>
                <a:latin typeface="Calibri" pitchFamily="34" charset="0"/>
                <a:ea typeface="Calibri" pitchFamily="34" charset="-122"/>
                <a:cs typeface="Calibri" pitchFamily="34" charset="-120"/>
              </a:rPr>
              <a:t>DMN table</a:t>
            </a:r>
            <a:endParaRPr lang="en-US" sz="1800" dirty="0"/>
          </a:p>
        </p:txBody>
      </p:sp>
      <p:sp>
        <p:nvSpPr>
          <p:cNvPr id="6" name="Shape 4"/>
          <p:cNvSpPr/>
          <p:nvPr/>
        </p:nvSpPr>
        <p:spPr>
          <a:xfrm>
            <a:off x="2862072" y="2011680"/>
            <a:ext cx="2057400" cy="3108960"/>
          </a:xfrm>
          <a:prstGeom prst="roundRect">
            <a:avLst>
              <a:gd name="adj" fmla="val 4444"/>
            </a:avLst>
          </a:prstGeom>
          <a:solidFill>
            <a:srgbClr val="213540"/>
          </a:solidFill>
          <a:ln w="12700">
            <a:solidFill>
              <a:srgbClr val="213540"/>
            </a:solidFill>
            <a:prstDash val="solid"/>
          </a:ln>
        </p:spPr>
      </p:sp>
      <p:sp>
        <p:nvSpPr>
          <p:cNvPr id="7" name="Text 5"/>
          <p:cNvSpPr txBox="1"/>
          <p:nvPr/>
        </p:nvSpPr>
        <p:spPr>
          <a:xfrm>
            <a:off x="3044952" y="2240280"/>
            <a:ext cx="1691640" cy="2743200"/>
          </a:xfrm>
          <a:prstGeom prst="rect">
            <a:avLst/>
          </a:prstGeom>
          <a:noFill/>
          <a:ln/>
        </p:spPr>
        <p:txBody>
          <a:bodyPr wrap="square" lIns="0" tIns="0" rIns="0" bIns="0" rtlCol="0" anchor="t"/>
          <a:lstStyle/>
          <a:p>
            <a:pPr marL="0" indent="0">
              <a:buNone/>
            </a:pPr>
            <a:r>
              <a:rPr lang="en-US" sz="1800" b="1" dirty="0">
                <a:solidFill>
                  <a:srgbClr val="4FD1C5"/>
                </a:solidFill>
                <a:latin typeface="Calibri" pitchFamily="34" charset="0"/>
                <a:ea typeface="Calibri" pitchFamily="34" charset="-122"/>
                <a:cs typeface="Calibri" pitchFamily="34" charset="-120"/>
              </a:rPr>
              <a:t>User</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500" dirty="0">
                <a:solidFill>
                  <a:srgbClr val="EEF3F5"/>
                </a:solidFill>
                <a:latin typeface="Calibri" pitchFamily="34" charset="0"/>
                <a:ea typeface="Calibri" pitchFamily="34" charset="-122"/>
                <a:cs typeface="Calibri" pitchFamily="34" charset="-120"/>
              </a:rPr>
              <a:t>Investigate alert, Underwrite, Fix bank details</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400" i="1" dirty="0">
                <a:solidFill>
                  <a:srgbClr val="A7BAC4"/>
                </a:solidFill>
                <a:latin typeface="Calibri" pitchFamily="34" charset="0"/>
                <a:ea typeface="Calibri" pitchFamily="34" charset="-122"/>
                <a:cs typeface="Calibri" pitchFamily="34" charset="-120"/>
              </a:rPr>
              <a:t>a person decides</a:t>
            </a:r>
            <a:endParaRPr lang="en-US" sz="1800" dirty="0"/>
          </a:p>
        </p:txBody>
      </p:sp>
      <p:sp>
        <p:nvSpPr>
          <p:cNvPr id="8" name="Shape 6"/>
          <p:cNvSpPr/>
          <p:nvPr/>
        </p:nvSpPr>
        <p:spPr>
          <a:xfrm>
            <a:off x="5084064" y="2011680"/>
            <a:ext cx="2057400" cy="3108960"/>
          </a:xfrm>
          <a:prstGeom prst="roundRect">
            <a:avLst>
              <a:gd name="adj" fmla="val 4444"/>
            </a:avLst>
          </a:prstGeom>
          <a:solidFill>
            <a:srgbClr val="213540"/>
          </a:solidFill>
          <a:ln w="12700">
            <a:solidFill>
              <a:srgbClr val="213540"/>
            </a:solidFill>
            <a:prstDash val="solid"/>
          </a:ln>
        </p:spPr>
      </p:sp>
      <p:sp>
        <p:nvSpPr>
          <p:cNvPr id="9" name="Text 7"/>
          <p:cNvSpPr txBox="1"/>
          <p:nvPr/>
        </p:nvSpPr>
        <p:spPr>
          <a:xfrm>
            <a:off x="5266944" y="2240280"/>
            <a:ext cx="1691640" cy="2743200"/>
          </a:xfrm>
          <a:prstGeom prst="rect">
            <a:avLst/>
          </a:prstGeom>
          <a:noFill/>
          <a:ln/>
        </p:spPr>
        <p:txBody>
          <a:bodyPr wrap="square" lIns="0" tIns="0" rIns="0" bIns="0" rtlCol="0" anchor="t"/>
          <a:lstStyle/>
          <a:p>
            <a:pPr marL="0" indent="0">
              <a:buNone/>
            </a:pPr>
            <a:r>
              <a:rPr lang="en-US" sz="1800" b="1" dirty="0">
                <a:solidFill>
                  <a:srgbClr val="4FD1C5"/>
                </a:solidFill>
                <a:latin typeface="Calibri" pitchFamily="34" charset="0"/>
                <a:ea typeface="Calibri" pitchFamily="34" charset="-122"/>
                <a:cs typeface="Calibri" pitchFamily="34" charset="-120"/>
              </a:rPr>
              <a:t>Service</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500" dirty="0">
                <a:solidFill>
                  <a:srgbClr val="EEF3F5"/>
                </a:solidFill>
                <a:latin typeface="Calibri" pitchFamily="34" charset="0"/>
                <a:ea typeface="Calibri" pitchFamily="34" charset="-122"/>
                <a:cs typeface="Calibri" pitchFamily="34" charset="-120"/>
              </a:rPr>
              <a:t>Credit score, backup bureau, KYC, AML, Disburse</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400" i="1" dirty="0">
                <a:solidFill>
                  <a:srgbClr val="A7BAC4"/>
                </a:solidFill>
                <a:latin typeface="Calibri" pitchFamily="34" charset="0"/>
                <a:ea typeface="Calibri" pitchFamily="34" charset="-122"/>
                <a:cs typeface="Calibri" pitchFamily="34" charset="-120"/>
              </a:rPr>
              <a:t>system / API call</a:t>
            </a:r>
            <a:endParaRPr lang="en-US" sz="1800" dirty="0"/>
          </a:p>
        </p:txBody>
      </p:sp>
      <p:sp>
        <p:nvSpPr>
          <p:cNvPr id="10" name="Shape 8"/>
          <p:cNvSpPr/>
          <p:nvPr/>
        </p:nvSpPr>
        <p:spPr>
          <a:xfrm>
            <a:off x="7306056" y="2011680"/>
            <a:ext cx="2057400" cy="3108960"/>
          </a:xfrm>
          <a:prstGeom prst="roundRect">
            <a:avLst>
              <a:gd name="adj" fmla="val 4444"/>
            </a:avLst>
          </a:prstGeom>
          <a:solidFill>
            <a:srgbClr val="213540"/>
          </a:solidFill>
          <a:ln w="12700">
            <a:solidFill>
              <a:srgbClr val="213540"/>
            </a:solidFill>
            <a:prstDash val="solid"/>
          </a:ln>
        </p:spPr>
      </p:sp>
      <p:sp>
        <p:nvSpPr>
          <p:cNvPr id="11" name="Text 9"/>
          <p:cNvSpPr txBox="1"/>
          <p:nvPr/>
        </p:nvSpPr>
        <p:spPr>
          <a:xfrm>
            <a:off x="7488936" y="2240280"/>
            <a:ext cx="1691640" cy="2743200"/>
          </a:xfrm>
          <a:prstGeom prst="rect">
            <a:avLst/>
          </a:prstGeom>
          <a:noFill/>
          <a:ln/>
        </p:spPr>
        <p:txBody>
          <a:bodyPr wrap="square" lIns="0" tIns="0" rIns="0" bIns="0" rtlCol="0" anchor="t"/>
          <a:lstStyle/>
          <a:p>
            <a:pPr marL="0" indent="0">
              <a:buNone/>
            </a:pPr>
            <a:r>
              <a:rPr lang="en-US" sz="1800" b="1" dirty="0">
                <a:solidFill>
                  <a:srgbClr val="4FD1C5"/>
                </a:solidFill>
                <a:latin typeface="Calibri" pitchFamily="34" charset="0"/>
                <a:ea typeface="Calibri" pitchFamily="34" charset="-122"/>
                <a:cs typeface="Calibri" pitchFamily="34" charset="-120"/>
              </a:rPr>
              <a:t>Send</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500" dirty="0">
                <a:solidFill>
                  <a:srgbClr val="EEF3F5"/>
                </a:solidFill>
                <a:latin typeface="Calibri" pitchFamily="34" charset="0"/>
                <a:ea typeface="Calibri" pitchFamily="34" charset="-122"/>
                <a:cs typeface="Calibri" pitchFamily="34" charset="-120"/>
              </a:rPr>
              <a:t>Request documents, offer, rejection, confirmation</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400" i="1" dirty="0">
                <a:solidFill>
                  <a:srgbClr val="A7BAC4"/>
                </a:solidFill>
                <a:latin typeface="Calibri" pitchFamily="34" charset="0"/>
                <a:ea typeface="Calibri" pitchFamily="34" charset="-122"/>
                <a:cs typeface="Calibri" pitchFamily="34" charset="-120"/>
              </a:rPr>
              <a:t>message to applicant</a:t>
            </a:r>
            <a:endParaRPr lang="en-US" sz="1800" dirty="0"/>
          </a:p>
        </p:txBody>
      </p:sp>
      <p:sp>
        <p:nvSpPr>
          <p:cNvPr id="12" name="Shape 10"/>
          <p:cNvSpPr/>
          <p:nvPr/>
        </p:nvSpPr>
        <p:spPr>
          <a:xfrm>
            <a:off x="9528048" y="2011680"/>
            <a:ext cx="2057400" cy="3108960"/>
          </a:xfrm>
          <a:prstGeom prst="roundRect">
            <a:avLst>
              <a:gd name="adj" fmla="val 4444"/>
            </a:avLst>
          </a:prstGeom>
          <a:solidFill>
            <a:srgbClr val="213540"/>
          </a:solidFill>
          <a:ln w="12700">
            <a:solidFill>
              <a:srgbClr val="213540"/>
            </a:solidFill>
            <a:prstDash val="solid"/>
          </a:ln>
        </p:spPr>
      </p:sp>
      <p:sp>
        <p:nvSpPr>
          <p:cNvPr id="13" name="Text 11"/>
          <p:cNvSpPr txBox="1"/>
          <p:nvPr/>
        </p:nvSpPr>
        <p:spPr>
          <a:xfrm>
            <a:off x="9710928" y="2240280"/>
            <a:ext cx="1691640" cy="2743200"/>
          </a:xfrm>
          <a:prstGeom prst="rect">
            <a:avLst/>
          </a:prstGeom>
          <a:noFill/>
          <a:ln/>
        </p:spPr>
        <p:txBody>
          <a:bodyPr wrap="square" lIns="0" tIns="0" rIns="0" bIns="0" rtlCol="0" anchor="t"/>
          <a:lstStyle/>
          <a:p>
            <a:pPr marL="0" indent="0">
              <a:buNone/>
            </a:pPr>
            <a:r>
              <a:rPr lang="en-US" sz="1800" b="1" dirty="0">
                <a:solidFill>
                  <a:srgbClr val="4FD1C5"/>
                </a:solidFill>
                <a:latin typeface="Calibri" pitchFamily="34" charset="0"/>
                <a:ea typeface="Calibri" pitchFamily="34" charset="-122"/>
                <a:cs typeface="Calibri" pitchFamily="34" charset="-120"/>
              </a:rPr>
              <a:t>Receive</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500" dirty="0">
                <a:solidFill>
                  <a:srgbClr val="EEF3F5"/>
                </a:solidFill>
                <a:latin typeface="Calibri" pitchFamily="34" charset="0"/>
                <a:ea typeface="Calibri" pitchFamily="34" charset="-122"/>
                <a:cs typeface="Calibri" pitchFamily="34" charset="-120"/>
              </a:rPr>
              <a:t>Receive documents</a:t>
            </a:r>
            <a:endParaRPr lang="en-US" sz="1800" dirty="0"/>
          </a:p>
          <a:p>
            <a:pPr marL="0" indent="0">
              <a:buNone/>
            </a:pPr>
            <a:r>
              <a:rPr lang="en-US" sz="800" dirty="0">
                <a:solidFill>
                  <a:srgbClr val="EEF3F5"/>
                </a:solidFill>
                <a:latin typeface="Calibri" pitchFamily="34" charset="0"/>
                <a:ea typeface="Calibri" pitchFamily="34" charset="-122"/>
                <a:cs typeface="Calibri" pitchFamily="34" charset="-120"/>
              </a:rPr>
              <a:t> </a:t>
            </a:r>
            <a:endParaRPr lang="en-US" sz="1800" dirty="0"/>
          </a:p>
          <a:p>
            <a:pPr marL="0" indent="0">
              <a:buNone/>
            </a:pPr>
            <a:r>
              <a:rPr lang="en-US" sz="1400" i="1" dirty="0">
                <a:solidFill>
                  <a:srgbClr val="A7BAC4"/>
                </a:solidFill>
                <a:latin typeface="Calibri" pitchFamily="34" charset="0"/>
                <a:ea typeface="Calibri" pitchFamily="34" charset="-122"/>
                <a:cs typeface="Calibri" pitchFamily="34" charset="-120"/>
              </a:rPr>
              <a:t>waits, with a 7-day timer</a:t>
            </a:r>
            <a:endParaRPr lang="en-US" sz="18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04</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Gateways</a:t>
            </a:r>
            <a:endParaRPr lang="en-US" sz="3000" dirty="0"/>
          </a:p>
        </p:txBody>
      </p:sp>
      <p:sp>
        <p:nvSpPr>
          <p:cNvPr id="4" name="Shape 2"/>
          <p:cNvSpPr/>
          <p:nvPr/>
        </p:nvSpPr>
        <p:spPr>
          <a:xfrm>
            <a:off x="640080" y="1600200"/>
            <a:ext cx="3474720" cy="2743200"/>
          </a:xfrm>
          <a:prstGeom prst="roundRect">
            <a:avLst>
              <a:gd name="adj" fmla="val 2667"/>
            </a:avLst>
          </a:prstGeom>
          <a:solidFill>
            <a:srgbClr val="FFFFFF"/>
          </a:solidFill>
          <a:ln w="12700">
            <a:solidFill>
              <a:srgbClr val="FFFFFF"/>
            </a:solidFill>
            <a:prstDash val="solid"/>
          </a:ln>
        </p:spPr>
      </p:sp>
      <p:pic>
        <p:nvPicPr>
          <p:cNvPr id="5" name="Image 0" descr="Diagram crop for Exclusive  ✕"/>
          <p:cNvPicPr>
            <a:picLocks noChangeAspect="1"/>
          </p:cNvPicPr>
          <p:nvPr/>
        </p:nvPicPr>
        <p:blipFill>
          <a:blip r:embed="rId3"/>
          <a:stretch>
            <a:fillRect/>
          </a:stretch>
        </p:blipFill>
        <p:spPr>
          <a:xfrm>
            <a:off x="731520" y="1976878"/>
            <a:ext cx="3291840" cy="1989844"/>
          </a:xfrm>
          <a:prstGeom prst="rect">
            <a:avLst/>
          </a:prstGeom>
        </p:spPr>
      </p:pic>
      <p:sp>
        <p:nvSpPr>
          <p:cNvPr id="6" name="Text 3"/>
          <p:cNvSpPr txBox="1"/>
          <p:nvPr/>
        </p:nvSpPr>
        <p:spPr>
          <a:xfrm>
            <a:off x="640080" y="4526280"/>
            <a:ext cx="3474720" cy="1554480"/>
          </a:xfrm>
          <a:prstGeom prst="rect">
            <a:avLst/>
          </a:prstGeom>
          <a:noFill/>
          <a:ln/>
        </p:spPr>
        <p:txBody>
          <a:bodyPr wrap="square" lIns="0" tIns="0" rIns="0" bIns="0" rtlCol="0" anchor="t"/>
          <a:lstStyle/>
          <a:p>
            <a:pPr marL="0" indent="0">
              <a:spcAft>
                <a:spcPts val="400"/>
              </a:spcAft>
              <a:buNone/>
            </a:pPr>
            <a:r>
              <a:rPr lang="en-US" sz="1800" b="1" dirty="0">
                <a:solidFill>
                  <a:srgbClr val="4FD1C5"/>
                </a:solidFill>
                <a:latin typeface="Calibri" pitchFamily="34" charset="0"/>
                <a:ea typeface="Calibri" pitchFamily="34" charset="-122"/>
                <a:cs typeface="Calibri" pitchFamily="34" charset="-120"/>
              </a:rPr>
              <a:t>Exclusive  ✕</a:t>
            </a:r>
            <a:endParaRPr lang="en-US" sz="1800" dirty="0"/>
          </a:p>
          <a:p>
            <a:pPr marL="0" indent="0">
              <a:spcAft>
                <a:spcPts val="400"/>
              </a:spcAft>
              <a:buNone/>
            </a:pPr>
            <a:r>
              <a:rPr lang="en-US" sz="1500" dirty="0">
                <a:solidFill>
                  <a:srgbClr val="EEF3F5"/>
                </a:solidFill>
                <a:latin typeface="Calibri" pitchFamily="34" charset="0"/>
                <a:ea typeface="Calibri" pitchFamily="34" charset="-122"/>
                <a:cs typeface="Calibri" pitchFamily="34" charset="-120"/>
              </a:rPr>
              <a:t>One path. Eligible? has three: OK, docs missing, ineligible.</a:t>
            </a:r>
            <a:endParaRPr lang="en-US" sz="1800" dirty="0"/>
          </a:p>
        </p:txBody>
      </p:sp>
      <p:sp>
        <p:nvSpPr>
          <p:cNvPr id="7" name="Shape 4"/>
          <p:cNvSpPr/>
          <p:nvPr/>
        </p:nvSpPr>
        <p:spPr>
          <a:xfrm>
            <a:off x="4343400" y="1600200"/>
            <a:ext cx="3474720" cy="2743200"/>
          </a:xfrm>
          <a:prstGeom prst="roundRect">
            <a:avLst>
              <a:gd name="adj" fmla="val 2667"/>
            </a:avLst>
          </a:prstGeom>
          <a:solidFill>
            <a:srgbClr val="FFFFFF"/>
          </a:solidFill>
          <a:ln w="12700">
            <a:solidFill>
              <a:srgbClr val="FFFFFF"/>
            </a:solidFill>
            <a:prstDash val="solid"/>
          </a:ln>
        </p:spPr>
      </p:sp>
      <p:pic>
        <p:nvPicPr>
          <p:cNvPr id="8" name="Image 1" descr="Diagram crop for Parallel  ✚"/>
          <p:cNvPicPr>
            <a:picLocks noChangeAspect="1"/>
          </p:cNvPicPr>
          <p:nvPr/>
        </p:nvPicPr>
        <p:blipFill>
          <a:blip r:embed="rId4"/>
          <a:stretch>
            <a:fillRect/>
          </a:stretch>
        </p:blipFill>
        <p:spPr>
          <a:xfrm>
            <a:off x="4711287" y="1691640"/>
            <a:ext cx="2738947" cy="2560320"/>
          </a:xfrm>
          <a:prstGeom prst="rect">
            <a:avLst/>
          </a:prstGeom>
        </p:spPr>
      </p:pic>
      <p:sp>
        <p:nvSpPr>
          <p:cNvPr id="9" name="Text 5"/>
          <p:cNvSpPr txBox="1"/>
          <p:nvPr/>
        </p:nvSpPr>
        <p:spPr>
          <a:xfrm>
            <a:off x="4343400" y="4526280"/>
            <a:ext cx="3474720" cy="1554480"/>
          </a:xfrm>
          <a:prstGeom prst="rect">
            <a:avLst/>
          </a:prstGeom>
          <a:noFill/>
          <a:ln/>
        </p:spPr>
        <p:txBody>
          <a:bodyPr wrap="square" lIns="0" tIns="0" rIns="0" bIns="0" rtlCol="0" anchor="t"/>
          <a:lstStyle/>
          <a:p>
            <a:pPr marL="0" indent="0">
              <a:spcAft>
                <a:spcPts val="400"/>
              </a:spcAft>
              <a:buNone/>
            </a:pPr>
            <a:r>
              <a:rPr lang="en-US" sz="1800" b="1" dirty="0">
                <a:solidFill>
                  <a:srgbClr val="4FD1C5"/>
                </a:solidFill>
                <a:latin typeface="Calibri" pitchFamily="34" charset="0"/>
                <a:ea typeface="Calibri" pitchFamily="34" charset="-122"/>
                <a:cs typeface="Calibri" pitchFamily="34" charset="-120"/>
              </a:rPr>
              <a:t>Parallel  ✚</a:t>
            </a:r>
            <a:endParaRPr lang="en-US" sz="1800" dirty="0"/>
          </a:p>
          <a:p>
            <a:pPr marL="0" indent="0">
              <a:spcAft>
                <a:spcPts val="400"/>
              </a:spcAft>
              <a:buNone/>
            </a:pPr>
            <a:r>
              <a:rPr lang="en-US" sz="1500" dirty="0">
                <a:solidFill>
                  <a:srgbClr val="EEF3F5"/>
                </a:solidFill>
                <a:latin typeface="Calibri" pitchFamily="34" charset="0"/>
                <a:ea typeface="Calibri" pitchFamily="34" charset="-122"/>
                <a:cs typeface="Calibri" pitchFamily="34" charset="-120"/>
              </a:rPr>
              <a:t>Credit, KYC and AML at once. The join waits for all three.</a:t>
            </a:r>
            <a:endParaRPr lang="en-US" sz="1800" dirty="0"/>
          </a:p>
        </p:txBody>
      </p:sp>
      <p:sp>
        <p:nvSpPr>
          <p:cNvPr id="10" name="Shape 6"/>
          <p:cNvSpPr/>
          <p:nvPr/>
        </p:nvSpPr>
        <p:spPr>
          <a:xfrm>
            <a:off x="8046720" y="1600200"/>
            <a:ext cx="3474720" cy="2743200"/>
          </a:xfrm>
          <a:prstGeom prst="roundRect">
            <a:avLst>
              <a:gd name="adj" fmla="val 2667"/>
            </a:avLst>
          </a:prstGeom>
          <a:solidFill>
            <a:srgbClr val="FFFFFF"/>
          </a:solidFill>
          <a:ln w="12700">
            <a:solidFill>
              <a:srgbClr val="FFFFFF"/>
            </a:solidFill>
            <a:prstDash val="solid"/>
          </a:ln>
        </p:spPr>
      </p:sp>
      <p:pic>
        <p:nvPicPr>
          <p:cNvPr id="11" name="Image 2" descr="Diagram crop for Event-based"/>
          <p:cNvPicPr>
            <a:picLocks noChangeAspect="1"/>
          </p:cNvPicPr>
          <p:nvPr/>
        </p:nvPicPr>
        <p:blipFill>
          <a:blip r:embed="rId5"/>
          <a:stretch>
            <a:fillRect/>
          </a:stretch>
        </p:blipFill>
        <p:spPr>
          <a:xfrm>
            <a:off x="8138160" y="2137018"/>
            <a:ext cx="3291840" cy="1669563"/>
          </a:xfrm>
          <a:prstGeom prst="rect">
            <a:avLst/>
          </a:prstGeom>
        </p:spPr>
      </p:pic>
      <p:sp>
        <p:nvSpPr>
          <p:cNvPr id="12" name="Text 7"/>
          <p:cNvSpPr txBox="1"/>
          <p:nvPr/>
        </p:nvSpPr>
        <p:spPr>
          <a:xfrm>
            <a:off x="8046720" y="4526280"/>
            <a:ext cx="3474720" cy="1554480"/>
          </a:xfrm>
          <a:prstGeom prst="rect">
            <a:avLst/>
          </a:prstGeom>
          <a:noFill/>
          <a:ln/>
        </p:spPr>
        <p:txBody>
          <a:bodyPr wrap="square" lIns="0" tIns="0" rIns="0" bIns="0" rtlCol="0" anchor="t"/>
          <a:lstStyle/>
          <a:p>
            <a:pPr marL="0" indent="0">
              <a:spcAft>
                <a:spcPts val="400"/>
              </a:spcAft>
              <a:buNone/>
            </a:pPr>
            <a:r>
              <a:rPr lang="en-US" sz="1800" b="1" dirty="0">
                <a:solidFill>
                  <a:srgbClr val="4FD1C5"/>
                </a:solidFill>
                <a:latin typeface="Calibri" pitchFamily="34" charset="0"/>
                <a:ea typeface="Calibri" pitchFamily="34" charset="-122"/>
                <a:cs typeface="Calibri" pitchFamily="34" charset="-120"/>
              </a:rPr>
              <a:t>Event-based</a:t>
            </a:r>
            <a:endParaRPr lang="en-US" sz="1800" dirty="0"/>
          </a:p>
          <a:p>
            <a:pPr marL="0" indent="0">
              <a:spcAft>
                <a:spcPts val="400"/>
              </a:spcAft>
              <a:buNone/>
            </a:pPr>
            <a:r>
              <a:rPr lang="en-US" sz="1500" dirty="0">
                <a:solidFill>
                  <a:srgbClr val="EEF3F5"/>
                </a:solidFill>
                <a:latin typeface="Calibri" pitchFamily="34" charset="0"/>
                <a:ea typeface="Calibri" pitchFamily="34" charset="-122"/>
                <a:cs typeface="Calibri" pitchFamily="34" charset="-120"/>
              </a:rPr>
              <a:t>After the offer, whichever comes first wins: signed, declined or 15 days.</a:t>
            </a:r>
            <a:endParaRPr lang="en-US" sz="18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05</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Intermediate events</a:t>
            </a:r>
            <a:endParaRPr lang="en-US" sz="3000" dirty="0"/>
          </a:p>
        </p:txBody>
      </p:sp>
      <p:sp>
        <p:nvSpPr>
          <p:cNvPr id="4" name="Text 2"/>
          <p:cNvSpPr txBox="1"/>
          <p:nvPr/>
        </p:nvSpPr>
        <p:spPr>
          <a:xfrm>
            <a:off x="640080" y="1691640"/>
            <a:ext cx="4754880" cy="822960"/>
          </a:xfrm>
          <a:prstGeom prst="rect">
            <a:avLst/>
          </a:prstGeom>
          <a:noFill/>
          <a:ln/>
        </p:spPr>
        <p:txBody>
          <a:bodyPr wrap="square" lIns="0" tIns="0" rIns="0" bIns="0" rtlCol="0" anchor="t"/>
          <a:lstStyle/>
          <a:p>
            <a:pPr marL="0" indent="0">
              <a:buNone/>
            </a:pPr>
            <a:r>
              <a:rPr lang="en-US" sz="1700" b="1" dirty="0">
                <a:solidFill>
                  <a:srgbClr val="EEF3F5"/>
                </a:solidFill>
                <a:latin typeface="Calibri" pitchFamily="34" charset="0"/>
                <a:ea typeface="Calibri" pitchFamily="34" charset="-122"/>
                <a:cs typeface="Calibri" pitchFamily="34" charset="-120"/>
              </a:rPr>
              <a:t>7 days</a:t>
            </a:r>
            <a:endParaRPr lang="en-US" sz="1700" dirty="0"/>
          </a:p>
          <a:p>
            <a:pPr marL="0" indent="0">
              <a:buNone/>
            </a:pPr>
            <a:r>
              <a:rPr lang="en-US" sz="1400" dirty="0">
                <a:solidFill>
                  <a:srgbClr val="A7BAC4"/>
                </a:solidFill>
                <a:latin typeface="Calibri" pitchFamily="34" charset="0"/>
                <a:ea typeface="Calibri" pitchFamily="34" charset="-122"/>
                <a:cs typeface="Calibri" pitchFamily="34" charset="-120"/>
              </a:rPr>
              <a:t>timer on Receive documents → lapsed</a:t>
            </a:r>
            <a:endParaRPr lang="en-US" sz="1700" dirty="0"/>
          </a:p>
        </p:txBody>
      </p:sp>
      <p:sp>
        <p:nvSpPr>
          <p:cNvPr id="5" name="Text 3"/>
          <p:cNvSpPr txBox="1"/>
          <p:nvPr/>
        </p:nvSpPr>
        <p:spPr>
          <a:xfrm>
            <a:off x="640080" y="2560320"/>
            <a:ext cx="4754880" cy="822960"/>
          </a:xfrm>
          <a:prstGeom prst="rect">
            <a:avLst/>
          </a:prstGeom>
          <a:noFill/>
          <a:ln/>
        </p:spPr>
        <p:txBody>
          <a:bodyPr wrap="square" lIns="0" tIns="0" rIns="0" bIns="0" rtlCol="0" anchor="t"/>
          <a:lstStyle/>
          <a:p>
            <a:pPr marL="0" indent="0">
              <a:buNone/>
            </a:pPr>
            <a:r>
              <a:rPr lang="en-US" sz="1700" b="1" dirty="0">
                <a:solidFill>
                  <a:srgbClr val="EEF3F5"/>
                </a:solidFill>
                <a:latin typeface="Calibri" pitchFamily="34" charset="0"/>
                <a:ea typeface="Calibri" pitchFamily="34" charset="-122"/>
                <a:cs typeface="Calibri" pitchFamily="34" charset="-120"/>
              </a:rPr>
              <a:t>Bureau down</a:t>
            </a:r>
            <a:endParaRPr lang="en-US" sz="1700" dirty="0"/>
          </a:p>
          <a:p>
            <a:pPr marL="0" indent="0">
              <a:buNone/>
            </a:pPr>
            <a:r>
              <a:rPr lang="en-US" sz="1400" dirty="0">
                <a:solidFill>
                  <a:srgbClr val="A7BAC4"/>
                </a:solidFill>
                <a:latin typeface="Calibri" pitchFamily="34" charset="0"/>
                <a:ea typeface="Calibri" pitchFamily="34" charset="-122"/>
                <a:cs typeface="Calibri" pitchFamily="34" charset="-120"/>
              </a:rPr>
              <a:t>error on Get credit score → backup bureau</a:t>
            </a:r>
            <a:endParaRPr lang="en-US" sz="1700" dirty="0"/>
          </a:p>
        </p:txBody>
      </p:sp>
      <p:sp>
        <p:nvSpPr>
          <p:cNvPr id="6" name="Text 4"/>
          <p:cNvSpPr txBox="1"/>
          <p:nvPr/>
        </p:nvSpPr>
        <p:spPr>
          <a:xfrm>
            <a:off x="640080" y="3429000"/>
            <a:ext cx="4754880" cy="822960"/>
          </a:xfrm>
          <a:prstGeom prst="rect">
            <a:avLst/>
          </a:prstGeom>
          <a:noFill/>
          <a:ln/>
        </p:spPr>
        <p:txBody>
          <a:bodyPr wrap="square" lIns="0" tIns="0" rIns="0" bIns="0" rtlCol="0" anchor="t"/>
          <a:lstStyle/>
          <a:p>
            <a:pPr marL="0" indent="0">
              <a:buNone/>
            </a:pPr>
            <a:r>
              <a:rPr lang="en-US" sz="1700" b="1" dirty="0">
                <a:solidFill>
                  <a:srgbClr val="EEF3F5"/>
                </a:solidFill>
                <a:latin typeface="Calibri" pitchFamily="34" charset="0"/>
                <a:ea typeface="Calibri" pitchFamily="34" charset="-122"/>
                <a:cs typeface="Calibri" pitchFamily="34" charset="-120"/>
              </a:rPr>
              <a:t>Payment failed</a:t>
            </a:r>
            <a:endParaRPr lang="en-US" sz="1700" dirty="0"/>
          </a:p>
          <a:p>
            <a:pPr marL="0" indent="0">
              <a:buNone/>
            </a:pPr>
            <a:r>
              <a:rPr lang="en-US" sz="1400" dirty="0">
                <a:solidFill>
                  <a:srgbClr val="A7BAC4"/>
                </a:solidFill>
                <a:latin typeface="Calibri" pitchFamily="34" charset="0"/>
                <a:ea typeface="Calibri" pitchFamily="34" charset="-122"/>
                <a:cs typeface="Calibri" pitchFamily="34" charset="-120"/>
              </a:rPr>
              <a:t>error on Disburse funds → fix and retry</a:t>
            </a:r>
            <a:endParaRPr lang="en-US" sz="1700" dirty="0"/>
          </a:p>
        </p:txBody>
      </p:sp>
      <p:sp>
        <p:nvSpPr>
          <p:cNvPr id="7" name="Text 5"/>
          <p:cNvSpPr txBox="1"/>
          <p:nvPr/>
        </p:nvSpPr>
        <p:spPr>
          <a:xfrm>
            <a:off x="640080" y="4297680"/>
            <a:ext cx="4754880" cy="822960"/>
          </a:xfrm>
          <a:prstGeom prst="rect">
            <a:avLst/>
          </a:prstGeom>
          <a:noFill/>
          <a:ln/>
        </p:spPr>
        <p:txBody>
          <a:bodyPr wrap="square" lIns="0" tIns="0" rIns="0" bIns="0" rtlCol="0" anchor="t"/>
          <a:lstStyle/>
          <a:p>
            <a:pPr marL="0" indent="0">
              <a:buNone/>
            </a:pPr>
            <a:r>
              <a:rPr lang="en-US" sz="1700" b="1" dirty="0">
                <a:solidFill>
                  <a:srgbClr val="EEF3F5"/>
                </a:solidFill>
                <a:latin typeface="Calibri" pitchFamily="34" charset="0"/>
                <a:ea typeface="Calibri" pitchFamily="34" charset="-122"/>
                <a:cs typeface="Calibri" pitchFamily="34" charset="-120"/>
              </a:rPr>
              <a:t>Signed / Offer declined</a:t>
            </a:r>
            <a:endParaRPr lang="en-US" sz="1700" dirty="0"/>
          </a:p>
          <a:p>
            <a:pPr marL="0" indent="0">
              <a:buNone/>
            </a:pPr>
            <a:r>
              <a:rPr lang="en-US" sz="1400" dirty="0">
                <a:solidFill>
                  <a:srgbClr val="A7BAC4"/>
                </a:solidFill>
                <a:latin typeface="Calibri" pitchFamily="34" charset="0"/>
                <a:ea typeface="Calibri" pitchFamily="34" charset="-122"/>
                <a:cs typeface="Calibri" pitchFamily="34" charset="-120"/>
              </a:rPr>
              <a:t>message catches after the offer</a:t>
            </a:r>
            <a:endParaRPr lang="en-US" sz="1700" dirty="0"/>
          </a:p>
        </p:txBody>
      </p:sp>
      <p:sp>
        <p:nvSpPr>
          <p:cNvPr id="8" name="Text 6"/>
          <p:cNvSpPr txBox="1"/>
          <p:nvPr/>
        </p:nvSpPr>
        <p:spPr>
          <a:xfrm>
            <a:off x="640080" y="5166360"/>
            <a:ext cx="4754880" cy="822960"/>
          </a:xfrm>
          <a:prstGeom prst="rect">
            <a:avLst/>
          </a:prstGeom>
          <a:noFill/>
          <a:ln/>
        </p:spPr>
        <p:txBody>
          <a:bodyPr wrap="square" lIns="0" tIns="0" rIns="0" bIns="0" rtlCol="0" anchor="t"/>
          <a:lstStyle/>
          <a:p>
            <a:pPr marL="0" indent="0">
              <a:buNone/>
            </a:pPr>
            <a:r>
              <a:rPr lang="en-US" sz="1700" b="1" dirty="0">
                <a:solidFill>
                  <a:srgbClr val="EEF3F5"/>
                </a:solidFill>
                <a:latin typeface="Calibri" pitchFamily="34" charset="0"/>
                <a:ea typeface="Calibri" pitchFamily="34" charset="-122"/>
                <a:cs typeface="Calibri" pitchFamily="34" charset="-120"/>
              </a:rPr>
              <a:t>15 days</a:t>
            </a:r>
            <a:endParaRPr lang="en-US" sz="1700" dirty="0"/>
          </a:p>
          <a:p>
            <a:pPr marL="0" indent="0">
              <a:buNone/>
            </a:pPr>
            <a:r>
              <a:rPr lang="en-US" sz="1400" dirty="0">
                <a:solidFill>
                  <a:srgbClr val="A7BAC4"/>
                </a:solidFill>
                <a:latin typeface="Calibri" pitchFamily="34" charset="0"/>
                <a:ea typeface="Calibri" pitchFamily="34" charset="-122"/>
                <a:cs typeface="Calibri" pitchFamily="34" charset="-120"/>
              </a:rPr>
              <a:t>timer catch → offer expired</a:t>
            </a:r>
            <a:endParaRPr lang="en-US" sz="1700" dirty="0"/>
          </a:p>
        </p:txBody>
      </p:sp>
      <p:sp>
        <p:nvSpPr>
          <p:cNvPr id="9" name="Shape 7"/>
          <p:cNvSpPr/>
          <p:nvPr/>
        </p:nvSpPr>
        <p:spPr>
          <a:xfrm>
            <a:off x="5852160" y="1600200"/>
            <a:ext cx="5669280" cy="2240280"/>
          </a:xfrm>
          <a:prstGeom prst="roundRect">
            <a:avLst>
              <a:gd name="adj" fmla="val 3265"/>
            </a:avLst>
          </a:prstGeom>
          <a:solidFill>
            <a:srgbClr val="FFFFFF"/>
          </a:solidFill>
          <a:ln w="12700">
            <a:solidFill>
              <a:srgbClr val="FFFFFF"/>
            </a:solidFill>
            <a:prstDash val="solid"/>
          </a:ln>
        </p:spPr>
      </p:sp>
      <p:pic>
        <p:nvPicPr>
          <p:cNvPr id="10" name="Image 0" descr="Diagram crop: disbursement with error boundary and retry"/>
          <p:cNvPicPr>
            <a:picLocks noChangeAspect="1"/>
          </p:cNvPicPr>
          <p:nvPr/>
        </p:nvPicPr>
        <p:blipFill>
          <a:blip r:embed="rId3"/>
          <a:stretch>
            <a:fillRect/>
          </a:stretch>
        </p:blipFill>
        <p:spPr>
          <a:xfrm>
            <a:off x="6481995" y="1691640"/>
            <a:ext cx="4409610" cy="2057400"/>
          </a:xfrm>
          <a:prstGeom prst="rect">
            <a:avLst/>
          </a:prstGeom>
        </p:spPr>
      </p:pic>
      <p:sp>
        <p:nvSpPr>
          <p:cNvPr id="11" name="Shape 8"/>
          <p:cNvSpPr/>
          <p:nvPr/>
        </p:nvSpPr>
        <p:spPr>
          <a:xfrm>
            <a:off x="5852160" y="4023360"/>
            <a:ext cx="5669280" cy="2240280"/>
          </a:xfrm>
          <a:prstGeom prst="roundRect">
            <a:avLst>
              <a:gd name="adj" fmla="val 3265"/>
            </a:avLst>
          </a:prstGeom>
          <a:solidFill>
            <a:srgbClr val="FFFFFF"/>
          </a:solidFill>
          <a:ln w="12700">
            <a:solidFill>
              <a:srgbClr val="FFFFFF"/>
            </a:solidFill>
            <a:prstDash val="solid"/>
          </a:ln>
        </p:spPr>
      </p:sp>
      <p:pic>
        <p:nvPicPr>
          <p:cNvPr id="12" name="Image 1" descr="Diagram crop: document request with 7-day timer"/>
          <p:cNvPicPr>
            <a:picLocks noChangeAspect="1"/>
          </p:cNvPicPr>
          <p:nvPr/>
        </p:nvPicPr>
        <p:blipFill>
          <a:blip r:embed="rId4"/>
          <a:stretch>
            <a:fillRect/>
          </a:stretch>
        </p:blipFill>
        <p:spPr>
          <a:xfrm>
            <a:off x="6985000" y="4114800"/>
            <a:ext cx="3403600" cy="2057400"/>
          </a:xfrm>
          <a:prstGeom prst="rect">
            <a:avLst/>
          </a:prstGeom>
        </p:spPr>
      </p:pic>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06</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Critical path</a:t>
            </a:r>
            <a:endParaRPr lang="en-US" sz="3000" dirty="0"/>
          </a:p>
        </p:txBody>
      </p:sp>
      <p:sp>
        <p:nvSpPr>
          <p:cNvPr id="4" name="Shape 2"/>
          <p:cNvSpPr/>
          <p:nvPr/>
        </p:nvSpPr>
        <p:spPr>
          <a:xfrm>
            <a:off x="1463040" y="2788920"/>
            <a:ext cx="9235440" cy="0"/>
          </a:xfrm>
          <a:prstGeom prst="line">
            <a:avLst/>
          </a:prstGeom>
          <a:noFill/>
          <a:ln w="25400">
            <a:solidFill>
              <a:srgbClr val="3D5A68"/>
            </a:solidFill>
            <a:prstDash val="solid"/>
          </a:ln>
        </p:spPr>
      </p:sp>
      <p:sp>
        <p:nvSpPr>
          <p:cNvPr id="5" name="Text 3"/>
          <p:cNvSpPr/>
          <p:nvPr/>
        </p:nvSpPr>
        <p:spPr>
          <a:xfrm>
            <a:off x="1188720" y="2514600"/>
            <a:ext cx="548640" cy="548640"/>
          </a:xfrm>
          <a:prstGeom prst="ellipse">
            <a:avLst/>
          </a:prstGeom>
          <a:solidFill>
            <a:srgbClr val="4FD1C5"/>
          </a:solidFill>
          <a:ln>
            <a:solidFill>
              <a:srgbClr val="4FD1C5"/>
            </a:solidFill>
          </a:ln>
        </p:spPr>
        <p:txBody>
          <a:bodyPr wrap="square" lIns="0" tIns="0" rIns="0" bIns="0" rtlCol="0" anchor="ctr"/>
          <a:lstStyle/>
          <a:p>
            <a:pPr marL="0" indent="0" algn="ctr">
              <a:buNone/>
            </a:pPr>
            <a:r>
              <a:rPr lang="en-US" sz="1600" b="1" dirty="0">
                <a:solidFill>
                  <a:srgbClr val="17252C"/>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640080" y="3246120"/>
            <a:ext cx="1645920" cy="731520"/>
          </a:xfrm>
          <a:prstGeom prst="rect">
            <a:avLst/>
          </a:prstGeom>
          <a:noFill/>
          <a:ln/>
        </p:spPr>
        <p:txBody>
          <a:bodyPr wrap="square" lIns="0" tIns="0" rIns="0" bIns="0" rtlCol="0" anchor="t"/>
          <a:lstStyle/>
          <a:p>
            <a:pPr marL="0" indent="0" algn="ctr">
              <a:buNone/>
            </a:pPr>
            <a:r>
              <a:rPr lang="en-US" sz="1500" b="1" dirty="0">
                <a:solidFill>
                  <a:srgbClr val="EEF3F5"/>
                </a:solidFill>
                <a:latin typeface="Calibri" pitchFamily="34" charset="0"/>
                <a:ea typeface="Calibri" pitchFamily="34" charset="-122"/>
                <a:cs typeface="Calibri" pitchFamily="34" charset="-120"/>
              </a:rPr>
              <a:t>Application received</a:t>
            </a:r>
            <a:endParaRPr lang="en-US" sz="1500" dirty="0"/>
          </a:p>
        </p:txBody>
      </p:sp>
      <p:sp>
        <p:nvSpPr>
          <p:cNvPr id="7" name="Text 5"/>
          <p:cNvSpPr/>
          <p:nvPr/>
        </p:nvSpPr>
        <p:spPr>
          <a:xfrm>
            <a:off x="3035808" y="2514600"/>
            <a:ext cx="548640" cy="548640"/>
          </a:xfrm>
          <a:prstGeom prst="ellipse">
            <a:avLst/>
          </a:prstGeom>
          <a:solidFill>
            <a:srgbClr val="4FD1C5"/>
          </a:solidFill>
          <a:ln>
            <a:solidFill>
              <a:srgbClr val="4FD1C5"/>
            </a:solidFill>
          </a:ln>
        </p:spPr>
        <p:txBody>
          <a:bodyPr wrap="square" lIns="0" tIns="0" rIns="0" bIns="0" rtlCol="0" anchor="ctr"/>
          <a:lstStyle/>
          <a:p>
            <a:pPr marL="0" indent="0" algn="ctr">
              <a:buNone/>
            </a:pPr>
            <a:r>
              <a:rPr lang="en-US" sz="1600" b="1" dirty="0">
                <a:solidFill>
                  <a:srgbClr val="17252C"/>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2487168" y="3246120"/>
            <a:ext cx="1645920" cy="731520"/>
          </a:xfrm>
          <a:prstGeom prst="rect">
            <a:avLst/>
          </a:prstGeom>
          <a:noFill/>
          <a:ln/>
        </p:spPr>
        <p:txBody>
          <a:bodyPr wrap="square" lIns="0" tIns="0" rIns="0" bIns="0" rtlCol="0" anchor="t"/>
          <a:lstStyle/>
          <a:p>
            <a:pPr marL="0" indent="0" algn="ctr">
              <a:buNone/>
            </a:pPr>
            <a:r>
              <a:rPr lang="en-US" sz="1500" b="1" dirty="0">
                <a:solidFill>
                  <a:srgbClr val="EEF3F5"/>
                </a:solidFill>
                <a:latin typeface="Calibri" pitchFamily="34" charset="0"/>
                <a:ea typeface="Calibri" pitchFamily="34" charset="-122"/>
                <a:cs typeface="Calibri" pitchFamily="34" charset="-120"/>
              </a:rPr>
              <a:t>Check eligibility</a:t>
            </a:r>
            <a:endParaRPr lang="en-US" sz="1500" dirty="0"/>
          </a:p>
        </p:txBody>
      </p:sp>
      <p:sp>
        <p:nvSpPr>
          <p:cNvPr id="9" name="Text 7"/>
          <p:cNvSpPr/>
          <p:nvPr/>
        </p:nvSpPr>
        <p:spPr>
          <a:xfrm>
            <a:off x="4882896" y="2514600"/>
            <a:ext cx="548640" cy="548640"/>
          </a:xfrm>
          <a:prstGeom prst="ellipse">
            <a:avLst/>
          </a:prstGeom>
          <a:solidFill>
            <a:srgbClr val="4FD1C5"/>
          </a:solidFill>
          <a:ln>
            <a:solidFill>
              <a:srgbClr val="4FD1C5"/>
            </a:solidFill>
          </a:ln>
        </p:spPr>
        <p:txBody>
          <a:bodyPr wrap="square" lIns="0" tIns="0" rIns="0" bIns="0" rtlCol="0" anchor="ctr"/>
          <a:lstStyle/>
          <a:p>
            <a:pPr marL="0" indent="0" algn="ctr">
              <a:buNone/>
            </a:pPr>
            <a:r>
              <a:rPr lang="en-US" sz="1600" b="1" dirty="0">
                <a:solidFill>
                  <a:srgbClr val="17252C"/>
                </a:solidFill>
                <a:latin typeface="Calibri" pitchFamily="34" charset="0"/>
                <a:ea typeface="Calibri" pitchFamily="34" charset="-122"/>
                <a:cs typeface="Calibri" pitchFamily="34" charset="-120"/>
              </a:rPr>
              <a:t>3</a:t>
            </a:r>
            <a:endParaRPr lang="en-US" sz="1600" dirty="0"/>
          </a:p>
        </p:txBody>
      </p:sp>
      <p:sp>
        <p:nvSpPr>
          <p:cNvPr id="10" name="Text 8"/>
          <p:cNvSpPr txBox="1"/>
          <p:nvPr/>
        </p:nvSpPr>
        <p:spPr>
          <a:xfrm>
            <a:off x="4334256" y="3246120"/>
            <a:ext cx="1645920" cy="731520"/>
          </a:xfrm>
          <a:prstGeom prst="rect">
            <a:avLst/>
          </a:prstGeom>
          <a:noFill/>
          <a:ln/>
        </p:spPr>
        <p:txBody>
          <a:bodyPr wrap="square" lIns="0" tIns="0" rIns="0" bIns="0" rtlCol="0" anchor="t"/>
          <a:lstStyle/>
          <a:p>
            <a:pPr marL="0" indent="0" algn="ctr">
              <a:buNone/>
            </a:pPr>
            <a:r>
              <a:rPr lang="en-US" sz="1500" b="1" dirty="0">
                <a:solidFill>
                  <a:srgbClr val="EEF3F5"/>
                </a:solidFill>
                <a:latin typeface="Calibri" pitchFamily="34" charset="0"/>
                <a:ea typeface="Calibri" pitchFamily="34" charset="-122"/>
                <a:cs typeface="Calibri" pitchFamily="34" charset="-120"/>
              </a:rPr>
              <a:t>Credit · KYC · AML</a:t>
            </a:r>
            <a:endParaRPr lang="en-US" sz="1500" dirty="0"/>
          </a:p>
        </p:txBody>
      </p:sp>
      <p:sp>
        <p:nvSpPr>
          <p:cNvPr id="11" name="Text 9"/>
          <p:cNvSpPr/>
          <p:nvPr/>
        </p:nvSpPr>
        <p:spPr>
          <a:xfrm>
            <a:off x="6729984" y="2514600"/>
            <a:ext cx="548640" cy="548640"/>
          </a:xfrm>
          <a:prstGeom prst="ellipse">
            <a:avLst/>
          </a:prstGeom>
          <a:solidFill>
            <a:srgbClr val="4FD1C5"/>
          </a:solidFill>
          <a:ln>
            <a:solidFill>
              <a:srgbClr val="4FD1C5"/>
            </a:solidFill>
          </a:ln>
        </p:spPr>
        <p:txBody>
          <a:bodyPr wrap="square" lIns="0" tIns="0" rIns="0" bIns="0" rtlCol="0" anchor="ctr"/>
          <a:lstStyle/>
          <a:p>
            <a:pPr marL="0" indent="0" algn="ctr">
              <a:buNone/>
            </a:pPr>
            <a:r>
              <a:rPr lang="en-US" sz="1600" b="1" dirty="0">
                <a:solidFill>
                  <a:srgbClr val="17252C"/>
                </a:solidFill>
                <a:latin typeface="Calibri" pitchFamily="34" charset="0"/>
                <a:ea typeface="Calibri" pitchFamily="34" charset="-122"/>
                <a:cs typeface="Calibri" pitchFamily="34" charset="-120"/>
              </a:rPr>
              <a:t>4</a:t>
            </a:r>
            <a:endParaRPr lang="en-US" sz="1600" dirty="0"/>
          </a:p>
        </p:txBody>
      </p:sp>
      <p:sp>
        <p:nvSpPr>
          <p:cNvPr id="12" name="Text 10"/>
          <p:cNvSpPr txBox="1"/>
          <p:nvPr/>
        </p:nvSpPr>
        <p:spPr>
          <a:xfrm>
            <a:off x="6181344" y="3246120"/>
            <a:ext cx="1645920" cy="731520"/>
          </a:xfrm>
          <a:prstGeom prst="rect">
            <a:avLst/>
          </a:prstGeom>
          <a:noFill/>
          <a:ln/>
        </p:spPr>
        <p:txBody>
          <a:bodyPr wrap="square" lIns="0" tIns="0" rIns="0" bIns="0" rtlCol="0" anchor="t"/>
          <a:lstStyle/>
          <a:p>
            <a:pPr marL="0" indent="0" algn="ctr">
              <a:buNone/>
            </a:pPr>
            <a:r>
              <a:rPr lang="en-US" sz="1500" b="1" dirty="0">
                <a:solidFill>
                  <a:srgbClr val="EEF3F5"/>
                </a:solidFill>
                <a:latin typeface="Calibri" pitchFamily="34" charset="0"/>
                <a:ea typeface="Calibri" pitchFamily="34" charset="-122"/>
                <a:cs typeface="Calibri" pitchFamily="34" charset="-120"/>
              </a:rPr>
              <a:t>Underwrite</a:t>
            </a:r>
            <a:endParaRPr lang="en-US" sz="1500" dirty="0"/>
          </a:p>
        </p:txBody>
      </p:sp>
      <p:sp>
        <p:nvSpPr>
          <p:cNvPr id="13" name="Text 11"/>
          <p:cNvSpPr/>
          <p:nvPr/>
        </p:nvSpPr>
        <p:spPr>
          <a:xfrm>
            <a:off x="8577072" y="2514600"/>
            <a:ext cx="548640" cy="548640"/>
          </a:xfrm>
          <a:prstGeom prst="ellipse">
            <a:avLst/>
          </a:prstGeom>
          <a:solidFill>
            <a:srgbClr val="4FD1C5"/>
          </a:solidFill>
          <a:ln>
            <a:solidFill>
              <a:srgbClr val="4FD1C5"/>
            </a:solidFill>
          </a:ln>
        </p:spPr>
        <p:txBody>
          <a:bodyPr wrap="square" lIns="0" tIns="0" rIns="0" bIns="0" rtlCol="0" anchor="ctr"/>
          <a:lstStyle/>
          <a:p>
            <a:pPr marL="0" indent="0" algn="ctr">
              <a:buNone/>
            </a:pPr>
            <a:r>
              <a:rPr lang="en-US" sz="1600" b="1" dirty="0">
                <a:solidFill>
                  <a:srgbClr val="17252C"/>
                </a:solidFill>
                <a:latin typeface="Calibri" pitchFamily="34" charset="0"/>
                <a:ea typeface="Calibri" pitchFamily="34" charset="-122"/>
                <a:cs typeface="Calibri" pitchFamily="34" charset="-120"/>
              </a:rPr>
              <a:t>5</a:t>
            </a:r>
            <a:endParaRPr lang="en-US" sz="1600" dirty="0"/>
          </a:p>
        </p:txBody>
      </p:sp>
      <p:sp>
        <p:nvSpPr>
          <p:cNvPr id="14" name="Text 12"/>
          <p:cNvSpPr txBox="1"/>
          <p:nvPr/>
        </p:nvSpPr>
        <p:spPr>
          <a:xfrm>
            <a:off x="8028432" y="3246120"/>
            <a:ext cx="1645920" cy="731520"/>
          </a:xfrm>
          <a:prstGeom prst="rect">
            <a:avLst/>
          </a:prstGeom>
          <a:noFill/>
          <a:ln/>
        </p:spPr>
        <p:txBody>
          <a:bodyPr wrap="square" lIns="0" tIns="0" rIns="0" bIns="0" rtlCol="0" anchor="t"/>
          <a:lstStyle/>
          <a:p>
            <a:pPr marL="0" indent="0" algn="ctr">
              <a:buNone/>
            </a:pPr>
            <a:r>
              <a:rPr lang="en-US" sz="1500" b="1" dirty="0">
                <a:solidFill>
                  <a:srgbClr val="EEF3F5"/>
                </a:solidFill>
                <a:latin typeface="Calibri" pitchFamily="34" charset="0"/>
                <a:ea typeface="Calibri" pitchFamily="34" charset="-122"/>
                <a:cs typeface="Calibri" pitchFamily="34" charset="-120"/>
              </a:rPr>
              <a:t>Offer signed</a:t>
            </a:r>
            <a:endParaRPr lang="en-US" sz="1500" dirty="0"/>
          </a:p>
        </p:txBody>
      </p:sp>
      <p:sp>
        <p:nvSpPr>
          <p:cNvPr id="15" name="Text 13"/>
          <p:cNvSpPr/>
          <p:nvPr/>
        </p:nvSpPr>
        <p:spPr>
          <a:xfrm>
            <a:off x="10424160" y="2514600"/>
            <a:ext cx="548640" cy="548640"/>
          </a:xfrm>
          <a:prstGeom prst="ellipse">
            <a:avLst/>
          </a:prstGeom>
          <a:solidFill>
            <a:srgbClr val="4FD1C5"/>
          </a:solidFill>
          <a:ln>
            <a:solidFill>
              <a:srgbClr val="4FD1C5"/>
            </a:solidFill>
          </a:ln>
        </p:spPr>
        <p:txBody>
          <a:bodyPr wrap="square" lIns="0" tIns="0" rIns="0" bIns="0" rtlCol="0" anchor="ctr"/>
          <a:lstStyle/>
          <a:p>
            <a:pPr marL="0" indent="0" algn="ctr">
              <a:buNone/>
            </a:pPr>
            <a:r>
              <a:rPr lang="en-US" sz="1600" b="1" dirty="0">
                <a:solidFill>
                  <a:srgbClr val="17252C"/>
                </a:solidFill>
                <a:latin typeface="Calibri" pitchFamily="34" charset="0"/>
                <a:ea typeface="Calibri" pitchFamily="34" charset="-122"/>
                <a:cs typeface="Calibri" pitchFamily="34" charset="-120"/>
              </a:rPr>
              <a:t>6</a:t>
            </a:r>
            <a:endParaRPr lang="en-US" sz="1600" dirty="0"/>
          </a:p>
        </p:txBody>
      </p:sp>
      <p:sp>
        <p:nvSpPr>
          <p:cNvPr id="16" name="Text 14"/>
          <p:cNvSpPr txBox="1"/>
          <p:nvPr/>
        </p:nvSpPr>
        <p:spPr>
          <a:xfrm>
            <a:off x="9875520" y="3246120"/>
            <a:ext cx="1645920" cy="731520"/>
          </a:xfrm>
          <a:prstGeom prst="rect">
            <a:avLst/>
          </a:prstGeom>
          <a:noFill/>
          <a:ln/>
        </p:spPr>
        <p:txBody>
          <a:bodyPr wrap="square" lIns="0" tIns="0" rIns="0" bIns="0" rtlCol="0" anchor="t"/>
          <a:lstStyle/>
          <a:p>
            <a:pPr marL="0" indent="0" algn="ctr">
              <a:buNone/>
            </a:pPr>
            <a:r>
              <a:rPr lang="en-US" sz="1500" b="1" dirty="0">
                <a:solidFill>
                  <a:srgbClr val="EEF3F5"/>
                </a:solidFill>
                <a:latin typeface="Calibri" pitchFamily="34" charset="0"/>
                <a:ea typeface="Calibri" pitchFamily="34" charset="-122"/>
                <a:cs typeface="Calibri" pitchFamily="34" charset="-120"/>
              </a:rPr>
              <a:t>Disburse funds</a:t>
            </a:r>
            <a:endParaRPr lang="en-US" sz="1500" dirty="0"/>
          </a:p>
        </p:txBody>
      </p:sp>
      <p:sp>
        <p:nvSpPr>
          <p:cNvPr id="17" name="Shape 15"/>
          <p:cNvSpPr/>
          <p:nvPr/>
        </p:nvSpPr>
        <p:spPr>
          <a:xfrm>
            <a:off x="640080" y="4343400"/>
            <a:ext cx="10881360" cy="1600200"/>
          </a:xfrm>
          <a:prstGeom prst="roundRect">
            <a:avLst>
              <a:gd name="adj" fmla="val 5714"/>
            </a:avLst>
          </a:prstGeom>
          <a:solidFill>
            <a:srgbClr val="213540"/>
          </a:solidFill>
          <a:ln w="12700">
            <a:solidFill>
              <a:srgbClr val="213540"/>
            </a:solidFill>
            <a:prstDash val="solid"/>
          </a:ln>
        </p:spPr>
      </p:sp>
      <p:sp>
        <p:nvSpPr>
          <p:cNvPr id="18" name="Text 16"/>
          <p:cNvSpPr txBox="1"/>
          <p:nvPr/>
        </p:nvSpPr>
        <p:spPr>
          <a:xfrm>
            <a:off x="914400" y="4617720"/>
            <a:ext cx="10332720" cy="1097280"/>
          </a:xfrm>
          <a:prstGeom prst="rect">
            <a:avLst/>
          </a:prstGeom>
          <a:noFill/>
          <a:ln/>
        </p:spPr>
        <p:txBody>
          <a:bodyPr wrap="square" lIns="0" tIns="0" rIns="0" bIns="0" rtlCol="0" anchor="ctr"/>
          <a:lstStyle/>
          <a:p>
            <a:pPr marL="0" indent="0">
              <a:buNone/>
            </a:pPr>
            <a:r>
              <a:rPr lang="en-US" sz="1600" b="1" dirty="0">
                <a:solidFill>
                  <a:srgbClr val="EEF3F5"/>
                </a:solidFill>
                <a:latin typeface="Calibri" pitchFamily="34" charset="0"/>
                <a:ea typeface="Calibri" pitchFamily="34" charset="-122"/>
                <a:cs typeface="Calibri" pitchFamily="34" charset="-120"/>
              </a:rPr>
              <a:t>Every gateway takes its normal branch: </a:t>
            </a:r>
            <a:r>
              <a:rPr lang="en-US" sz="1600" dirty="0">
                <a:solidFill>
                  <a:srgbClr val="A7BAC4"/>
                </a:solidFill>
                <a:latin typeface="Calibri" pitchFamily="34" charset="0"/>
                <a:ea typeface="Calibri" pitchFamily="34" charset="-122"/>
                <a:cs typeface="Calibri" pitchFamily="34" charset="-120"/>
              </a:rPr>
              <a:t>Eligible? = OK, Checks passed? = all clear, Approved? = yes, and the signed agreement arrives first. The process ends at Loan disbursed.</a:t>
            </a:r>
            <a:endParaRPr lang="en-US" sz="16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20040"/>
            <a:ext cx="914400" cy="320040"/>
          </a:xfrm>
          <a:prstGeom prst="rect">
            <a:avLst/>
          </a:prstGeom>
          <a:noFill/>
          <a:ln/>
        </p:spPr>
        <p:txBody>
          <a:bodyPr wrap="square" lIns="0" tIns="0" rIns="0" bIns="0" rtlCol="0" anchor="ctr"/>
          <a:lstStyle/>
          <a:p>
            <a:pPr marL="0" indent="0">
              <a:buNone/>
            </a:pPr>
            <a:r>
              <a:rPr lang="en-US" sz="1400" b="1" dirty="0">
                <a:solidFill>
                  <a:srgbClr val="4FD1C5"/>
                </a:solidFill>
                <a:latin typeface="Calibri" pitchFamily="34" charset="0"/>
                <a:ea typeface="Calibri" pitchFamily="34" charset="-122"/>
                <a:cs typeface="Calibri" pitchFamily="34" charset="-120"/>
              </a:rPr>
              <a:t>07</a:t>
            </a:r>
            <a:endParaRPr lang="en-US" sz="1400" dirty="0"/>
          </a:p>
        </p:txBody>
      </p:sp>
      <p:sp>
        <p:nvSpPr>
          <p:cNvPr id="3" name="Text 0"/>
          <p:cNvSpPr>
            <a:spLocks noGrp="1"/>
          </p:cNvSpPr>
          <p:nvPr>
            <p:ph type="title" idx="100" hasCustomPrompt="1"/>
          </p:nvPr>
        </p:nvSpPr>
        <p:spPr>
          <a:xfrm>
            <a:off x="640080" y="685800"/>
            <a:ext cx="10881360" cy="640080"/>
          </a:xfrm>
          <a:prstGeom prst="rect">
            <a:avLst/>
          </a:prstGeom>
          <a:noFill/>
          <a:ln/>
        </p:spPr>
        <p:txBody>
          <a:bodyPr wrap="square" lIns="0" tIns="0" rIns="0" bIns="0" rtlCol="0" anchor="ctr"/>
          <a:lstStyle/>
          <a:p>
            <a:pPr marL="0" indent="0" algn="l">
              <a:buNone/>
            </a:pPr>
            <a:r>
              <a:rPr lang="en-US" sz="3000" b="1" dirty="0">
                <a:solidFill>
                  <a:srgbClr val="EEF3F5"/>
                </a:solidFill>
                <a:latin typeface="Cambria" pitchFamily="34" charset="0"/>
                <a:ea typeface="Cambria" pitchFamily="34" charset="-122"/>
                <a:cs typeface="Cambria" pitchFamily="34" charset="-120"/>
              </a:rPr>
              <a:t>Alternate paths</a:t>
            </a:r>
            <a:endParaRPr lang="en-US" sz="3000" dirty="0"/>
          </a:p>
        </p:txBody>
      </p:sp>
      <p:sp>
        <p:nvSpPr>
          <p:cNvPr id="4" name="Shape 2"/>
          <p:cNvSpPr/>
          <p:nvPr/>
        </p:nvSpPr>
        <p:spPr>
          <a:xfrm>
            <a:off x="640080" y="1691640"/>
            <a:ext cx="2057400" cy="1920240"/>
          </a:xfrm>
          <a:prstGeom prst="roundRect">
            <a:avLst>
              <a:gd name="adj" fmla="val 4762"/>
            </a:avLst>
          </a:prstGeom>
          <a:solidFill>
            <a:srgbClr val="213540"/>
          </a:solidFill>
          <a:ln w="12700">
            <a:solidFill>
              <a:srgbClr val="213540"/>
            </a:solidFill>
            <a:prstDash val="solid"/>
          </a:ln>
        </p:spPr>
      </p:sp>
      <p:sp>
        <p:nvSpPr>
          <p:cNvPr id="5" name="Text 3"/>
          <p:cNvSpPr txBox="1"/>
          <p:nvPr/>
        </p:nvSpPr>
        <p:spPr>
          <a:xfrm>
            <a:off x="804672" y="187452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Documents missing</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request, then lapse after 7 days</a:t>
            </a:r>
            <a:endParaRPr lang="en-US" sz="1600" dirty="0"/>
          </a:p>
        </p:txBody>
      </p:sp>
      <p:sp>
        <p:nvSpPr>
          <p:cNvPr id="6" name="Shape 4"/>
          <p:cNvSpPr/>
          <p:nvPr/>
        </p:nvSpPr>
        <p:spPr>
          <a:xfrm>
            <a:off x="2862072" y="1691640"/>
            <a:ext cx="2057400" cy="1920240"/>
          </a:xfrm>
          <a:prstGeom prst="roundRect">
            <a:avLst>
              <a:gd name="adj" fmla="val 4762"/>
            </a:avLst>
          </a:prstGeom>
          <a:solidFill>
            <a:srgbClr val="213540"/>
          </a:solidFill>
          <a:ln w="12700">
            <a:solidFill>
              <a:srgbClr val="213540"/>
            </a:solidFill>
            <a:prstDash val="solid"/>
          </a:ln>
        </p:spPr>
      </p:sp>
      <p:sp>
        <p:nvSpPr>
          <p:cNvPr id="7" name="Text 5"/>
          <p:cNvSpPr txBox="1"/>
          <p:nvPr/>
        </p:nvSpPr>
        <p:spPr>
          <a:xfrm>
            <a:off x="3026664" y="187452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Not eligible</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rejection letter</a:t>
            </a:r>
            <a:endParaRPr lang="en-US" sz="1600" dirty="0"/>
          </a:p>
        </p:txBody>
      </p:sp>
      <p:sp>
        <p:nvSpPr>
          <p:cNvPr id="8" name="Shape 6"/>
          <p:cNvSpPr/>
          <p:nvPr/>
        </p:nvSpPr>
        <p:spPr>
          <a:xfrm>
            <a:off x="5084064" y="1691640"/>
            <a:ext cx="2057400" cy="1920240"/>
          </a:xfrm>
          <a:prstGeom prst="roundRect">
            <a:avLst>
              <a:gd name="adj" fmla="val 4762"/>
            </a:avLst>
          </a:prstGeom>
          <a:solidFill>
            <a:srgbClr val="213540"/>
          </a:solidFill>
          <a:ln w="12700">
            <a:solidFill>
              <a:srgbClr val="213540"/>
            </a:solidFill>
            <a:prstDash val="solid"/>
          </a:ln>
        </p:spPr>
      </p:sp>
      <p:sp>
        <p:nvSpPr>
          <p:cNvPr id="9" name="Text 7"/>
          <p:cNvSpPr txBox="1"/>
          <p:nvPr/>
        </p:nvSpPr>
        <p:spPr>
          <a:xfrm>
            <a:off x="5248656" y="187452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Bureau down</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backup bureau</a:t>
            </a:r>
            <a:endParaRPr lang="en-US" sz="1600" dirty="0"/>
          </a:p>
        </p:txBody>
      </p:sp>
      <p:sp>
        <p:nvSpPr>
          <p:cNvPr id="10" name="Shape 8"/>
          <p:cNvSpPr/>
          <p:nvPr/>
        </p:nvSpPr>
        <p:spPr>
          <a:xfrm>
            <a:off x="7306056" y="1691640"/>
            <a:ext cx="2057400" cy="1920240"/>
          </a:xfrm>
          <a:prstGeom prst="roundRect">
            <a:avLst>
              <a:gd name="adj" fmla="val 4762"/>
            </a:avLst>
          </a:prstGeom>
          <a:solidFill>
            <a:srgbClr val="213540"/>
          </a:solidFill>
          <a:ln w="12700">
            <a:solidFill>
              <a:srgbClr val="213540"/>
            </a:solidFill>
            <a:prstDash val="solid"/>
          </a:ln>
        </p:spPr>
      </p:sp>
      <p:sp>
        <p:nvSpPr>
          <p:cNvPr id="11" name="Text 9"/>
          <p:cNvSpPr txBox="1"/>
          <p:nvPr/>
        </p:nvSpPr>
        <p:spPr>
          <a:xfrm>
            <a:off x="7470648" y="187452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KYC failed</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rejection letter</a:t>
            </a:r>
            <a:endParaRPr lang="en-US" sz="1600" dirty="0"/>
          </a:p>
        </p:txBody>
      </p:sp>
      <p:sp>
        <p:nvSpPr>
          <p:cNvPr id="12" name="Shape 10"/>
          <p:cNvSpPr/>
          <p:nvPr/>
        </p:nvSpPr>
        <p:spPr>
          <a:xfrm>
            <a:off x="9528048" y="1691640"/>
            <a:ext cx="2057400" cy="1920240"/>
          </a:xfrm>
          <a:prstGeom prst="roundRect">
            <a:avLst>
              <a:gd name="adj" fmla="val 4762"/>
            </a:avLst>
          </a:prstGeom>
          <a:solidFill>
            <a:srgbClr val="213540"/>
          </a:solidFill>
          <a:ln w="12700">
            <a:solidFill>
              <a:srgbClr val="213540"/>
            </a:solidFill>
            <a:prstDash val="solid"/>
          </a:ln>
        </p:spPr>
      </p:sp>
      <p:sp>
        <p:nvSpPr>
          <p:cNvPr id="13" name="Text 11"/>
          <p:cNvSpPr txBox="1"/>
          <p:nvPr/>
        </p:nvSpPr>
        <p:spPr>
          <a:xfrm>
            <a:off x="9692640" y="187452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AML alert</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investigate; fraud = terminate</a:t>
            </a:r>
            <a:endParaRPr lang="en-US" sz="1600" dirty="0"/>
          </a:p>
        </p:txBody>
      </p:sp>
      <p:sp>
        <p:nvSpPr>
          <p:cNvPr id="14" name="Shape 12"/>
          <p:cNvSpPr/>
          <p:nvPr/>
        </p:nvSpPr>
        <p:spPr>
          <a:xfrm>
            <a:off x="640080" y="3840480"/>
            <a:ext cx="2057400" cy="1920240"/>
          </a:xfrm>
          <a:prstGeom prst="roundRect">
            <a:avLst>
              <a:gd name="adj" fmla="val 4762"/>
            </a:avLst>
          </a:prstGeom>
          <a:solidFill>
            <a:srgbClr val="213540"/>
          </a:solidFill>
          <a:ln w="12700">
            <a:solidFill>
              <a:srgbClr val="213540"/>
            </a:solidFill>
            <a:prstDash val="solid"/>
          </a:ln>
        </p:spPr>
      </p:sp>
      <p:sp>
        <p:nvSpPr>
          <p:cNvPr id="15" name="Text 13"/>
          <p:cNvSpPr txBox="1"/>
          <p:nvPr/>
        </p:nvSpPr>
        <p:spPr>
          <a:xfrm>
            <a:off x="804672" y="402336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Underwriter declines</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rejection letter</a:t>
            </a:r>
            <a:endParaRPr lang="en-US" sz="1600" dirty="0"/>
          </a:p>
        </p:txBody>
      </p:sp>
      <p:sp>
        <p:nvSpPr>
          <p:cNvPr id="16" name="Shape 14"/>
          <p:cNvSpPr/>
          <p:nvPr/>
        </p:nvSpPr>
        <p:spPr>
          <a:xfrm>
            <a:off x="2862072" y="3840480"/>
            <a:ext cx="2057400" cy="1920240"/>
          </a:xfrm>
          <a:prstGeom prst="roundRect">
            <a:avLst>
              <a:gd name="adj" fmla="val 4762"/>
            </a:avLst>
          </a:prstGeom>
          <a:solidFill>
            <a:srgbClr val="213540"/>
          </a:solidFill>
          <a:ln w="12700">
            <a:solidFill>
              <a:srgbClr val="213540"/>
            </a:solidFill>
            <a:prstDash val="solid"/>
          </a:ln>
        </p:spPr>
      </p:sp>
      <p:sp>
        <p:nvSpPr>
          <p:cNvPr id="17" name="Text 15"/>
          <p:cNvSpPr txBox="1"/>
          <p:nvPr/>
        </p:nvSpPr>
        <p:spPr>
          <a:xfrm>
            <a:off x="3026664" y="402336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Offer declined</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offer declined</a:t>
            </a:r>
            <a:endParaRPr lang="en-US" sz="1600" dirty="0"/>
          </a:p>
        </p:txBody>
      </p:sp>
      <p:sp>
        <p:nvSpPr>
          <p:cNvPr id="18" name="Shape 16"/>
          <p:cNvSpPr/>
          <p:nvPr/>
        </p:nvSpPr>
        <p:spPr>
          <a:xfrm>
            <a:off x="5084064" y="3840480"/>
            <a:ext cx="2057400" cy="1920240"/>
          </a:xfrm>
          <a:prstGeom prst="roundRect">
            <a:avLst>
              <a:gd name="adj" fmla="val 4762"/>
            </a:avLst>
          </a:prstGeom>
          <a:solidFill>
            <a:srgbClr val="213540"/>
          </a:solidFill>
          <a:ln w="12700">
            <a:solidFill>
              <a:srgbClr val="213540"/>
            </a:solidFill>
            <a:prstDash val="solid"/>
          </a:ln>
        </p:spPr>
      </p:sp>
      <p:sp>
        <p:nvSpPr>
          <p:cNvPr id="19" name="Text 17"/>
          <p:cNvSpPr txBox="1"/>
          <p:nvPr/>
        </p:nvSpPr>
        <p:spPr>
          <a:xfrm>
            <a:off x="5248656" y="402336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No reply in 15 days</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offer expired</a:t>
            </a:r>
            <a:endParaRPr lang="en-US" sz="1600" dirty="0"/>
          </a:p>
        </p:txBody>
      </p:sp>
      <p:sp>
        <p:nvSpPr>
          <p:cNvPr id="20" name="Shape 18"/>
          <p:cNvSpPr/>
          <p:nvPr/>
        </p:nvSpPr>
        <p:spPr>
          <a:xfrm>
            <a:off x="7306056" y="3840480"/>
            <a:ext cx="2057400" cy="1920240"/>
          </a:xfrm>
          <a:prstGeom prst="roundRect">
            <a:avLst>
              <a:gd name="adj" fmla="val 4762"/>
            </a:avLst>
          </a:prstGeom>
          <a:solidFill>
            <a:srgbClr val="213540"/>
          </a:solidFill>
          <a:ln w="12700">
            <a:solidFill>
              <a:srgbClr val="213540"/>
            </a:solidFill>
            <a:prstDash val="solid"/>
          </a:ln>
        </p:spPr>
      </p:sp>
      <p:sp>
        <p:nvSpPr>
          <p:cNvPr id="21" name="Text 19"/>
          <p:cNvSpPr txBox="1"/>
          <p:nvPr/>
        </p:nvSpPr>
        <p:spPr>
          <a:xfrm>
            <a:off x="7470648" y="402336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Payment fails</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fix and retry, or cancel</a:t>
            </a:r>
            <a:endParaRPr lang="en-US" sz="1600" dirty="0"/>
          </a:p>
        </p:txBody>
      </p:sp>
      <p:sp>
        <p:nvSpPr>
          <p:cNvPr id="22" name="Shape 20"/>
          <p:cNvSpPr/>
          <p:nvPr/>
        </p:nvSpPr>
        <p:spPr>
          <a:xfrm>
            <a:off x="9528048" y="3840480"/>
            <a:ext cx="2057400" cy="1920240"/>
          </a:xfrm>
          <a:prstGeom prst="roundRect">
            <a:avLst>
              <a:gd name="adj" fmla="val 4762"/>
            </a:avLst>
          </a:prstGeom>
          <a:solidFill>
            <a:srgbClr val="213540"/>
          </a:solidFill>
          <a:ln w="12700">
            <a:solidFill>
              <a:srgbClr val="213540"/>
            </a:solidFill>
            <a:prstDash val="solid"/>
          </a:ln>
        </p:spPr>
      </p:sp>
      <p:sp>
        <p:nvSpPr>
          <p:cNvPr id="23" name="Text 21"/>
          <p:cNvSpPr txBox="1"/>
          <p:nvPr/>
        </p:nvSpPr>
        <p:spPr>
          <a:xfrm>
            <a:off x="9692640" y="4023360"/>
            <a:ext cx="1737360" cy="1554480"/>
          </a:xfrm>
          <a:prstGeom prst="rect">
            <a:avLst/>
          </a:prstGeom>
          <a:noFill/>
          <a:ln/>
        </p:spPr>
        <p:txBody>
          <a:bodyPr wrap="square" lIns="0" tIns="0" rIns="0" bIns="0" rtlCol="0" anchor="t"/>
          <a:lstStyle/>
          <a:p>
            <a:pPr marL="0" indent="0">
              <a:spcAft>
                <a:spcPts val="600"/>
              </a:spcAft>
              <a:buNone/>
            </a:pPr>
            <a:r>
              <a:rPr lang="en-US" sz="1600" b="1" dirty="0">
                <a:solidFill>
                  <a:srgbClr val="EEF3F5"/>
                </a:solidFill>
                <a:latin typeface="Calibri" pitchFamily="34" charset="0"/>
                <a:ea typeface="Calibri" pitchFamily="34" charset="-122"/>
                <a:cs typeface="Calibri" pitchFamily="34" charset="-120"/>
              </a:rPr>
              <a:t>Applicant withdraws</a:t>
            </a:r>
            <a:endParaRPr lang="en-US" sz="1600" dirty="0"/>
          </a:p>
          <a:p>
            <a:pPr marL="0" indent="0">
              <a:spcAft>
                <a:spcPts val="600"/>
              </a:spcAft>
              <a:buNone/>
            </a:pPr>
            <a:r>
              <a:rPr lang="en-US" sz="1400" dirty="0">
                <a:solidFill>
                  <a:srgbClr val="4FD1C5"/>
                </a:solidFill>
                <a:latin typeface="Calibri" pitchFamily="34" charset="0"/>
                <a:ea typeface="Calibri" pitchFamily="34" charset="-122"/>
                <a:cs typeface="Calibri" pitchFamily="34" charset="-120"/>
              </a:rPr>
              <a:t>event sub-process</a:t>
            </a:r>
            <a:endParaRPr lang="en-US" sz="16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A7BAC4"/>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906780" y="2453640"/>
            <a:ext cx="10332720" cy="1280160"/>
          </a:xfrm>
          <a:prstGeom prst="rect">
            <a:avLst/>
          </a:prstGeom>
          <a:noFill/>
          <a:ln/>
        </p:spPr>
        <p:txBody>
          <a:bodyPr wrap="square" lIns="0" tIns="0" rIns="0" bIns="0" rtlCol="0" anchor="ctr"/>
          <a:lstStyle/>
          <a:p>
            <a:pPr marL="0" indent="0" algn="ctr">
              <a:buNone/>
            </a:pPr>
            <a:r>
              <a:rPr lang="en-US" sz="4400" b="1" dirty="0">
                <a:solidFill>
                  <a:srgbClr val="EEF3F5"/>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914400" y="3840480"/>
            <a:ext cx="10332720" cy="457200"/>
          </a:xfrm>
          <a:prstGeom prst="rect">
            <a:avLst/>
          </a:prstGeom>
          <a:noFill/>
          <a:ln/>
        </p:spPr>
        <p:txBody>
          <a:bodyPr wrap="square" lIns="0" tIns="0" rIns="0" bIns="0" rtlCol="0" anchor="t"/>
          <a:lstStyle/>
          <a:p>
            <a:pPr marL="0" indent="0" algn="ctr">
              <a:buNone/>
            </a:pPr>
            <a:r>
              <a:rPr lang="en-US" sz="1800" dirty="0">
                <a:solidFill>
                  <a:srgbClr val="A7BAC4"/>
                </a:solidFill>
                <a:latin typeface="Calibri" pitchFamily="34" charset="0"/>
                <a:ea typeface="Calibri" pitchFamily="34" charset="-122"/>
                <a:cs typeface="Calibri" pitchFamily="34" charset="-120"/>
              </a:rPr>
              <a:t>5 task types · 3 gateway types · 6 intermediate events · 10 alternate paths</a:t>
            </a:r>
            <a:endParaRPr lang="en-US" sz="1800" dirty="0"/>
          </a:p>
        </p:txBody>
      </p:sp>
    </p:spTree>
  </p:cSld>
  <p:clrMapOvr>
    <a:masterClrMapping/>
  </p:clrMapOvr>
</p:sld>
</file>

<file path=ppt/theme/theme1.xml><?xml version="1.0" encoding="utf-8"?>
<a:theme xmlns:a="http://schemas.openxmlformats.org/drawingml/2006/main" name="Loan">
  <a:themeElements>
    <a:clrScheme name="Loan">
      <a:dk1>
        <a:srgbClr val="17252C"/>
      </a:dk1>
      <a:lt1>
        <a:srgbClr val="EEF3F5"/>
      </a:lt1>
      <a:dk2>
        <a:srgbClr val="213540"/>
      </a:dk2>
      <a:lt2>
        <a:srgbClr val="D9E4E8"/>
      </a:lt2>
      <a:accent1>
        <a:srgbClr val="4FD1C5"/>
      </a:accent1>
      <a:accent2>
        <a:srgbClr val="F6AD55"/>
      </a:accent2>
      <a:accent3>
        <a:srgbClr val="A7BAC4"/>
      </a:accent3>
      <a:accent4>
        <a:srgbClr val="2F4A57"/>
      </a:accent4>
      <a:accent5>
        <a:srgbClr val="68D391"/>
      </a:accent5>
      <a:accent6>
        <a:srgbClr val="B794F4"/>
      </a:accent6>
      <a:hlink>
        <a:srgbClr val="4FD1C5"/>
      </a:hlink>
      <a:folHlink>
        <a:srgbClr val="A7BAC4"/>
      </a:folHlink>
    </a:clrScheme>
    <a:fontScheme name="Lo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TotalTime>
  <Words>863</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Loan</vt:lpstr>
      <vt:lpstr>Loan Origination &amp; Approval System</vt:lpstr>
      <vt:lpstr>The question</vt:lpstr>
      <vt:lpstr>The process</vt:lpstr>
      <vt:lpstr>Task types</vt:lpstr>
      <vt:lpstr>Gateways</vt:lpstr>
      <vt:lpstr>Intermediate events</vt:lpstr>
      <vt:lpstr>Critical path</vt:lpstr>
      <vt:lpstr>Alternate paths</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Origination &amp; Approval System</dc:title>
  <dc:subject>PptxGenJS Presentation</dc:subject>
  <dc:creator>PptxGenJS</dc:creator>
  <cp:lastModifiedBy>vinesh reddy</cp:lastModifiedBy>
  <cp:revision>1</cp:revision>
  <dcterms:created xsi:type="dcterms:W3CDTF">2026-10-12T02:46:25Z</dcterms:created>
  <dcterms:modified xsi:type="dcterms:W3CDTF">2026-10-12T03:14:57Z</dcterms:modified>
</cp:coreProperties>
</file>