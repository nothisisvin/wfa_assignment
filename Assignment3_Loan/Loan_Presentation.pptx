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f31ef41-e566-4315-449b-782f73adae74}">
          <p14:sldIdLst>
            <p14:sldId id="256"/>
            <p14:sldId id="257"/>
          </p14:sldIdLst>
        </p14:section>
        <p14:section name="Process" id="{4e4d1b71-0ace-c4fb-0a1f-d1b97fe02f1d}">
          <p14:sldIdLst>
            <p14:sldId id="258"/>
          </p14:sldIdLst>
        </p14:section>
        <p14:section name="Task types, gateways and events" id="{94626242-844e-d9e7-068c-1625ee4d56b7}">
          <p14:sldIdLst>
            <p14:sldId id="259"/>
            <p14:sldId id="260"/>
            <p14:sldId id="261"/>
          </p14:sldIdLst>
        </p14:section>
        <p14:section name="Critical and alternate paths" id="{5711a2b0-82e2-8a56-c369-1ac57b7839ab}">
          <p14:sldIdLst>
            <p14:sldId id="262"/>
            <p14:sldId id="263"/>
          </p14:sldIdLst>
        </p14:section>
        <p14:section name="Summary" id="{fe2c2434-2284-1442-2b3f-2107451b29dd}">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assignment: a bank handles a loan application through eligibility checks, verification, underwriting, the offer and disbursement. The question asks us to show every point where an application can stall, be rejected or be cancelled. I will cover task types, gateways, intermediate events, and the critical and alternate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I chose. A bank processes personal and secured loans through document checks, identity verification, credit assessment, underwriting, the offer and disbursement. We had to show the normal flow and every point where an application can stall, be rejected or be cancelled. It starts when the applicant submits an application and ends when the loan is disbursed, or the application is rejected, withdrawn or lapsed. The right side lists the failure areas the question asked us to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full diagram. The applicant and the credit bureau are external, so they are separate pools connected by message flows, the dashed lines. Inside the bank pool there is one lane per role: Loan Officer, Core Banking System, Fraud and Compliance, Underwriter, and Operations. The dotted box at the top is the withdrawal event sub-process. All rejection reasons merge into one Send rejection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tasks of five types. Check eligibility is a business rule task: a DMN table decides using age, residency and documents. The three user tasks need human judgement and each has a form. Service tasks are automated calls: the credit score, the backup bureau, KYC, AML screening and disbursement. Send tasks send messages to the applicant, and Receive documents is a receive task because we wait for the applicant, with a seven-day timer attached.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gateway types. Exclusive gateways make decisions: eligible, checks passed, fraud, approved and retry; they also merge paths. The parallel gateway runs the credit score, KYC and AML checks at the same time, and the join waits for all three. The pass or fail decision is taken after the join, because if one branch rejected on its own the join would wait forever. The event-based gateway after the offer waits for whichever happens first: the signed agreement, a decline, or the fifteen-day timer.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intermediate events. Three boundary events: a seven-day timer on Receive documents, an error event on Get credit score when the bureau is down, and an error event on Disburse funds when the payment fails. Three intermediate catch events follow the event-based gateway: two message events, signed agreement and offer declined, and one fifteen-day timer.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critical path is the happy path. Application received, check eligibility, the three checks in parallel, underwriting, send the offer, the signed agreement comes back, then funds are disbursed and a confirmation is sent. Every gateway takes its normal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alternate paths, each solved inside the diagram. Four of them, ineligible, KYC failed, underwriter declined, and missing documents after the timeout, end without disbursement. The bureau outage recovers with a backup bureau instead of failing. Confirmed fraud uses a terminate end event to stop everything at once. Withdrawal can happen at any stage, so it is an interrupting event sub-process rather than a boundary event on every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summarise: five task types, three gateway types, six intermediate events, one critical path and ten alternate paths. Every failure area the question lists is handled inside the model.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320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10698480" cy="155448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886200"/>
            <a:ext cx="10698480" cy="548640"/>
          </a:xfrm>
          <a:prstGeom prst="rect">
            <a:avLst/>
          </a:prstGeom>
          <a:noFill/>
          <a:ln/>
        </p:spPr>
        <p:txBody>
          <a:bodyPr wrap="square" rtlCol="0"/>
          <a:lstStyle>
            <a:lvl1pPr algn="l" indent="0" marL="0">
              <a:buNone/>
              <a:defRPr lang="en-US" sz="2000" dirty="0">
                <a:solidFill>
                  <a:srgbClr val="8DB3EC"/>
                </a:solidFill>
                <a:latin typeface="Calibri" pitchFamily="34" charset="0"/>
                <a:ea typeface="Calibri" pitchFamily="34" charset="-122"/>
                <a:cs typeface="Calibri" pitchFamily="34" charset="-120"/>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3200" b="1" dirty="0">
                <a:solidFill>
                  <a:srgbClr val="13203A"/>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5D6778"/>
                </a:solidFill>
                <a:latin typeface="Calibri" pitchFamily="34" charset="0"/>
                <a:ea typeface="Calibri" pitchFamily="34" charset="-122"/>
                <a:cs typeface="Calibri" pitchFamily="34" charset="-120"/>
              </a:rPr>
              <a:t>Assignment 3  ·  Loan Origination &amp; Approval System</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10698480" cy="1554480"/>
          </a:xfrm>
          <a:prstGeom prst="rect">
            <a:avLst/>
          </a:prstGeom>
          <a:noFill/>
          <a:ln/>
        </p:spPr>
        <p:txBody>
          <a:bodyPr wrap="square" lIns="0" tIns="0" rIns="0" bIns="0"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Loan Origination &amp; Approval System</a:t>
            </a:r>
            <a:endParaRPr lang="en-US" sz="4000" dirty="0"/>
          </a:p>
        </p:txBody>
      </p:sp>
      <p:sp>
        <p:nvSpPr>
          <p:cNvPr id="3" name="Text 0"/>
          <p:cNvSpPr/>
          <p:nvPr>
            <p:ph idx="101" type="body" hasCustomPrompt="1"/>
          </p:nvPr>
        </p:nvSpPr>
        <p:spPr>
          <a:xfrm>
            <a:off x="731520" y="3886200"/>
            <a:ext cx="10698480" cy="548640"/>
          </a:xfrm>
          <a:prstGeom prst="rect">
            <a:avLst/>
          </a:prstGeom>
          <a:noFill/>
          <a:ln/>
        </p:spPr>
        <p:txBody>
          <a:bodyPr wrap="square" lIns="0" tIns="0" rIns="0" bIns="0" rtlCol="0" anchor="t"/>
          <a:lstStyle/>
          <a:p>
            <a:pPr algn="l" indent="0" marL="0">
              <a:buNone/>
            </a:pPr>
            <a:r>
              <a:rPr lang="en-US" sz="2000" dirty="0">
                <a:solidFill>
                  <a:srgbClr val="8DB3EC"/>
                </a:solidFill>
                <a:latin typeface="Calibri" pitchFamily="34" charset="0"/>
                <a:ea typeface="Calibri" pitchFamily="34" charset="-122"/>
                <a:cs typeface="Calibri" pitchFamily="34" charset="-120"/>
              </a:rPr>
              <a:t>Assignment 3  ·  BPMN 2.0 process model (Camunda 8)</a:t>
            </a:r>
            <a:endParaRPr lang="en-US" sz="2000" dirty="0"/>
          </a:p>
        </p:txBody>
      </p:sp>
      <p:sp>
        <p:nvSpPr>
          <p:cNvPr id="4" name="motif start"/>
          <p:cNvSpPr/>
          <p:nvPr/>
        </p:nvSpPr>
        <p:spPr>
          <a:xfrm>
            <a:off x="731520" y="1097280"/>
            <a:ext cx="457200" cy="457200"/>
          </a:xfrm>
          <a:prstGeom prst="ellipse">
            <a:avLst/>
          </a:prstGeom>
          <a:solidFill>
            <a:srgbClr val="13203A"/>
          </a:solidFill>
          <a:ln w="19050">
            <a:solidFill>
              <a:srgbClr val="8DB3EC"/>
            </a:solidFill>
            <a:prstDash val="solid"/>
          </a:ln>
        </p:spPr>
      </p:sp>
      <p:sp>
        <p:nvSpPr>
          <p:cNvPr id="5" name="Shape 3"/>
          <p:cNvSpPr/>
          <p:nvPr/>
        </p:nvSpPr>
        <p:spPr>
          <a:xfrm>
            <a:off x="1188720" y="1325880"/>
            <a:ext cx="457200" cy="0"/>
          </a:xfrm>
          <a:prstGeom prst="line">
            <a:avLst/>
          </a:prstGeom>
          <a:noFill/>
          <a:ln w="15875">
            <a:solidFill>
              <a:srgbClr val="C9D2E0"/>
            </a:solidFill>
            <a:prstDash val="solid"/>
            <a:tailEnd type="triangle"/>
          </a:ln>
        </p:spPr>
      </p:sp>
      <p:sp>
        <p:nvSpPr>
          <p:cNvPr id="6" name="motif task"/>
          <p:cNvSpPr/>
          <p:nvPr/>
        </p:nvSpPr>
        <p:spPr>
          <a:xfrm>
            <a:off x="1645920" y="1051560"/>
            <a:ext cx="914400" cy="548640"/>
          </a:xfrm>
          <a:prstGeom prst="roundRect">
            <a:avLst>
              <a:gd name="adj" fmla="val 16667"/>
            </a:avLst>
          </a:prstGeom>
          <a:solidFill>
            <a:srgbClr val="13203A"/>
          </a:solidFill>
          <a:ln w="19050">
            <a:solidFill>
              <a:srgbClr val="8DB3EC"/>
            </a:solidFill>
            <a:prstDash val="solid"/>
          </a:ln>
        </p:spPr>
      </p:sp>
      <p:sp>
        <p:nvSpPr>
          <p:cNvPr id="7" name="Shape 5"/>
          <p:cNvSpPr/>
          <p:nvPr/>
        </p:nvSpPr>
        <p:spPr>
          <a:xfrm>
            <a:off x="2560320" y="1325880"/>
            <a:ext cx="457200" cy="0"/>
          </a:xfrm>
          <a:prstGeom prst="line">
            <a:avLst/>
          </a:prstGeom>
          <a:noFill/>
          <a:ln w="15875">
            <a:solidFill>
              <a:srgbClr val="C9D2E0"/>
            </a:solidFill>
            <a:prstDash val="solid"/>
            <a:tailEnd type="triangle"/>
          </a:ln>
        </p:spPr>
      </p:sp>
      <p:sp>
        <p:nvSpPr>
          <p:cNvPr id="8" name="motif gateway"/>
          <p:cNvSpPr/>
          <p:nvPr/>
        </p:nvSpPr>
        <p:spPr>
          <a:xfrm>
            <a:off x="3017520" y="1051560"/>
            <a:ext cx="548640" cy="548640"/>
          </a:xfrm>
          <a:prstGeom prst="diamond">
            <a:avLst/>
          </a:prstGeom>
          <a:solidFill>
            <a:srgbClr val="13203A"/>
          </a:solidFill>
          <a:ln w="19050">
            <a:solidFill>
              <a:srgbClr val="8DB3EC"/>
            </a:solidFill>
            <a:prstDash val="solid"/>
          </a:ln>
        </p:spPr>
      </p:sp>
      <p:sp>
        <p:nvSpPr>
          <p:cNvPr id="9" name="Shape 7"/>
          <p:cNvSpPr/>
          <p:nvPr/>
        </p:nvSpPr>
        <p:spPr>
          <a:xfrm>
            <a:off x="3566160" y="1325880"/>
            <a:ext cx="457200" cy="0"/>
          </a:xfrm>
          <a:prstGeom prst="line">
            <a:avLst/>
          </a:prstGeom>
          <a:noFill/>
          <a:ln w="15875">
            <a:solidFill>
              <a:srgbClr val="C9D2E0"/>
            </a:solidFill>
            <a:prstDash val="solid"/>
            <a:tailEnd type="triangle"/>
          </a:ln>
        </p:spPr>
      </p:sp>
      <p:sp>
        <p:nvSpPr>
          <p:cNvPr id="10" name="motif end"/>
          <p:cNvSpPr/>
          <p:nvPr/>
        </p:nvSpPr>
        <p:spPr>
          <a:xfrm>
            <a:off x="4023360" y="1097280"/>
            <a:ext cx="457200" cy="457200"/>
          </a:xfrm>
          <a:prstGeom prst="ellipse">
            <a:avLst/>
          </a:prstGeom>
          <a:solidFill>
            <a:srgbClr val="13203A"/>
          </a:solidFill>
          <a:ln w="50800">
            <a:solidFill>
              <a:srgbClr val="8DB3EC"/>
            </a:solidFill>
            <a:prstDash val="solid"/>
          </a:ln>
        </p:spPr>
      </p:sp>
      <p:sp>
        <p:nvSpPr>
          <p:cNvPr id="11" name="Text 9"/>
          <p:cNvSpPr txBox="1"/>
          <p:nvPr/>
        </p:nvSpPr>
        <p:spPr>
          <a:xfrm>
            <a:off x="731520" y="5669280"/>
            <a:ext cx="10698480" cy="365760"/>
          </a:xfrm>
          <a:prstGeom prst="rect">
            <a:avLst/>
          </a:prstGeom>
          <a:noFill/>
          <a:ln/>
        </p:spPr>
        <p:txBody>
          <a:bodyPr wrap="square" lIns="0" tIns="0" rIns="0" bIns="0" rtlCol="0" anchor="ctr"/>
          <a:lstStyle/>
          <a:p>
            <a:pPr indent="0" marL="0">
              <a:buNone/>
            </a:pPr>
            <a:r>
              <a:rPr lang="en-US" sz="1600" dirty="0">
                <a:solidFill>
                  <a:srgbClr val="C9D2E0"/>
                </a:solidFill>
              </a:rPr>
              <a:t>[Your name]  ·  [Roll number]  ·  [Course]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The question</a:t>
            </a:r>
            <a:endParaRPr lang="en-US" sz="3200" dirty="0"/>
          </a:p>
        </p:txBody>
      </p:sp>
      <p:sp>
        <p:nvSpPr>
          <p:cNvPr id="3" name="Text 1"/>
          <p:cNvSpPr txBox="1"/>
          <p:nvPr/>
        </p:nvSpPr>
        <p:spPr>
          <a:xfrm>
            <a:off x="548640" y="1234440"/>
            <a:ext cx="6126480" cy="1463040"/>
          </a:xfrm>
          <a:prstGeom prst="rect">
            <a:avLst/>
          </a:prstGeom>
          <a:noFill/>
          <a:ln/>
        </p:spPr>
        <p:txBody>
          <a:bodyPr wrap="square" lIns="0" tIns="0" rIns="0" bIns="0" rtlCol="0" anchor="t"/>
          <a:lstStyle/>
          <a:p>
            <a:pPr indent="0" marL="0">
              <a:buNone/>
            </a:pPr>
            <a:r>
              <a:rPr lang="en-US" sz="1600" dirty="0">
                <a:solidFill>
                  <a:srgbClr val="3A4659"/>
                </a:solidFill>
              </a:rPr>
              <a:t>A bank handles personal and secured loan applications. Each one passes through document checks, identity verification, credit assessment, underwriting, offer and acceptance, and disbursement. Show the normal approval flow and every point where an application can stall, be rejected or be cancelled.</a:t>
            </a:r>
            <a:endParaRPr lang="en-US" sz="1600" dirty="0"/>
          </a:p>
        </p:txBody>
      </p:sp>
      <p:sp>
        <p:nvSpPr>
          <p:cNvPr id="4" name="start end box"/>
          <p:cNvSpPr/>
          <p:nvPr/>
        </p:nvSpPr>
        <p:spPr>
          <a:xfrm>
            <a:off x="548640" y="2834640"/>
            <a:ext cx="6126480" cy="1143000"/>
          </a:xfrm>
          <a:prstGeom prst="roundRect">
            <a:avLst>
              <a:gd name="adj" fmla="val 8000"/>
            </a:avLst>
          </a:prstGeom>
          <a:solidFill>
            <a:srgbClr val="EEF1F5"/>
          </a:solidFill>
          <a:ln w="12700">
            <a:solidFill>
              <a:srgbClr val="EEF1F5"/>
            </a:solidFill>
            <a:prstDash val="solid"/>
          </a:ln>
        </p:spPr>
      </p:sp>
      <p:sp>
        <p:nvSpPr>
          <p:cNvPr id="5" name="Text 3"/>
          <p:cNvSpPr txBox="1"/>
          <p:nvPr/>
        </p:nvSpPr>
        <p:spPr>
          <a:xfrm>
            <a:off x="777240" y="2926080"/>
            <a:ext cx="5760720" cy="960120"/>
          </a:xfrm>
          <a:prstGeom prst="rect">
            <a:avLst/>
          </a:prstGeom>
          <a:noFill/>
          <a:ln/>
        </p:spPr>
        <p:txBody>
          <a:bodyPr wrap="square" lIns="0" tIns="0" rIns="0" bIns="0" rtlCol="0" anchor="ctr"/>
          <a:lstStyle/>
          <a:p>
            <a:pPr indent="0" marL="0">
              <a:spcAft>
                <a:spcPts val="400"/>
              </a:spcAft>
              <a:buNone/>
            </a:pPr>
            <a:r>
              <a:rPr lang="en-US" sz="1500" b="1" dirty="0">
                <a:solidFill>
                  <a:srgbClr val="13203A"/>
                </a:solidFill>
              </a:rPr>
              <a:t>Starts: </a:t>
            </a:r>
            <a:pPr indent="0" marL="0">
              <a:spcAft>
                <a:spcPts val="400"/>
              </a:spcAft>
              <a:buNone/>
            </a:pPr>
            <a:r>
              <a:rPr lang="en-US" sz="1500" dirty="0">
                <a:solidFill>
                  <a:srgbClr val="3A4659"/>
                </a:solidFill>
              </a:rPr>
              <a:t>an applicant submits a loan application with documents</a:t>
            </a:r>
            <a:endParaRPr lang="en-US" sz="1500" dirty="0"/>
          </a:p>
          <a:p>
            <a:pPr indent="0" marL="0">
              <a:spcAft>
                <a:spcPts val="400"/>
              </a:spcAft>
              <a:buNone/>
            </a:pPr>
            <a:r>
              <a:rPr lang="en-US" sz="1500" b="1" dirty="0">
                <a:solidFill>
                  <a:srgbClr val="13203A"/>
                </a:solidFill>
              </a:rPr>
              <a:t>Ends: </a:t>
            </a:r>
            <a:pPr indent="0" marL="0">
              <a:spcAft>
                <a:spcPts val="400"/>
              </a:spcAft>
              <a:buNone/>
            </a:pPr>
            <a:r>
              <a:rPr lang="en-US" sz="1500" dirty="0">
                <a:solidFill>
                  <a:srgbClr val="3A4659"/>
                </a:solidFill>
              </a:rPr>
              <a:t>the loan is disbursed, or the application is rejected, withdrawn or lapsed</a:t>
            </a:r>
            <a:endParaRPr lang="en-US" sz="1500" dirty="0"/>
          </a:p>
        </p:txBody>
      </p:sp>
      <p:sp>
        <p:nvSpPr>
          <p:cNvPr id="6" name="Text 4"/>
          <p:cNvSpPr txBox="1"/>
          <p:nvPr/>
        </p:nvSpPr>
        <p:spPr>
          <a:xfrm>
            <a:off x="548640" y="4206240"/>
            <a:ext cx="6126480" cy="320040"/>
          </a:xfrm>
          <a:prstGeom prst="rect">
            <a:avLst/>
          </a:prstGeom>
          <a:noFill/>
          <a:ln/>
        </p:spPr>
        <p:txBody>
          <a:bodyPr wrap="square" lIns="0" tIns="0" rIns="0" bIns="0" rtlCol="0" anchor="ctr"/>
          <a:lstStyle/>
          <a:p>
            <a:pPr indent="0" marL="0">
              <a:buNone/>
            </a:pPr>
            <a:r>
              <a:rPr lang="en-US" sz="1600" b="1" dirty="0">
                <a:solidFill>
                  <a:srgbClr val="13203A"/>
                </a:solidFill>
              </a:rPr>
              <a:t>Participants</a:t>
            </a:r>
            <a:endParaRPr lang="en-US" sz="1600" dirty="0"/>
          </a:p>
        </p:txBody>
      </p:sp>
      <p:sp>
        <p:nvSpPr>
          <p:cNvPr id="7" name="Text 5"/>
          <p:cNvSpPr txBox="1"/>
          <p:nvPr/>
        </p:nvSpPr>
        <p:spPr>
          <a:xfrm>
            <a:off x="548640" y="4572000"/>
            <a:ext cx="6126480" cy="1463040"/>
          </a:xfrm>
          <a:prstGeom prst="rect">
            <a:avLst/>
          </a:prstGeom>
          <a:noFill/>
          <a:ln/>
        </p:spPr>
        <p:txBody>
          <a:bodyPr wrap="square" lIns="0" tIns="0" rIns="0" bIns="0" rtlCol="0" anchor="t"/>
          <a:lstStyle/>
          <a:p>
            <a:pPr indent="0" marL="0">
              <a:buNone/>
            </a:pPr>
            <a:r>
              <a:rPr lang="en-US" sz="1500" dirty="0">
                <a:solidFill>
                  <a:srgbClr val="3A4659"/>
                </a:solidFill>
              </a:rPr>
              <a:t>Applicant · Loan Officer · Underwriter / Credit Committee · Fraud &amp; Compliance Team · Credit Bureau (external) · Operations / Disbursement · Core Banking System</a:t>
            </a:r>
            <a:endParaRPr lang="en-US" sz="1500" dirty="0"/>
          </a:p>
        </p:txBody>
      </p:sp>
      <p:sp>
        <p:nvSpPr>
          <p:cNvPr id="8" name="tasks card"/>
          <p:cNvSpPr/>
          <p:nvPr/>
        </p:nvSpPr>
        <p:spPr>
          <a:xfrm>
            <a:off x="6995160" y="1234440"/>
            <a:ext cx="4617720" cy="2148840"/>
          </a:xfrm>
          <a:prstGeom prst="roundRect">
            <a:avLst>
              <a:gd name="adj" fmla="val 5106"/>
            </a:avLst>
          </a:prstGeom>
          <a:solidFill>
            <a:srgbClr val="13203A"/>
          </a:solidFill>
          <a:ln w="12700">
            <a:solidFill>
              <a:srgbClr val="13203A"/>
            </a:solidFill>
            <a:prstDash val="solid"/>
          </a:ln>
        </p:spPr>
      </p:sp>
      <p:sp>
        <p:nvSpPr>
          <p:cNvPr id="9" name="Text 7"/>
          <p:cNvSpPr txBox="1"/>
          <p:nvPr/>
        </p:nvSpPr>
        <p:spPr>
          <a:xfrm>
            <a:off x="7269480" y="1371600"/>
            <a:ext cx="4114800" cy="365760"/>
          </a:xfrm>
          <a:prstGeom prst="rect">
            <a:avLst/>
          </a:prstGeom>
          <a:noFill/>
          <a:ln/>
        </p:spPr>
        <p:txBody>
          <a:bodyPr wrap="square" lIns="0" tIns="0" rIns="0" bIns="0" rtlCol="0" anchor="ctr"/>
          <a:lstStyle/>
          <a:p>
            <a:pPr indent="0" marL="0">
              <a:buNone/>
            </a:pPr>
            <a:r>
              <a:rPr lang="en-US" sz="1600" b="1" dirty="0">
                <a:solidFill>
                  <a:srgbClr val="8DB3EC"/>
                </a:solidFill>
              </a:rPr>
              <a:t>What we had to do</a:t>
            </a:r>
            <a:endParaRPr lang="en-US" sz="1600" dirty="0"/>
          </a:p>
        </p:txBody>
      </p:sp>
      <p:sp>
        <p:nvSpPr>
          <p:cNvPr id="10" name="Text 8"/>
          <p:cNvSpPr txBox="1"/>
          <p:nvPr/>
        </p:nvSpPr>
        <p:spPr>
          <a:xfrm>
            <a:off x="7269480" y="1783080"/>
            <a:ext cx="4160520" cy="146304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500" dirty="0">
                <a:solidFill>
                  <a:srgbClr val="FFFFFF"/>
                </a:solidFill>
              </a:rPr>
              <a:t>Draw the happy path</a:t>
            </a:r>
            <a:endParaRPr lang="en-US" sz="1500" dirty="0"/>
          </a:p>
          <a:p>
            <a:pPr marL="342900" indent="-342900">
              <a:spcAft>
                <a:spcPts val="400"/>
              </a:spcAft>
              <a:buSzPct val="100000"/>
              <a:buFont typeface="+mj-lt"/>
              <a:buAutoNum type="arabicPeriod" startAt="1"/>
            </a:pPr>
            <a:r>
              <a:rPr lang="en-US" sz="1500" dirty="0">
                <a:solidFill>
                  <a:srgbClr val="FFFFFF"/>
                </a:solidFill>
              </a:rPr>
              <a:t>List the failure paths</a:t>
            </a:r>
            <a:endParaRPr lang="en-US" sz="1500" dirty="0"/>
          </a:p>
          <a:p>
            <a:pPr marL="342900" indent="-342900">
              <a:spcAft>
                <a:spcPts val="400"/>
              </a:spcAft>
              <a:buSzPct val="100000"/>
              <a:buFont typeface="+mj-lt"/>
              <a:buAutoNum type="arabicPeriod" startAt="1"/>
            </a:pPr>
            <a:r>
              <a:rPr lang="en-US" sz="1500" dirty="0">
                <a:solidFill>
                  <a:srgbClr val="FFFFFF"/>
                </a:solidFill>
              </a:rPr>
              <a:t>Solve each failure inside the diagram</a:t>
            </a:r>
            <a:endParaRPr lang="en-US" sz="1500" dirty="0"/>
          </a:p>
          <a:p>
            <a:pPr marL="342900" indent="-342900">
              <a:spcAft>
                <a:spcPts val="400"/>
              </a:spcAft>
              <a:buSzPct val="100000"/>
              <a:buFont typeface="+mj-lt"/>
              <a:buAutoNum type="arabicPeriod" startAt="1"/>
            </a:pPr>
            <a:r>
              <a:rPr lang="en-US" sz="1500" dirty="0">
                <a:solidFill>
                  <a:srgbClr val="FFFFFF"/>
                </a:solidFill>
              </a:rPr>
              <a:t>Justify task types and gateways</a:t>
            </a:r>
            <a:endParaRPr lang="en-US" sz="1500" dirty="0"/>
          </a:p>
        </p:txBody>
      </p:sp>
      <p:sp>
        <p:nvSpPr>
          <p:cNvPr id="11" name="failure areas card"/>
          <p:cNvSpPr/>
          <p:nvPr/>
        </p:nvSpPr>
        <p:spPr>
          <a:xfrm>
            <a:off x="6995160" y="3566160"/>
            <a:ext cx="4617720" cy="2560320"/>
          </a:xfrm>
          <a:prstGeom prst="roundRect">
            <a:avLst>
              <a:gd name="adj" fmla="val 4286"/>
            </a:avLst>
          </a:prstGeom>
          <a:solidFill>
            <a:srgbClr val="EEF1F5"/>
          </a:solidFill>
          <a:ln w="12700">
            <a:solidFill>
              <a:srgbClr val="EEF1F5"/>
            </a:solidFill>
            <a:prstDash val="solid"/>
          </a:ln>
        </p:spPr>
      </p:sp>
      <p:sp>
        <p:nvSpPr>
          <p:cNvPr id="12" name="Text 10"/>
          <p:cNvSpPr txBox="1"/>
          <p:nvPr/>
        </p:nvSpPr>
        <p:spPr>
          <a:xfrm>
            <a:off x="7269480" y="3703320"/>
            <a:ext cx="4114800" cy="365760"/>
          </a:xfrm>
          <a:prstGeom prst="rect">
            <a:avLst/>
          </a:prstGeom>
          <a:noFill/>
          <a:ln/>
        </p:spPr>
        <p:txBody>
          <a:bodyPr wrap="square" lIns="0" tIns="0" rIns="0" bIns="0" rtlCol="0" anchor="ctr"/>
          <a:lstStyle/>
          <a:p>
            <a:pPr indent="0" marL="0">
              <a:buNone/>
            </a:pPr>
            <a:r>
              <a:rPr lang="en-US" sz="1600" b="1" dirty="0">
                <a:solidFill>
                  <a:srgbClr val="2E5EAA"/>
                </a:solidFill>
              </a:rPr>
              <a:t>Where to look for failures</a:t>
            </a:r>
            <a:endParaRPr lang="en-US" sz="1600" dirty="0"/>
          </a:p>
        </p:txBody>
      </p:sp>
      <p:sp>
        <p:nvSpPr>
          <p:cNvPr id="13" name="Text 11"/>
          <p:cNvSpPr txBox="1"/>
          <p:nvPr/>
        </p:nvSpPr>
        <p:spPr>
          <a:xfrm>
            <a:off x="7269480" y="4114800"/>
            <a:ext cx="4160520" cy="192024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rgbClr val="3A4659"/>
                </a:solidFill>
              </a:rPr>
              <a:t>Document and identity problems</a:t>
            </a:r>
            <a:endParaRPr lang="en-US" sz="1400" dirty="0"/>
          </a:p>
          <a:p>
            <a:pPr marL="342900" indent="-342900">
              <a:spcAft>
                <a:spcPts val="300"/>
              </a:spcAft>
              <a:buSzPct val="100000"/>
              <a:buChar char="•"/>
            </a:pPr>
            <a:r>
              <a:rPr lang="en-US" sz="1400" dirty="0">
                <a:solidFill>
                  <a:srgbClr val="3A4659"/>
                </a:solidFill>
              </a:rPr>
              <a:t>Fraud, AML or sanctions flags</a:t>
            </a:r>
            <a:endParaRPr lang="en-US" sz="1400" dirty="0"/>
          </a:p>
          <a:p>
            <a:pPr marL="342900" indent="-342900">
              <a:spcAft>
                <a:spcPts val="300"/>
              </a:spcAft>
              <a:buSzPct val="100000"/>
              <a:buChar char="•"/>
            </a:pPr>
            <a:r>
              <a:rPr lang="en-US" sz="1400" dirty="0">
                <a:solidFill>
                  <a:srgbClr val="3A4659"/>
                </a:solidFill>
              </a:rPr>
              <a:t>Credit bureau unavailable</a:t>
            </a:r>
            <a:endParaRPr lang="en-US" sz="1400" dirty="0"/>
          </a:p>
          <a:p>
            <a:pPr marL="342900" indent="-342900">
              <a:spcAft>
                <a:spcPts val="300"/>
              </a:spcAft>
              <a:buSzPct val="100000"/>
              <a:buChar char="•"/>
            </a:pPr>
            <a:r>
              <a:rPr lang="en-US" sz="1400" dirty="0">
                <a:solidFill>
                  <a:srgbClr val="3A4659"/>
                </a:solidFill>
              </a:rPr>
              <a:t>Credit, income, collateral outcomes</a:t>
            </a:r>
            <a:endParaRPr lang="en-US" sz="1400" dirty="0"/>
          </a:p>
          <a:p>
            <a:pPr marL="342900" indent="-342900">
              <a:spcAft>
                <a:spcPts val="300"/>
              </a:spcAft>
              <a:buSzPct val="100000"/>
              <a:buChar char="•"/>
            </a:pPr>
            <a:r>
              <a:rPr lang="en-US" sz="1400" dirty="0">
                <a:solidFill>
                  <a:srgbClr val="3A4659"/>
                </a:solidFill>
              </a:rPr>
              <a:t>Timeouts, withdrawal and refusal</a:t>
            </a:r>
            <a:endParaRPr lang="en-US" sz="1400" dirty="0"/>
          </a:p>
          <a:p>
            <a:pPr marL="342900" indent="-342900">
              <a:spcAft>
                <a:spcPts val="300"/>
              </a:spcAft>
              <a:buSzPct val="100000"/>
              <a:buChar char="•"/>
            </a:pPr>
            <a:r>
              <a:rPr lang="en-US" sz="1400" dirty="0">
                <a:solidFill>
                  <a:srgbClr val="3A4659"/>
                </a:solidFill>
              </a:rPr>
              <a:t>Disbursement failures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Process overview</a:t>
            </a:r>
            <a:endParaRPr lang="en-US" sz="3200" dirty="0"/>
          </a:p>
        </p:txBody>
      </p:sp>
      <p:sp>
        <p:nvSpPr>
          <p:cNvPr id="3" name="Text 1"/>
          <p:cNvSpPr txBox="1"/>
          <p:nvPr/>
        </p:nvSpPr>
        <p:spPr>
          <a:xfrm>
            <a:off x="548640" y="1051560"/>
            <a:ext cx="11064240" cy="365760"/>
          </a:xfrm>
          <a:prstGeom prst="rect">
            <a:avLst/>
          </a:prstGeom>
          <a:noFill/>
          <a:ln/>
        </p:spPr>
        <p:txBody>
          <a:bodyPr wrap="square" lIns="0" tIns="0" rIns="0" bIns="0" rtlCol="0" anchor="ctr"/>
          <a:lstStyle/>
          <a:p>
            <a:pPr indent="0" marL="0">
              <a:buNone/>
            </a:pPr>
            <a:r>
              <a:rPr lang="en-US" sz="1400" dirty="0">
                <a:solidFill>
                  <a:srgbClr val="5D6778"/>
                </a:solidFill>
              </a:rPr>
              <a:t>Pools: Applicant, Credit Bureau   ·   Lanes: Loan Officer, Core Banking, Fraud &amp; Compliance, Underwriter, Operations</a:t>
            </a:r>
            <a:endParaRPr lang="en-US" sz="1400" dirty="0"/>
          </a:p>
        </p:txBody>
      </p:sp>
      <p:sp>
        <p:nvSpPr>
          <p:cNvPr id="4" name="diagram frame"/>
          <p:cNvSpPr/>
          <p:nvPr/>
        </p:nvSpPr>
        <p:spPr>
          <a:xfrm>
            <a:off x="1541953" y="1463040"/>
            <a:ext cx="9107790" cy="4937760"/>
          </a:xfrm>
          <a:prstGeom prst="rect">
            <a:avLst/>
          </a:prstGeom>
          <a:solidFill>
            <a:srgbClr val="FFFFFF"/>
          </a:solidFill>
          <a:ln w="9525">
            <a:solidFill>
              <a:srgbClr val="DFE3EA"/>
            </a:solidFill>
            <a:prstDash val="solid"/>
          </a:ln>
        </p:spPr>
      </p:sp>
      <p:pic>
        <p:nvPicPr>
          <p:cNvPr id="5" name="Image 0" descr="BPMN diagram of the loan process: a bank pool with five lanes between the Applicant and Credit Bureau pools">    </p:cNvPr>
          <p:cNvPicPr>
            <a:picLocks noChangeAspect="1"/>
          </p:cNvPicPr>
          <p:nvPr/>
        </p:nvPicPr>
        <p:blipFill>
          <a:blip r:embed="rId1"/>
          <a:stretch>
            <a:fillRect/>
          </a:stretch>
        </p:blipFill>
        <p:spPr>
          <a:xfrm>
            <a:off x="1633393" y="1554480"/>
            <a:ext cx="8924910" cy="475488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Task types used</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8412480" cy="914400"/>
        </p:xfrm>
        <a:graphic>
          <a:graphicData uri="http://schemas.openxmlformats.org/drawingml/2006/table">
            <a:tbl>
              <a:tblPr/>
              <a:tblGrid>
                <a:gridCol w="1463040"/>
                <a:gridCol w="3840480"/>
                <a:gridCol w="310896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Task type</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Used for</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Why this type</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Business rule</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Check eligibility</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Decided by the loan-eligibility DMN table (age, residency, documents)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User</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Investigate alert · Underwrite application · Fix bank details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Human judgement, entered in a Camunda form</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Service</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Get credit score · Use backup bureau · Verify identity (KYC) · AML screening · Disburse funds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Automated system or API call</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Request documents · Send rejection · Send offer · Send confirmation · Confirm withdrawal</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One-way message to the applicant</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Receive</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Receive documents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Waits for the applicant’s documents; carries a 7-day timer</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bl>
          </a:graphicData>
        </a:graphic>
      </p:graphicFrame>
      <p:sp>
        <p:nvSpPr>
          <p:cNvPr id="4" name="stat panel"/>
          <p:cNvSpPr/>
          <p:nvPr/>
        </p:nvSpPr>
        <p:spPr>
          <a:xfrm>
            <a:off x="9281160" y="1280160"/>
            <a:ext cx="2331720" cy="4754880"/>
          </a:xfrm>
          <a:prstGeom prst="roundRect">
            <a:avLst>
              <a:gd name="adj" fmla="val 4706"/>
            </a:avLst>
          </a:prstGeom>
          <a:solidFill>
            <a:srgbClr val="EEF1F5"/>
          </a:solidFill>
          <a:ln w="12700">
            <a:solidFill>
              <a:srgbClr val="EEF1F5"/>
            </a:solidFill>
            <a:prstDash val="solid"/>
          </a:ln>
        </p:spPr>
      </p:sp>
      <p:sp>
        <p:nvSpPr>
          <p:cNvPr id="5" name="Text 2"/>
          <p:cNvSpPr txBox="1"/>
          <p:nvPr/>
        </p:nvSpPr>
        <p:spPr>
          <a:xfrm>
            <a:off x="9464040" y="1554480"/>
            <a:ext cx="1965960" cy="4206240"/>
          </a:xfrm>
          <a:prstGeom prst="rect">
            <a:avLst/>
          </a:prstGeom>
          <a:noFill/>
          <a:ln/>
        </p:spPr>
        <p:txBody>
          <a:bodyPr wrap="square" lIns="0" tIns="0" rIns="0" bIns="0" rtlCol="0" anchor="ctr"/>
          <a:lstStyle/>
          <a:p>
            <a:pPr algn="ctr" indent="0" marL="0">
              <a:buNone/>
            </a:pPr>
            <a:r>
              <a:rPr lang="en-US" sz="5400" b="1" dirty="0">
                <a:solidFill>
                  <a:srgbClr val="2E5EAA"/>
                </a:solidFill>
                <a:latin typeface="Cambria" pitchFamily="34" charset="0"/>
                <a:ea typeface="Cambria" pitchFamily="34" charset="-122"/>
                <a:cs typeface="Cambria" pitchFamily="34" charset="-120"/>
              </a:rPr>
              <a:t>15</a:t>
            </a:r>
            <a:endParaRPr lang="en-US" sz="5400" dirty="0"/>
          </a:p>
          <a:p>
            <a:pPr algn="ctr" indent="0" marL="0">
              <a:buNone/>
            </a:pPr>
            <a:r>
              <a:rPr lang="en-US" sz="1400" dirty="0">
                <a:solidFill>
                  <a:srgbClr val="3A4659"/>
                </a:solidFill>
              </a:rPr>
              <a:t>tasks in the model</a:t>
            </a:r>
            <a:endParaRPr lang="en-US" sz="5400" dirty="0"/>
          </a:p>
          <a:p>
            <a:pPr algn="ctr" indent="0" marL="0">
              <a:buNone/>
            </a:pPr>
            <a:r>
              <a:rPr lang="en-US" sz="1400" dirty="0">
                <a:solidFill>
                  <a:srgbClr val="000000"/>
                </a:solidFill>
              </a:rPr>
              <a:t> </a:t>
            </a:r>
            <a:endParaRPr lang="en-US" sz="5400" dirty="0"/>
          </a:p>
          <a:p>
            <a:pPr algn="ctr" indent="0" marL="0">
              <a:buNone/>
            </a:pPr>
            <a:r>
              <a:rPr lang="en-US" sz="5400" b="1" dirty="0">
                <a:solidFill>
                  <a:srgbClr val="2E5EAA"/>
                </a:solidFill>
                <a:latin typeface="Cambria" pitchFamily="34" charset="0"/>
                <a:ea typeface="Cambria" pitchFamily="34" charset="-122"/>
                <a:cs typeface="Cambria" pitchFamily="34" charset="-120"/>
              </a:rPr>
              <a:t>5</a:t>
            </a:r>
            <a:endParaRPr lang="en-US" sz="5400" dirty="0"/>
          </a:p>
          <a:p>
            <a:pPr algn="ctr" indent="0" marL="0">
              <a:buNone/>
            </a:pPr>
            <a:r>
              <a:rPr lang="en-US" sz="1400" dirty="0">
                <a:solidFill>
                  <a:srgbClr val="3A4659"/>
                </a:solidFill>
              </a:rPr>
              <a:t>different task types</a:t>
            </a:r>
            <a:endParaRPr lang="en-US" sz="5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Gateways used</a:t>
            </a:r>
            <a:endParaRPr lang="en-US" sz="3200" dirty="0"/>
          </a:p>
        </p:txBody>
      </p:sp>
      <p:sp>
        <p:nvSpPr>
          <p:cNvPr id="3" name="gateway card 1"/>
          <p:cNvSpPr/>
          <p:nvPr/>
        </p:nvSpPr>
        <p:spPr>
          <a:xfrm>
            <a:off x="548640" y="1325880"/>
            <a:ext cx="3474720" cy="4800600"/>
          </a:xfrm>
          <a:prstGeom prst="roundRect">
            <a:avLst>
              <a:gd name="adj" fmla="val 3158"/>
            </a:avLst>
          </a:prstGeom>
          <a:solidFill>
            <a:srgbClr val="EEF1F5"/>
          </a:solidFill>
          <a:ln w="12700">
            <a:solidFill>
              <a:srgbClr val="EEF1F5"/>
            </a:solidFill>
            <a:prstDash val="solid"/>
          </a:ln>
        </p:spPr>
      </p:sp>
      <p:sp>
        <p:nvSpPr>
          <p:cNvPr id="4" name="gateway glyph 1"/>
          <p:cNvSpPr/>
          <p:nvPr/>
        </p:nvSpPr>
        <p:spPr>
          <a:xfrm>
            <a:off x="868680" y="1645920"/>
            <a:ext cx="777240" cy="777240"/>
          </a:xfrm>
          <a:prstGeom prst="diamond">
            <a:avLst/>
          </a:prstGeom>
          <a:solidFill>
            <a:srgbClr val="FFFFFF"/>
          </a:solidFill>
          <a:ln w="28575">
            <a:solidFill>
              <a:srgbClr val="2E5EAA"/>
            </a:solidFill>
            <a:prstDash val="solid"/>
          </a:ln>
        </p:spPr>
      </p:sp>
      <p:sp>
        <p:nvSpPr>
          <p:cNvPr id="5" name="Text 3"/>
          <p:cNvSpPr txBox="1"/>
          <p:nvPr/>
        </p:nvSpPr>
        <p:spPr>
          <a:xfrm>
            <a:off x="868680" y="1645920"/>
            <a:ext cx="777240" cy="777240"/>
          </a:xfrm>
          <a:prstGeom prst="rect">
            <a:avLst/>
          </a:prstGeom>
          <a:noFill/>
          <a:ln/>
        </p:spPr>
        <p:txBody>
          <a:bodyPr wrap="square" lIns="0" tIns="0" rIns="0" bIns="0" rtlCol="0" anchor="ctr"/>
          <a:lstStyle/>
          <a:p>
            <a:pPr algn="ctr" indent="0" marL="0">
              <a:buNone/>
            </a:pPr>
            <a:r>
              <a:rPr lang="en-US" sz="2600" b="1" dirty="0">
                <a:solidFill>
                  <a:srgbClr val="2E5EAA"/>
                </a:solidFill>
              </a:rPr>
              <a:t>X</a:t>
            </a:r>
            <a:endParaRPr lang="en-US" sz="2600" dirty="0"/>
          </a:p>
        </p:txBody>
      </p:sp>
      <p:sp>
        <p:nvSpPr>
          <p:cNvPr id="6" name="Text 4"/>
          <p:cNvSpPr txBox="1"/>
          <p:nvPr/>
        </p:nvSpPr>
        <p:spPr>
          <a:xfrm>
            <a:off x="1828800" y="1600200"/>
            <a:ext cx="2011680" cy="868680"/>
          </a:xfrm>
          <a:prstGeom prst="rect">
            <a:avLst/>
          </a:prstGeom>
          <a:noFill/>
          <a:ln/>
        </p:spPr>
        <p:txBody>
          <a:bodyPr wrap="square" lIns="0" tIns="0" rIns="0" bIns="0" rtlCol="0" anchor="ctr"/>
          <a:lstStyle/>
          <a:p>
            <a:pPr indent="0" marL="0">
              <a:buNone/>
            </a:pPr>
            <a:r>
              <a:rPr lang="en-US" sz="2000" b="1" dirty="0">
                <a:solidFill>
                  <a:srgbClr val="13203A"/>
                </a:solidFill>
                <a:latin typeface="Cambria" pitchFamily="34" charset="0"/>
                <a:ea typeface="Cambria" pitchFamily="34" charset="-122"/>
                <a:cs typeface="Cambria" pitchFamily="34" charset="-120"/>
              </a:rPr>
              <a:t>Exclusive (XOR)</a:t>
            </a:r>
            <a:endParaRPr lang="en-US" sz="2000" dirty="0"/>
          </a:p>
          <a:p>
            <a:pPr indent="0" marL="0">
              <a:buNone/>
            </a:pPr>
            <a:r>
              <a:rPr lang="en-US" sz="1400" i="1" dirty="0">
                <a:solidFill>
                  <a:srgbClr val="2E5EAA"/>
                </a:solidFill>
              </a:rPr>
              <a:t>Exactly one path is taken</a:t>
            </a:r>
            <a:endParaRPr lang="en-US" sz="2000" dirty="0"/>
          </a:p>
        </p:txBody>
      </p:sp>
      <p:sp>
        <p:nvSpPr>
          <p:cNvPr id="7" name="Text 5"/>
          <p:cNvSpPr txBox="1"/>
          <p:nvPr/>
        </p:nvSpPr>
        <p:spPr>
          <a:xfrm>
            <a:off x="868680" y="2697480"/>
            <a:ext cx="2834640" cy="320040"/>
          </a:xfrm>
          <a:prstGeom prst="rect">
            <a:avLst/>
          </a:prstGeom>
          <a:noFill/>
          <a:ln/>
        </p:spPr>
        <p:txBody>
          <a:bodyPr wrap="square" lIns="0" tIns="0" rIns="0" bIns="0" rtlCol="0" anchor="ctr"/>
          <a:lstStyle/>
          <a:p>
            <a:pPr indent="0" marL="0">
              <a:buNone/>
            </a:pPr>
            <a:r>
              <a:rPr lang="en-US" sz="1400" b="1" dirty="0">
                <a:solidFill>
                  <a:srgbClr val="13203A"/>
                </a:solidFill>
              </a:rPr>
              <a:t>Used at</a:t>
            </a:r>
            <a:endParaRPr lang="en-US" sz="1400" dirty="0"/>
          </a:p>
        </p:txBody>
      </p:sp>
      <p:sp>
        <p:nvSpPr>
          <p:cNvPr id="8" name="Text 6"/>
          <p:cNvSpPr txBox="1"/>
          <p:nvPr/>
        </p:nvSpPr>
        <p:spPr>
          <a:xfrm>
            <a:off x="868680" y="3063240"/>
            <a:ext cx="2834640" cy="2880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A4659"/>
                </a:solidFill>
              </a:rPr>
              <a:t>Eligible? (OK / Docs missing / Ineligible)</a:t>
            </a:r>
            <a:endParaRPr lang="en-US" sz="1400" dirty="0"/>
          </a:p>
          <a:p>
            <a:pPr marL="342900" indent="-342900">
              <a:spcAft>
                <a:spcPts val="600"/>
              </a:spcAft>
              <a:buSzPct val="100000"/>
              <a:buChar char="•"/>
            </a:pPr>
            <a:r>
              <a:rPr lang="en-US" sz="1400" dirty="0">
                <a:solidFill>
                  <a:srgbClr val="3A4659"/>
                </a:solidFill>
              </a:rPr>
              <a:t>Checks passed? (Clear / KYC failed / AML alert)</a:t>
            </a:r>
            <a:endParaRPr lang="en-US" sz="1400" dirty="0"/>
          </a:p>
          <a:p>
            <a:pPr marL="342900" indent="-342900">
              <a:spcAft>
                <a:spcPts val="600"/>
              </a:spcAft>
              <a:buSzPct val="100000"/>
              <a:buChar char="•"/>
            </a:pPr>
            <a:r>
              <a:rPr lang="en-US" sz="1400" dirty="0">
                <a:solidFill>
                  <a:srgbClr val="3A4659"/>
                </a:solidFill>
              </a:rPr>
              <a:t>Fraud?  ·  Approved?  ·  Retry?</a:t>
            </a:r>
            <a:endParaRPr lang="en-US" sz="1400" dirty="0"/>
          </a:p>
          <a:p>
            <a:pPr marL="342900" indent="-342900">
              <a:spcAft>
                <a:spcPts val="600"/>
              </a:spcAft>
              <a:buSzPct val="100000"/>
              <a:buChar char="•"/>
            </a:pPr>
            <a:r>
              <a:rPr lang="en-US" sz="1400" dirty="0">
                <a:solidFill>
                  <a:srgbClr val="3A4659"/>
                </a:solidFill>
              </a:rPr>
              <a:t>Merges: document loop, before underwriting, rejection (4 reasons), payment retry</a:t>
            </a:r>
            <a:endParaRPr lang="en-US" sz="1400" dirty="0"/>
          </a:p>
        </p:txBody>
      </p:sp>
      <p:sp>
        <p:nvSpPr>
          <p:cNvPr id="9" name="gateway card 2"/>
          <p:cNvSpPr/>
          <p:nvPr/>
        </p:nvSpPr>
        <p:spPr>
          <a:xfrm>
            <a:off x="4343400" y="1325880"/>
            <a:ext cx="3474720" cy="4800600"/>
          </a:xfrm>
          <a:prstGeom prst="roundRect">
            <a:avLst>
              <a:gd name="adj" fmla="val 3158"/>
            </a:avLst>
          </a:prstGeom>
          <a:solidFill>
            <a:srgbClr val="EEF1F5"/>
          </a:solidFill>
          <a:ln w="12700">
            <a:solidFill>
              <a:srgbClr val="EEF1F5"/>
            </a:solidFill>
            <a:prstDash val="solid"/>
          </a:ln>
        </p:spPr>
      </p:sp>
      <p:sp>
        <p:nvSpPr>
          <p:cNvPr id="10" name="gateway glyph 2"/>
          <p:cNvSpPr/>
          <p:nvPr/>
        </p:nvSpPr>
        <p:spPr>
          <a:xfrm>
            <a:off x="4663440" y="1645920"/>
            <a:ext cx="777240" cy="777240"/>
          </a:xfrm>
          <a:prstGeom prst="diamond">
            <a:avLst/>
          </a:prstGeom>
          <a:solidFill>
            <a:srgbClr val="FFFFFF"/>
          </a:solidFill>
          <a:ln w="28575">
            <a:solidFill>
              <a:srgbClr val="2E5EAA"/>
            </a:solidFill>
            <a:prstDash val="solid"/>
          </a:ln>
        </p:spPr>
      </p:sp>
      <p:sp>
        <p:nvSpPr>
          <p:cNvPr id="11" name="Text 9"/>
          <p:cNvSpPr txBox="1"/>
          <p:nvPr/>
        </p:nvSpPr>
        <p:spPr>
          <a:xfrm>
            <a:off x="4663440" y="1645920"/>
            <a:ext cx="777240" cy="777240"/>
          </a:xfrm>
          <a:prstGeom prst="rect">
            <a:avLst/>
          </a:prstGeom>
          <a:noFill/>
          <a:ln/>
        </p:spPr>
        <p:txBody>
          <a:bodyPr wrap="square" lIns="0" tIns="0" rIns="0" bIns="0" rtlCol="0" anchor="ctr"/>
          <a:lstStyle/>
          <a:p>
            <a:pPr algn="ctr" indent="0" marL="0">
              <a:buNone/>
            </a:pPr>
            <a:r>
              <a:rPr lang="en-US" sz="2600" b="1" dirty="0">
                <a:solidFill>
                  <a:srgbClr val="2E5EAA"/>
                </a:solidFill>
              </a:rPr>
              <a:t>+</a:t>
            </a:r>
            <a:endParaRPr lang="en-US" sz="2600" dirty="0"/>
          </a:p>
        </p:txBody>
      </p:sp>
      <p:sp>
        <p:nvSpPr>
          <p:cNvPr id="12" name="Text 10"/>
          <p:cNvSpPr txBox="1"/>
          <p:nvPr/>
        </p:nvSpPr>
        <p:spPr>
          <a:xfrm>
            <a:off x="5623560" y="1600200"/>
            <a:ext cx="2011680" cy="868680"/>
          </a:xfrm>
          <a:prstGeom prst="rect">
            <a:avLst/>
          </a:prstGeom>
          <a:noFill/>
          <a:ln/>
        </p:spPr>
        <p:txBody>
          <a:bodyPr wrap="square" lIns="0" tIns="0" rIns="0" bIns="0" rtlCol="0" anchor="ctr"/>
          <a:lstStyle/>
          <a:p>
            <a:pPr indent="0" marL="0">
              <a:buNone/>
            </a:pPr>
            <a:r>
              <a:rPr lang="en-US" sz="2000" b="1" dirty="0">
                <a:solidFill>
                  <a:srgbClr val="13203A"/>
                </a:solidFill>
                <a:latin typeface="Cambria" pitchFamily="34" charset="0"/>
                <a:ea typeface="Cambria" pitchFamily="34" charset="-122"/>
                <a:cs typeface="Cambria" pitchFamily="34" charset="-120"/>
              </a:rPr>
              <a:t>Parallel (AND)</a:t>
            </a:r>
            <a:endParaRPr lang="en-US" sz="2000" dirty="0"/>
          </a:p>
          <a:p>
            <a:pPr indent="0" marL="0">
              <a:buNone/>
            </a:pPr>
            <a:r>
              <a:rPr lang="en-US" sz="1400" i="1" dirty="0">
                <a:solidFill>
                  <a:srgbClr val="2E5EAA"/>
                </a:solidFill>
              </a:rPr>
              <a:t>All paths run at once</a:t>
            </a:r>
            <a:endParaRPr lang="en-US" sz="2000" dirty="0"/>
          </a:p>
        </p:txBody>
      </p:sp>
      <p:sp>
        <p:nvSpPr>
          <p:cNvPr id="13" name="Text 11"/>
          <p:cNvSpPr txBox="1"/>
          <p:nvPr/>
        </p:nvSpPr>
        <p:spPr>
          <a:xfrm>
            <a:off x="4663440" y="2697480"/>
            <a:ext cx="2834640" cy="320040"/>
          </a:xfrm>
          <a:prstGeom prst="rect">
            <a:avLst/>
          </a:prstGeom>
          <a:noFill/>
          <a:ln/>
        </p:spPr>
        <p:txBody>
          <a:bodyPr wrap="square" lIns="0" tIns="0" rIns="0" bIns="0" rtlCol="0" anchor="ctr"/>
          <a:lstStyle/>
          <a:p>
            <a:pPr indent="0" marL="0">
              <a:buNone/>
            </a:pPr>
            <a:r>
              <a:rPr lang="en-US" sz="1400" b="1" dirty="0">
                <a:solidFill>
                  <a:srgbClr val="13203A"/>
                </a:solidFill>
              </a:rPr>
              <a:t>Used at</a:t>
            </a:r>
            <a:endParaRPr lang="en-US" sz="1400" dirty="0"/>
          </a:p>
        </p:txBody>
      </p:sp>
      <p:sp>
        <p:nvSpPr>
          <p:cNvPr id="14" name="Text 12"/>
          <p:cNvSpPr txBox="1"/>
          <p:nvPr/>
        </p:nvSpPr>
        <p:spPr>
          <a:xfrm>
            <a:off x="4663440" y="3063240"/>
            <a:ext cx="2834640" cy="2880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A4659"/>
                </a:solidFill>
              </a:rPr>
              <a:t>Split after Eligible? = OK</a:t>
            </a:r>
            <a:endParaRPr lang="en-US" sz="1400" dirty="0"/>
          </a:p>
          <a:p>
            <a:pPr marL="342900" indent="-342900">
              <a:spcAft>
                <a:spcPts val="600"/>
              </a:spcAft>
              <a:buSzPct val="100000"/>
              <a:buChar char="•"/>
            </a:pPr>
            <a:r>
              <a:rPr lang="en-US" sz="1400" dirty="0">
                <a:solidFill>
                  <a:srgbClr val="3A4659"/>
                </a:solidFill>
              </a:rPr>
              <a:t>Credit score ∥ KYC ∥ AML screening</a:t>
            </a:r>
            <a:endParaRPr lang="en-US" sz="1400" dirty="0"/>
          </a:p>
          <a:p>
            <a:pPr marL="342900" indent="-342900">
              <a:spcAft>
                <a:spcPts val="600"/>
              </a:spcAft>
              <a:buSzPct val="100000"/>
              <a:buChar char="•"/>
            </a:pPr>
            <a:r>
              <a:rPr lang="en-US" sz="1400" dirty="0">
                <a:solidFill>
                  <a:srgbClr val="3A4659"/>
                </a:solidFill>
              </a:rPr>
              <a:t>Join waits for all three</a:t>
            </a:r>
            <a:endParaRPr lang="en-US" sz="1400" dirty="0"/>
          </a:p>
          <a:p>
            <a:pPr marL="342900" indent="-342900">
              <a:spcAft>
                <a:spcPts val="600"/>
              </a:spcAft>
              <a:buSzPct val="100000"/>
              <a:buChar char="•"/>
            </a:pPr>
            <a:r>
              <a:rPr lang="en-US" sz="1400" dirty="0">
                <a:solidFill>
                  <a:srgbClr val="3A4659"/>
                </a:solidFill>
              </a:rPr>
              <a:t>Pass / fail is decided after the join, so no branch is left waiting</a:t>
            </a:r>
            <a:endParaRPr lang="en-US" sz="1400" dirty="0"/>
          </a:p>
        </p:txBody>
      </p:sp>
      <p:sp>
        <p:nvSpPr>
          <p:cNvPr id="15" name="gateway card 3"/>
          <p:cNvSpPr/>
          <p:nvPr/>
        </p:nvSpPr>
        <p:spPr>
          <a:xfrm>
            <a:off x="8138160" y="1325880"/>
            <a:ext cx="3474720" cy="4800600"/>
          </a:xfrm>
          <a:prstGeom prst="roundRect">
            <a:avLst>
              <a:gd name="adj" fmla="val 3158"/>
            </a:avLst>
          </a:prstGeom>
          <a:solidFill>
            <a:srgbClr val="EEF1F5"/>
          </a:solidFill>
          <a:ln w="12700">
            <a:solidFill>
              <a:srgbClr val="EEF1F5"/>
            </a:solidFill>
            <a:prstDash val="solid"/>
          </a:ln>
        </p:spPr>
      </p:sp>
      <p:sp>
        <p:nvSpPr>
          <p:cNvPr id="16" name="gateway glyph 3"/>
          <p:cNvSpPr/>
          <p:nvPr/>
        </p:nvSpPr>
        <p:spPr>
          <a:xfrm>
            <a:off x="8458200" y="1645920"/>
            <a:ext cx="777240" cy="777240"/>
          </a:xfrm>
          <a:prstGeom prst="diamond">
            <a:avLst/>
          </a:prstGeom>
          <a:solidFill>
            <a:srgbClr val="FFFFFF"/>
          </a:solidFill>
          <a:ln w="28575">
            <a:solidFill>
              <a:srgbClr val="2E5EAA"/>
            </a:solidFill>
            <a:prstDash val="solid"/>
          </a:ln>
        </p:spPr>
      </p:sp>
      <p:sp>
        <p:nvSpPr>
          <p:cNvPr id="17" name="event glyph outer"/>
          <p:cNvSpPr/>
          <p:nvPr/>
        </p:nvSpPr>
        <p:spPr>
          <a:xfrm>
            <a:off x="8650224" y="1837944"/>
            <a:ext cx="393192" cy="393192"/>
          </a:xfrm>
          <a:prstGeom prst="ellipse">
            <a:avLst/>
          </a:prstGeom>
          <a:solidFill>
            <a:srgbClr val="FFFFFF"/>
          </a:solidFill>
          <a:ln w="15875">
            <a:solidFill>
              <a:srgbClr val="2E5EAA"/>
            </a:solidFill>
            <a:prstDash val="solid"/>
          </a:ln>
        </p:spPr>
      </p:sp>
      <p:sp>
        <p:nvSpPr>
          <p:cNvPr id="18" name="event glyph inner"/>
          <p:cNvSpPr/>
          <p:nvPr/>
        </p:nvSpPr>
        <p:spPr>
          <a:xfrm>
            <a:off x="8705088" y="1892808"/>
            <a:ext cx="283464" cy="283464"/>
          </a:xfrm>
          <a:prstGeom prst="ellipse">
            <a:avLst/>
          </a:prstGeom>
          <a:solidFill>
            <a:srgbClr val="FFFFFF"/>
          </a:solidFill>
          <a:ln w="15875">
            <a:solidFill>
              <a:srgbClr val="2E5EAA"/>
            </a:solidFill>
            <a:prstDash val="solid"/>
          </a:ln>
        </p:spPr>
      </p:sp>
      <p:sp>
        <p:nvSpPr>
          <p:cNvPr id="19" name="Text 17"/>
          <p:cNvSpPr txBox="1"/>
          <p:nvPr/>
        </p:nvSpPr>
        <p:spPr>
          <a:xfrm>
            <a:off x="9418320" y="1600200"/>
            <a:ext cx="2011680" cy="868680"/>
          </a:xfrm>
          <a:prstGeom prst="rect">
            <a:avLst/>
          </a:prstGeom>
          <a:noFill/>
          <a:ln/>
        </p:spPr>
        <p:txBody>
          <a:bodyPr wrap="square" lIns="0" tIns="0" rIns="0" bIns="0" rtlCol="0" anchor="ctr"/>
          <a:lstStyle/>
          <a:p>
            <a:pPr indent="0" marL="0">
              <a:buNone/>
            </a:pPr>
            <a:r>
              <a:rPr lang="en-US" sz="2000" b="1" dirty="0">
                <a:solidFill>
                  <a:srgbClr val="13203A"/>
                </a:solidFill>
                <a:latin typeface="Cambria" pitchFamily="34" charset="0"/>
                <a:ea typeface="Cambria" pitchFamily="34" charset="-122"/>
                <a:cs typeface="Cambria" pitchFamily="34" charset="-120"/>
              </a:rPr>
              <a:t>Event-based</a:t>
            </a:r>
            <a:endParaRPr lang="en-US" sz="2000" dirty="0"/>
          </a:p>
          <a:p>
            <a:pPr indent="0" marL="0">
              <a:buNone/>
            </a:pPr>
            <a:r>
              <a:rPr lang="en-US" sz="1400" i="1" dirty="0">
                <a:solidFill>
                  <a:srgbClr val="2E5EAA"/>
                </a:solidFill>
              </a:rPr>
              <a:t>The first event to happen wins</a:t>
            </a:r>
            <a:endParaRPr lang="en-US" sz="2000" dirty="0"/>
          </a:p>
        </p:txBody>
      </p:sp>
      <p:sp>
        <p:nvSpPr>
          <p:cNvPr id="20" name="Text 18"/>
          <p:cNvSpPr txBox="1"/>
          <p:nvPr/>
        </p:nvSpPr>
        <p:spPr>
          <a:xfrm>
            <a:off x="8458200" y="2697480"/>
            <a:ext cx="2834640" cy="320040"/>
          </a:xfrm>
          <a:prstGeom prst="rect">
            <a:avLst/>
          </a:prstGeom>
          <a:noFill/>
          <a:ln/>
        </p:spPr>
        <p:txBody>
          <a:bodyPr wrap="square" lIns="0" tIns="0" rIns="0" bIns="0" rtlCol="0" anchor="ctr"/>
          <a:lstStyle/>
          <a:p>
            <a:pPr indent="0" marL="0">
              <a:buNone/>
            </a:pPr>
            <a:r>
              <a:rPr lang="en-US" sz="1400" b="1" dirty="0">
                <a:solidFill>
                  <a:srgbClr val="13203A"/>
                </a:solidFill>
              </a:rPr>
              <a:t>Used at</a:t>
            </a:r>
            <a:endParaRPr lang="en-US" sz="1400" dirty="0"/>
          </a:p>
        </p:txBody>
      </p:sp>
      <p:sp>
        <p:nvSpPr>
          <p:cNvPr id="21" name="Text 19"/>
          <p:cNvSpPr txBox="1"/>
          <p:nvPr/>
        </p:nvSpPr>
        <p:spPr>
          <a:xfrm>
            <a:off x="8458200" y="3063240"/>
            <a:ext cx="2834640" cy="2880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A4659"/>
                </a:solidFill>
              </a:rPr>
              <a:t>After Send offer</a:t>
            </a:r>
            <a:endParaRPr lang="en-US" sz="1400" dirty="0"/>
          </a:p>
          <a:p>
            <a:pPr marL="342900" indent="-342900">
              <a:spcAft>
                <a:spcPts val="600"/>
              </a:spcAft>
              <a:buSzPct val="100000"/>
              <a:buChar char="•"/>
            </a:pPr>
            <a:r>
              <a:rPr lang="en-US" sz="1400" dirty="0">
                <a:solidFill>
                  <a:srgbClr val="3A4659"/>
                </a:solidFill>
              </a:rPr>
              <a:t>Signed agreement received → disbursement</a:t>
            </a:r>
            <a:endParaRPr lang="en-US" sz="1400" dirty="0"/>
          </a:p>
          <a:p>
            <a:pPr marL="342900" indent="-342900">
              <a:spcAft>
                <a:spcPts val="600"/>
              </a:spcAft>
              <a:buSzPct val="100000"/>
              <a:buChar char="•"/>
            </a:pPr>
            <a:r>
              <a:rPr lang="en-US" sz="1400" dirty="0">
                <a:solidFill>
                  <a:srgbClr val="3A4659"/>
                </a:solidFill>
              </a:rPr>
              <a:t>Offer declined → end</a:t>
            </a:r>
            <a:endParaRPr lang="en-US" sz="1400" dirty="0"/>
          </a:p>
          <a:p>
            <a:pPr marL="342900" indent="-342900">
              <a:spcAft>
                <a:spcPts val="600"/>
              </a:spcAft>
              <a:buSzPct val="100000"/>
              <a:buChar char="•"/>
            </a:pPr>
            <a:r>
              <a:rPr lang="en-US" sz="1400" dirty="0">
                <a:solidFill>
                  <a:srgbClr val="3A4659"/>
                </a:solidFill>
              </a:rPr>
              <a:t>15 days (timer) → Offer expired</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Intermediate events used</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377440"/>
                <a:gridCol w="2743200"/>
                <a:gridCol w="2651760"/>
                <a:gridCol w="32918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Event</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Kind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Where it sits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What happens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7 days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Timer · boundary, interrupting</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Receive documents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No documents → Application lapsed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Bureau down</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Error · boundary, interrupting</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Get credit score</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Switch to Use backup bureau</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Payment failed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Error · boundary, interrupting</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Disburse funds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Fix bank details → retry or cancel</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Signed agreement received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Message · intermediate catch</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After the event-based gateway</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Continue to disbursement</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Offer declined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Message · intermediate catch</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After the event-based gateway</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End: Offer declined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3203A"/>
                          </a:solidFill>
                          <a:latin typeface="Calibri" pitchFamily="34" charset="0"/>
                          <a:ea typeface="Calibri" pitchFamily="34" charset="-122"/>
                          <a:cs typeface="Calibri" pitchFamily="34" charset="-120"/>
                        </a:rPr>
                        <a:t>15 days</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Timer · intermediate catch</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After the event-based gateway</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600" dirty="0">
                          <a:solidFill>
                            <a:srgbClr val="3A4659"/>
                          </a:solidFill>
                          <a:latin typeface="Calibri" pitchFamily="34" charset="0"/>
                          <a:ea typeface="Calibri" pitchFamily="34" charset="-122"/>
                          <a:cs typeface="Calibri" pitchFamily="34" charset="-120"/>
                        </a:rPr>
                        <a:t>End: Offer expired</a:t>
                      </a:r>
                      <a:endParaRPr lang="en-US" sz="16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bl>
          </a:graphicData>
        </a:graphic>
      </p:graphicFrame>
      <p:sp>
        <p:nvSpPr>
          <p:cNvPr id="4" name="Text 1"/>
          <p:cNvSpPr txBox="1"/>
          <p:nvPr/>
        </p:nvSpPr>
        <p:spPr>
          <a:xfrm>
            <a:off x="548640" y="5715000"/>
            <a:ext cx="11064240" cy="502920"/>
          </a:xfrm>
          <a:prstGeom prst="rect">
            <a:avLst/>
          </a:prstGeom>
          <a:noFill/>
          <a:ln/>
        </p:spPr>
        <p:txBody>
          <a:bodyPr wrap="square" lIns="0" tIns="0" rIns="0" bIns="0" rtlCol="0" anchor="t"/>
          <a:lstStyle/>
          <a:p>
            <a:pPr indent="0" marL="0">
              <a:buNone/>
            </a:pPr>
            <a:r>
              <a:rPr lang="en-US" sz="1300" i="1" dirty="0">
                <a:solidFill>
                  <a:srgbClr val="5D6778"/>
                </a:solidFill>
              </a:rPr>
              <a:t>Also in the model: a message start event (Application received), a message start event for the withdrawal event sub-process, a terminate end event (Rejected – fraud) and seven other end events.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Critical path (happy path)</a:t>
            </a:r>
            <a:endParaRPr lang="en-US" sz="32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600" dirty="0">
                <a:solidFill>
                  <a:srgbClr val="3A4659"/>
                </a:solidFill>
              </a:rPr>
              <a:t>The route an application takes when nothing goes wrong: every check passes and the applicant signs.</a:t>
            </a:r>
            <a:endParaRPr lang="en-US" sz="1600" dirty="0"/>
          </a:p>
        </p:txBody>
      </p:sp>
      <p:sp>
        <p:nvSpPr>
          <p:cNvPr id="4" name="start event"/>
          <p:cNvSpPr/>
          <p:nvPr/>
        </p:nvSpPr>
        <p:spPr>
          <a:xfrm>
            <a:off x="548640" y="2811780"/>
            <a:ext cx="457200" cy="457200"/>
          </a:xfrm>
          <a:prstGeom prst="ellipse">
            <a:avLst/>
          </a:prstGeom>
          <a:solidFill>
            <a:srgbClr val="FFFFFF"/>
          </a:solidFill>
          <a:ln w="19050">
            <a:solidFill>
              <a:srgbClr val="13203A"/>
            </a:solidFill>
            <a:prstDash val="solid"/>
          </a:ln>
        </p:spPr>
      </p:sp>
      <p:sp>
        <p:nvSpPr>
          <p:cNvPr id="5" name="Text 3"/>
          <p:cNvSpPr txBox="1"/>
          <p:nvPr/>
        </p:nvSpPr>
        <p:spPr>
          <a:xfrm>
            <a:off x="320040" y="2263140"/>
            <a:ext cx="914400" cy="502920"/>
          </a:xfrm>
          <a:prstGeom prst="rect">
            <a:avLst/>
          </a:prstGeom>
          <a:noFill/>
          <a:ln/>
        </p:spPr>
        <p:txBody>
          <a:bodyPr wrap="square" lIns="0" tIns="0" rIns="0" bIns="0" rtlCol="0" anchor="b"/>
          <a:lstStyle/>
          <a:p>
            <a:pPr algn="ctr" indent="0" marL="0">
              <a:buNone/>
            </a:pPr>
            <a:r>
              <a:rPr lang="en-US" sz="1100" dirty="0">
                <a:solidFill>
                  <a:srgbClr val="5D6778"/>
                </a:solidFill>
              </a:rPr>
              <a:t>Application received</a:t>
            </a:r>
            <a:endParaRPr lang="en-US" sz="1100" dirty="0"/>
          </a:p>
        </p:txBody>
      </p:sp>
      <p:sp>
        <p:nvSpPr>
          <p:cNvPr id="6" name="Shape 4"/>
          <p:cNvSpPr/>
          <p:nvPr/>
        </p:nvSpPr>
        <p:spPr>
          <a:xfrm>
            <a:off x="1005840" y="3040380"/>
            <a:ext cx="274320" cy="0"/>
          </a:xfrm>
          <a:prstGeom prst="line">
            <a:avLst/>
          </a:prstGeom>
          <a:noFill/>
          <a:ln w="19050">
            <a:solidFill>
              <a:srgbClr val="5D6778"/>
            </a:solidFill>
            <a:prstDash val="solid"/>
            <a:tailEnd type="triangle"/>
          </a:ln>
        </p:spPr>
      </p:sp>
      <p:sp>
        <p:nvSpPr>
          <p:cNvPr id="7" name="step 1"/>
          <p:cNvSpPr/>
          <p:nvPr/>
        </p:nvSpPr>
        <p:spPr>
          <a:xfrm>
            <a:off x="1280160" y="2423160"/>
            <a:ext cx="1371600" cy="1234440"/>
          </a:xfrm>
          <a:prstGeom prst="roundRect">
            <a:avLst>
              <a:gd name="adj" fmla="val 7407"/>
            </a:avLst>
          </a:prstGeom>
          <a:solidFill>
            <a:srgbClr val="FFFFFF"/>
          </a:solidFill>
          <a:ln w="22225">
            <a:solidFill>
              <a:srgbClr val="2E5EAA"/>
            </a:solidFill>
          </a:ln>
        </p:spPr>
        <p:txBody>
          <a:bodyPr wrap="square" lIns="50800" tIns="50800" rIns="50800" bIns="50800" rtlCol="0" anchor="ctr"/>
          <a:lstStyle/>
          <a:p>
            <a:pPr algn="ctr" indent="0" marL="0">
              <a:buNone/>
            </a:pPr>
            <a:r>
              <a:rPr lang="en-US" sz="1300" b="1" dirty="0">
                <a:solidFill>
                  <a:srgbClr val="13203A"/>
                </a:solidFill>
              </a:rPr>
              <a:t>Check eligibility</a:t>
            </a:r>
            <a:endParaRPr lang="en-US" sz="1300" dirty="0"/>
          </a:p>
        </p:txBody>
      </p:sp>
      <p:sp>
        <p:nvSpPr>
          <p:cNvPr id="8" name="step number 1"/>
          <p:cNvSpPr/>
          <p:nvPr/>
        </p:nvSpPr>
        <p:spPr>
          <a:xfrm>
            <a:off x="1783080" y="1920240"/>
            <a:ext cx="365760" cy="365760"/>
          </a:xfrm>
          <a:prstGeom prst="ellipse">
            <a:avLst/>
          </a:prstGeom>
          <a:solidFill>
            <a:srgbClr val="2E5EAA"/>
          </a:solidFill>
          <a:ln>
            <a:solidFill>
              <a:srgbClr val="2E5EAA"/>
            </a:solid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9" name="Text 7"/>
          <p:cNvSpPr txBox="1"/>
          <p:nvPr/>
        </p:nvSpPr>
        <p:spPr>
          <a:xfrm>
            <a:off x="1234440" y="3749040"/>
            <a:ext cx="1463040" cy="548640"/>
          </a:xfrm>
          <a:prstGeom prst="rect">
            <a:avLst/>
          </a:prstGeom>
          <a:noFill/>
          <a:ln/>
        </p:spPr>
        <p:txBody>
          <a:bodyPr wrap="square" lIns="0" tIns="0" rIns="0" bIns="0" rtlCol="0" anchor="t"/>
          <a:lstStyle/>
          <a:p>
            <a:pPr algn="ctr" indent="0" marL="0">
              <a:buNone/>
            </a:pPr>
            <a:r>
              <a:rPr lang="en-US" sz="1100" i="1" dirty="0">
                <a:solidFill>
                  <a:srgbClr val="5D6778"/>
                </a:solidFill>
              </a:rPr>
              <a:t>Core Banking</a:t>
            </a:r>
            <a:endParaRPr lang="en-US" sz="1100" dirty="0"/>
          </a:p>
        </p:txBody>
      </p:sp>
      <p:sp>
        <p:nvSpPr>
          <p:cNvPr id="10" name="Shape 8"/>
          <p:cNvSpPr/>
          <p:nvPr/>
        </p:nvSpPr>
        <p:spPr>
          <a:xfrm>
            <a:off x="2651760" y="3040380"/>
            <a:ext cx="274320" cy="0"/>
          </a:xfrm>
          <a:prstGeom prst="line">
            <a:avLst/>
          </a:prstGeom>
          <a:noFill/>
          <a:ln w="19050">
            <a:solidFill>
              <a:srgbClr val="5D6778"/>
            </a:solidFill>
            <a:prstDash val="solid"/>
            <a:tailEnd type="triangle"/>
          </a:ln>
        </p:spPr>
      </p:sp>
      <p:sp>
        <p:nvSpPr>
          <p:cNvPr id="11" name="step 2"/>
          <p:cNvSpPr/>
          <p:nvPr/>
        </p:nvSpPr>
        <p:spPr>
          <a:xfrm>
            <a:off x="2926080" y="2423160"/>
            <a:ext cx="1371600" cy="1234440"/>
          </a:xfrm>
          <a:prstGeom prst="roundRect">
            <a:avLst>
              <a:gd name="adj" fmla="val 7407"/>
            </a:avLst>
          </a:prstGeom>
          <a:solidFill>
            <a:srgbClr val="EEF1F5"/>
          </a:solidFill>
          <a:ln w="22225">
            <a:solidFill>
              <a:srgbClr val="2E5EAA"/>
            </a:solidFill>
          </a:ln>
        </p:spPr>
        <p:txBody>
          <a:bodyPr wrap="square" lIns="50800" tIns="50800" rIns="50800" bIns="50800" rtlCol="0" anchor="ctr"/>
          <a:lstStyle/>
          <a:p>
            <a:pPr algn="ctr" indent="0" marL="0">
              <a:buNone/>
            </a:pPr>
            <a:r>
              <a:rPr lang="en-US" sz="1300" b="1" dirty="0">
                <a:solidFill>
                  <a:srgbClr val="13203A"/>
                </a:solidFill>
              </a:rPr>
              <a:t>Credit score ∥ KYC ∥ AML</a:t>
            </a:r>
            <a:endParaRPr lang="en-US" sz="1300" dirty="0"/>
          </a:p>
        </p:txBody>
      </p:sp>
      <p:sp>
        <p:nvSpPr>
          <p:cNvPr id="12" name="step number 2"/>
          <p:cNvSpPr/>
          <p:nvPr/>
        </p:nvSpPr>
        <p:spPr>
          <a:xfrm>
            <a:off x="3429000" y="1920240"/>
            <a:ext cx="365760" cy="365760"/>
          </a:xfrm>
          <a:prstGeom prst="ellipse">
            <a:avLst/>
          </a:prstGeom>
          <a:solidFill>
            <a:srgbClr val="2E5EAA"/>
          </a:solidFill>
          <a:ln>
            <a:solidFill>
              <a:srgbClr val="2E5EAA"/>
            </a:solid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3" name="Text 11"/>
          <p:cNvSpPr txBox="1"/>
          <p:nvPr/>
        </p:nvSpPr>
        <p:spPr>
          <a:xfrm>
            <a:off x="2880360" y="3749040"/>
            <a:ext cx="1463040" cy="548640"/>
          </a:xfrm>
          <a:prstGeom prst="rect">
            <a:avLst/>
          </a:prstGeom>
          <a:noFill/>
          <a:ln/>
        </p:spPr>
        <p:txBody>
          <a:bodyPr wrap="square" lIns="0" tIns="0" rIns="0" bIns="0" rtlCol="0" anchor="t"/>
          <a:lstStyle/>
          <a:p>
            <a:pPr algn="ctr" indent="0" marL="0">
              <a:buNone/>
            </a:pPr>
            <a:r>
              <a:rPr lang="en-US" sz="1100" i="1" dirty="0">
                <a:solidFill>
                  <a:srgbClr val="5D6778"/>
                </a:solidFill>
              </a:rPr>
              <a:t>Core Banking + Compliance</a:t>
            </a:r>
            <a:endParaRPr lang="en-US" sz="1100" dirty="0"/>
          </a:p>
        </p:txBody>
      </p:sp>
      <p:sp>
        <p:nvSpPr>
          <p:cNvPr id="14" name="Shape 12"/>
          <p:cNvSpPr/>
          <p:nvPr/>
        </p:nvSpPr>
        <p:spPr>
          <a:xfrm>
            <a:off x="4297680" y="3040380"/>
            <a:ext cx="274320" cy="0"/>
          </a:xfrm>
          <a:prstGeom prst="line">
            <a:avLst/>
          </a:prstGeom>
          <a:noFill/>
          <a:ln w="19050">
            <a:solidFill>
              <a:srgbClr val="5D6778"/>
            </a:solidFill>
            <a:prstDash val="solid"/>
            <a:tailEnd type="triangle"/>
          </a:ln>
        </p:spPr>
      </p:sp>
      <p:sp>
        <p:nvSpPr>
          <p:cNvPr id="15" name="step 3"/>
          <p:cNvSpPr/>
          <p:nvPr/>
        </p:nvSpPr>
        <p:spPr>
          <a:xfrm>
            <a:off x="4572000" y="2423160"/>
            <a:ext cx="1371600" cy="1234440"/>
          </a:xfrm>
          <a:prstGeom prst="roundRect">
            <a:avLst>
              <a:gd name="adj" fmla="val 7407"/>
            </a:avLst>
          </a:prstGeom>
          <a:solidFill>
            <a:srgbClr val="FFFFFF"/>
          </a:solidFill>
          <a:ln w="22225">
            <a:solidFill>
              <a:srgbClr val="2E5EAA"/>
            </a:solidFill>
          </a:ln>
        </p:spPr>
        <p:txBody>
          <a:bodyPr wrap="square" lIns="50800" tIns="50800" rIns="50800" bIns="50800" rtlCol="0" anchor="ctr"/>
          <a:lstStyle/>
          <a:p>
            <a:pPr algn="ctr" indent="0" marL="0">
              <a:buNone/>
            </a:pPr>
            <a:r>
              <a:rPr lang="en-US" sz="1300" b="1" dirty="0">
                <a:solidFill>
                  <a:srgbClr val="13203A"/>
                </a:solidFill>
              </a:rPr>
              <a:t>Underwrite application</a:t>
            </a:r>
            <a:endParaRPr lang="en-US" sz="1300" dirty="0"/>
          </a:p>
        </p:txBody>
      </p:sp>
      <p:sp>
        <p:nvSpPr>
          <p:cNvPr id="16" name="step number 3"/>
          <p:cNvSpPr/>
          <p:nvPr/>
        </p:nvSpPr>
        <p:spPr>
          <a:xfrm>
            <a:off x="5074920" y="1920240"/>
            <a:ext cx="365760" cy="365760"/>
          </a:xfrm>
          <a:prstGeom prst="ellipse">
            <a:avLst/>
          </a:prstGeom>
          <a:solidFill>
            <a:srgbClr val="2E5EAA"/>
          </a:solidFill>
          <a:ln>
            <a:solidFill>
              <a:srgbClr val="2E5EAA"/>
            </a:solid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7" name="Text 15"/>
          <p:cNvSpPr txBox="1"/>
          <p:nvPr/>
        </p:nvSpPr>
        <p:spPr>
          <a:xfrm>
            <a:off x="4526280" y="3749040"/>
            <a:ext cx="1463040" cy="548640"/>
          </a:xfrm>
          <a:prstGeom prst="rect">
            <a:avLst/>
          </a:prstGeom>
          <a:noFill/>
          <a:ln/>
        </p:spPr>
        <p:txBody>
          <a:bodyPr wrap="square" lIns="0" tIns="0" rIns="0" bIns="0" rtlCol="0" anchor="t"/>
          <a:lstStyle/>
          <a:p>
            <a:pPr algn="ctr" indent="0" marL="0">
              <a:buNone/>
            </a:pPr>
            <a:r>
              <a:rPr lang="en-US" sz="1100" i="1" dirty="0">
                <a:solidFill>
                  <a:srgbClr val="5D6778"/>
                </a:solidFill>
              </a:rPr>
              <a:t>Underwriter</a:t>
            </a:r>
            <a:endParaRPr lang="en-US" sz="1100" dirty="0"/>
          </a:p>
        </p:txBody>
      </p:sp>
      <p:sp>
        <p:nvSpPr>
          <p:cNvPr id="18" name="Shape 16"/>
          <p:cNvSpPr/>
          <p:nvPr/>
        </p:nvSpPr>
        <p:spPr>
          <a:xfrm>
            <a:off x="5943600" y="3040380"/>
            <a:ext cx="274320" cy="0"/>
          </a:xfrm>
          <a:prstGeom prst="line">
            <a:avLst/>
          </a:prstGeom>
          <a:noFill/>
          <a:ln w="19050">
            <a:solidFill>
              <a:srgbClr val="5D6778"/>
            </a:solidFill>
            <a:prstDash val="solid"/>
            <a:tailEnd type="triangle"/>
          </a:ln>
        </p:spPr>
      </p:sp>
      <p:sp>
        <p:nvSpPr>
          <p:cNvPr id="19" name="step 4"/>
          <p:cNvSpPr/>
          <p:nvPr/>
        </p:nvSpPr>
        <p:spPr>
          <a:xfrm>
            <a:off x="6217920" y="2423160"/>
            <a:ext cx="1371600" cy="1234440"/>
          </a:xfrm>
          <a:prstGeom prst="roundRect">
            <a:avLst>
              <a:gd name="adj" fmla="val 7407"/>
            </a:avLst>
          </a:prstGeom>
          <a:solidFill>
            <a:srgbClr val="FFFFFF"/>
          </a:solidFill>
          <a:ln w="22225">
            <a:solidFill>
              <a:srgbClr val="2E5EAA"/>
            </a:solidFill>
          </a:ln>
        </p:spPr>
        <p:txBody>
          <a:bodyPr wrap="square" lIns="50800" tIns="50800" rIns="50800" bIns="50800" rtlCol="0" anchor="ctr"/>
          <a:lstStyle/>
          <a:p>
            <a:pPr algn="ctr" indent="0" marL="0">
              <a:buNone/>
            </a:pPr>
            <a:r>
              <a:rPr lang="en-US" sz="1300" b="1" dirty="0">
                <a:solidFill>
                  <a:srgbClr val="13203A"/>
                </a:solidFill>
              </a:rPr>
              <a:t>Send offer</a:t>
            </a:r>
            <a:endParaRPr lang="en-US" sz="1300" dirty="0"/>
          </a:p>
        </p:txBody>
      </p:sp>
      <p:sp>
        <p:nvSpPr>
          <p:cNvPr id="20" name="step number 4"/>
          <p:cNvSpPr/>
          <p:nvPr/>
        </p:nvSpPr>
        <p:spPr>
          <a:xfrm>
            <a:off x="6720840" y="1920240"/>
            <a:ext cx="365760" cy="365760"/>
          </a:xfrm>
          <a:prstGeom prst="ellipse">
            <a:avLst/>
          </a:prstGeom>
          <a:solidFill>
            <a:srgbClr val="2E5EAA"/>
          </a:solidFill>
          <a:ln>
            <a:solidFill>
              <a:srgbClr val="2E5EAA"/>
            </a:solid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1" name="Text 19"/>
          <p:cNvSpPr txBox="1"/>
          <p:nvPr/>
        </p:nvSpPr>
        <p:spPr>
          <a:xfrm>
            <a:off x="6172200" y="3749040"/>
            <a:ext cx="1463040" cy="548640"/>
          </a:xfrm>
          <a:prstGeom prst="rect">
            <a:avLst/>
          </a:prstGeom>
          <a:noFill/>
          <a:ln/>
        </p:spPr>
        <p:txBody>
          <a:bodyPr wrap="square" lIns="0" tIns="0" rIns="0" bIns="0" rtlCol="0" anchor="t"/>
          <a:lstStyle/>
          <a:p>
            <a:pPr algn="ctr" indent="0" marL="0">
              <a:buNone/>
            </a:pPr>
            <a:r>
              <a:rPr lang="en-US" sz="1100" i="1" dirty="0">
                <a:solidFill>
                  <a:srgbClr val="5D6778"/>
                </a:solidFill>
              </a:rPr>
              <a:t>Loan Officer</a:t>
            </a:r>
            <a:endParaRPr lang="en-US" sz="1100" dirty="0"/>
          </a:p>
        </p:txBody>
      </p:sp>
      <p:sp>
        <p:nvSpPr>
          <p:cNvPr id="22" name="Shape 20"/>
          <p:cNvSpPr/>
          <p:nvPr/>
        </p:nvSpPr>
        <p:spPr>
          <a:xfrm>
            <a:off x="7589520" y="3040380"/>
            <a:ext cx="274320" cy="0"/>
          </a:xfrm>
          <a:prstGeom prst="line">
            <a:avLst/>
          </a:prstGeom>
          <a:noFill/>
          <a:ln w="19050">
            <a:solidFill>
              <a:srgbClr val="5D6778"/>
            </a:solidFill>
            <a:prstDash val="solid"/>
            <a:tailEnd type="triangle"/>
          </a:ln>
        </p:spPr>
      </p:sp>
      <p:sp>
        <p:nvSpPr>
          <p:cNvPr id="23" name="step 5"/>
          <p:cNvSpPr/>
          <p:nvPr/>
        </p:nvSpPr>
        <p:spPr>
          <a:xfrm>
            <a:off x="7863840" y="2423160"/>
            <a:ext cx="1371600" cy="1234440"/>
          </a:xfrm>
          <a:prstGeom prst="roundRect">
            <a:avLst>
              <a:gd name="adj" fmla="val 7407"/>
            </a:avLst>
          </a:prstGeom>
          <a:solidFill>
            <a:srgbClr val="FFFFFF"/>
          </a:solidFill>
          <a:ln w="22225">
            <a:solidFill>
              <a:srgbClr val="2E5EAA"/>
            </a:solidFill>
          </a:ln>
        </p:spPr>
        <p:txBody>
          <a:bodyPr wrap="square" lIns="50800" tIns="50800" rIns="50800" bIns="50800" rtlCol="0" anchor="ctr"/>
          <a:lstStyle/>
          <a:p>
            <a:pPr algn="ctr" indent="0" marL="0">
              <a:buNone/>
            </a:pPr>
            <a:r>
              <a:rPr lang="en-US" sz="1300" b="1" dirty="0">
                <a:solidFill>
                  <a:srgbClr val="13203A"/>
                </a:solidFill>
              </a:rPr>
              <a:t>Signed agreement received</a:t>
            </a:r>
            <a:endParaRPr lang="en-US" sz="1300" dirty="0"/>
          </a:p>
        </p:txBody>
      </p:sp>
      <p:sp>
        <p:nvSpPr>
          <p:cNvPr id="24" name="step number 5"/>
          <p:cNvSpPr/>
          <p:nvPr/>
        </p:nvSpPr>
        <p:spPr>
          <a:xfrm>
            <a:off x="8366760" y="1920240"/>
            <a:ext cx="365760" cy="365760"/>
          </a:xfrm>
          <a:prstGeom prst="ellipse">
            <a:avLst/>
          </a:prstGeom>
          <a:solidFill>
            <a:srgbClr val="2E5EAA"/>
          </a:solidFill>
          <a:ln>
            <a:solidFill>
              <a:srgbClr val="2E5EAA"/>
            </a:solid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25" name="Text 23"/>
          <p:cNvSpPr txBox="1"/>
          <p:nvPr/>
        </p:nvSpPr>
        <p:spPr>
          <a:xfrm>
            <a:off x="7818120" y="3749040"/>
            <a:ext cx="1463040" cy="548640"/>
          </a:xfrm>
          <a:prstGeom prst="rect">
            <a:avLst/>
          </a:prstGeom>
          <a:noFill/>
          <a:ln/>
        </p:spPr>
        <p:txBody>
          <a:bodyPr wrap="square" lIns="0" tIns="0" rIns="0" bIns="0" rtlCol="0" anchor="t"/>
          <a:lstStyle/>
          <a:p>
            <a:pPr algn="ctr" indent="0" marL="0">
              <a:buNone/>
            </a:pPr>
            <a:r>
              <a:rPr lang="en-US" sz="1100" i="1" dirty="0">
                <a:solidFill>
                  <a:srgbClr val="5D6778"/>
                </a:solidFill>
              </a:rPr>
              <a:t>Loan Officer</a:t>
            </a:r>
            <a:endParaRPr lang="en-US" sz="1100" dirty="0"/>
          </a:p>
        </p:txBody>
      </p:sp>
      <p:sp>
        <p:nvSpPr>
          <p:cNvPr id="26" name="Shape 24"/>
          <p:cNvSpPr/>
          <p:nvPr/>
        </p:nvSpPr>
        <p:spPr>
          <a:xfrm>
            <a:off x="9235440" y="3040380"/>
            <a:ext cx="274320" cy="0"/>
          </a:xfrm>
          <a:prstGeom prst="line">
            <a:avLst/>
          </a:prstGeom>
          <a:noFill/>
          <a:ln w="19050">
            <a:solidFill>
              <a:srgbClr val="5D6778"/>
            </a:solidFill>
            <a:prstDash val="solid"/>
            <a:tailEnd type="triangle"/>
          </a:ln>
        </p:spPr>
      </p:sp>
      <p:sp>
        <p:nvSpPr>
          <p:cNvPr id="27" name="step 6"/>
          <p:cNvSpPr/>
          <p:nvPr/>
        </p:nvSpPr>
        <p:spPr>
          <a:xfrm>
            <a:off x="9509760" y="2423160"/>
            <a:ext cx="1371600" cy="1234440"/>
          </a:xfrm>
          <a:prstGeom prst="roundRect">
            <a:avLst>
              <a:gd name="adj" fmla="val 7407"/>
            </a:avLst>
          </a:prstGeom>
          <a:solidFill>
            <a:srgbClr val="FFFFFF"/>
          </a:solidFill>
          <a:ln w="22225">
            <a:solidFill>
              <a:srgbClr val="2E5EAA"/>
            </a:solidFill>
          </a:ln>
        </p:spPr>
        <p:txBody>
          <a:bodyPr wrap="square" lIns="50800" tIns="50800" rIns="50800" bIns="50800" rtlCol="0" anchor="ctr"/>
          <a:lstStyle/>
          <a:p>
            <a:pPr algn="ctr" indent="0" marL="0">
              <a:buNone/>
            </a:pPr>
            <a:r>
              <a:rPr lang="en-US" sz="1300" b="1" dirty="0">
                <a:solidFill>
                  <a:srgbClr val="13203A"/>
                </a:solidFill>
              </a:rPr>
              <a:t>Disburse funds + confirm</a:t>
            </a:r>
            <a:endParaRPr lang="en-US" sz="1300" dirty="0"/>
          </a:p>
        </p:txBody>
      </p:sp>
      <p:sp>
        <p:nvSpPr>
          <p:cNvPr id="28" name="step number 6"/>
          <p:cNvSpPr/>
          <p:nvPr/>
        </p:nvSpPr>
        <p:spPr>
          <a:xfrm>
            <a:off x="10012680" y="1920240"/>
            <a:ext cx="365760" cy="365760"/>
          </a:xfrm>
          <a:prstGeom prst="ellipse">
            <a:avLst/>
          </a:prstGeom>
          <a:solidFill>
            <a:srgbClr val="2E5EAA"/>
          </a:solidFill>
          <a:ln>
            <a:solidFill>
              <a:srgbClr val="2E5EAA"/>
            </a:solid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29" name="Text 27"/>
          <p:cNvSpPr txBox="1"/>
          <p:nvPr/>
        </p:nvSpPr>
        <p:spPr>
          <a:xfrm>
            <a:off x="9464040" y="3749040"/>
            <a:ext cx="1463040" cy="548640"/>
          </a:xfrm>
          <a:prstGeom prst="rect">
            <a:avLst/>
          </a:prstGeom>
          <a:noFill/>
          <a:ln/>
        </p:spPr>
        <p:txBody>
          <a:bodyPr wrap="square" lIns="0" tIns="0" rIns="0" bIns="0" rtlCol="0" anchor="t"/>
          <a:lstStyle/>
          <a:p>
            <a:pPr algn="ctr" indent="0" marL="0">
              <a:buNone/>
            </a:pPr>
            <a:r>
              <a:rPr lang="en-US" sz="1100" i="1" dirty="0">
                <a:solidFill>
                  <a:srgbClr val="5D6778"/>
                </a:solidFill>
              </a:rPr>
              <a:t>Operations + Loan Officer</a:t>
            </a:r>
            <a:endParaRPr lang="en-US" sz="1100" dirty="0"/>
          </a:p>
        </p:txBody>
      </p:sp>
      <p:sp>
        <p:nvSpPr>
          <p:cNvPr id="30" name="Shape 28"/>
          <p:cNvSpPr/>
          <p:nvPr/>
        </p:nvSpPr>
        <p:spPr>
          <a:xfrm>
            <a:off x="10881360" y="3040380"/>
            <a:ext cx="274320" cy="0"/>
          </a:xfrm>
          <a:prstGeom prst="line">
            <a:avLst/>
          </a:prstGeom>
          <a:noFill/>
          <a:ln w="19050">
            <a:solidFill>
              <a:srgbClr val="5D6778"/>
            </a:solidFill>
            <a:prstDash val="solid"/>
            <a:tailEnd type="triangle"/>
          </a:ln>
        </p:spPr>
      </p:sp>
      <p:sp>
        <p:nvSpPr>
          <p:cNvPr id="31" name="end event"/>
          <p:cNvSpPr/>
          <p:nvPr/>
        </p:nvSpPr>
        <p:spPr>
          <a:xfrm>
            <a:off x="11155680" y="2811780"/>
            <a:ext cx="457200" cy="457200"/>
          </a:xfrm>
          <a:prstGeom prst="ellipse">
            <a:avLst/>
          </a:prstGeom>
          <a:solidFill>
            <a:srgbClr val="FFFFFF"/>
          </a:solidFill>
          <a:ln w="50800">
            <a:solidFill>
              <a:srgbClr val="13203A"/>
            </a:solidFill>
            <a:prstDash val="solid"/>
          </a:ln>
        </p:spPr>
      </p:sp>
      <p:sp>
        <p:nvSpPr>
          <p:cNvPr id="32" name="Text 30"/>
          <p:cNvSpPr txBox="1"/>
          <p:nvPr/>
        </p:nvSpPr>
        <p:spPr>
          <a:xfrm>
            <a:off x="10881360" y="2263140"/>
            <a:ext cx="1005840" cy="502920"/>
          </a:xfrm>
          <a:prstGeom prst="rect">
            <a:avLst/>
          </a:prstGeom>
          <a:noFill/>
          <a:ln/>
        </p:spPr>
        <p:txBody>
          <a:bodyPr wrap="square" lIns="0" tIns="0" rIns="0" bIns="0" rtlCol="0" anchor="b"/>
          <a:lstStyle/>
          <a:p>
            <a:pPr algn="ctr" indent="0" marL="0">
              <a:buNone/>
            </a:pPr>
            <a:r>
              <a:rPr lang="en-US" sz="1100" dirty="0">
                <a:solidFill>
                  <a:srgbClr val="5D6778"/>
                </a:solidFill>
              </a:rPr>
              <a:t>Loan disbursed</a:t>
            </a:r>
            <a:endParaRPr lang="en-US" sz="1100" dirty="0"/>
          </a:p>
        </p:txBody>
      </p:sp>
      <p:sp>
        <p:nvSpPr>
          <p:cNvPr id="33" name="critical path note"/>
          <p:cNvSpPr/>
          <p:nvPr/>
        </p:nvSpPr>
        <p:spPr>
          <a:xfrm>
            <a:off x="548640" y="4572000"/>
            <a:ext cx="11064240" cy="1463040"/>
          </a:xfrm>
          <a:prstGeom prst="roundRect">
            <a:avLst>
              <a:gd name="adj" fmla="val 7500"/>
            </a:avLst>
          </a:prstGeom>
          <a:solidFill>
            <a:srgbClr val="EEF1F5"/>
          </a:solidFill>
          <a:ln w="12700">
            <a:solidFill>
              <a:srgbClr val="EEF1F5"/>
            </a:solidFill>
            <a:prstDash val="solid"/>
          </a:ln>
        </p:spPr>
      </p:sp>
      <p:sp>
        <p:nvSpPr>
          <p:cNvPr id="34" name="Text 32"/>
          <p:cNvSpPr txBox="1"/>
          <p:nvPr/>
        </p:nvSpPr>
        <p:spPr>
          <a:xfrm>
            <a:off x="822960" y="4709160"/>
            <a:ext cx="10515600" cy="1188720"/>
          </a:xfrm>
          <a:prstGeom prst="rect">
            <a:avLst/>
          </a:prstGeom>
          <a:noFill/>
          <a:ln/>
        </p:spPr>
        <p:txBody>
          <a:bodyPr wrap="square" lIns="0" tIns="0" rIns="0" bIns="0" rtlCol="0" anchor="ctr"/>
          <a:lstStyle/>
          <a:p>
            <a:pPr marL="342900" indent="-342900">
              <a:spcAft>
                <a:spcPts val="400"/>
              </a:spcAft>
              <a:buSzPct val="100000"/>
              <a:buChar char="•"/>
            </a:pPr>
            <a:r>
              <a:rPr lang="en-US" sz="1500" dirty="0">
                <a:solidFill>
                  <a:srgbClr val="3A4659"/>
                </a:solidFill>
              </a:rPr>
              <a:t>Gateway choices on this path: Eligible? = OK · Checks passed? = Clear · Approved? = Yes · Signed agreement first</a:t>
            </a:r>
            <a:endParaRPr lang="en-US" sz="1500" dirty="0"/>
          </a:p>
          <a:p>
            <a:pPr marL="342900" indent="-342900">
              <a:spcAft>
                <a:spcPts val="400"/>
              </a:spcAft>
              <a:buSzPct val="100000"/>
              <a:buChar char="•"/>
            </a:pPr>
            <a:r>
              <a:rPr lang="en-US" sz="1500" dirty="0">
                <a:solidFill>
                  <a:srgbClr val="3A4659"/>
                </a:solidFill>
              </a:rPr>
              <a:t>Step 2 is a parallel split (shaded): three independent checks run together</a:t>
            </a:r>
            <a:endParaRPr lang="en-US" sz="1500" dirty="0"/>
          </a:p>
          <a:p>
            <a:pPr marL="342900" indent="-342900">
              <a:spcAft>
                <a:spcPts val="400"/>
              </a:spcAft>
              <a:buSzPct val="100000"/>
              <a:buChar char="•"/>
            </a:pPr>
            <a:r>
              <a:rPr lang="en-US" sz="1500" dirty="0">
                <a:solidFill>
                  <a:srgbClr val="3A4659"/>
                </a:solidFill>
              </a:rPr>
              <a:t>Every other route through the diagram is an alternate path (next slide)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rgbClr val="13203A"/>
                </a:solidFill>
                <a:latin typeface="Cambria" pitchFamily="34" charset="0"/>
                <a:ea typeface="Cambria" pitchFamily="34" charset="-122"/>
                <a:cs typeface="Cambria" pitchFamily="34" charset="-120"/>
              </a:rPr>
              <a:t>Alternate paths (exceptions)</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926080"/>
                <a:gridCol w="5212080"/>
                <a:gridCol w="2926080"/>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When this happens</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Alternate path in the diagram</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Ends at</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13203A"/>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Documents missing</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Request documents → Receive documents (7-day timer)</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Loops back, or Application lapsed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Applicant not eligible</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Eligible? = Ineligible</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Application rejected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Credit bureau down</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Error boundary event → Use backup bureau</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Rejoins the parallel checks</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Identity (KYC) fails</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Checks passed? = KYC failed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Application rejected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AML / fraud alert</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Investigate alert → Fraud?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Rejected – fraud (terminate), or continue</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Underwriter declines</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Approved? = No</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Application rejected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Applicant declines offer</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Event-based gateway → Offer declined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Offer declined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No reply in 15 days</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Event-based gateway → 15-day timer</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Offer expired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Payment fails</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Error boundary event → Fix bank details → Retry?</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Retried, or Loan cancelled</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3203A"/>
                          </a:solidFill>
                          <a:latin typeface="Calibri" pitchFamily="34" charset="0"/>
                          <a:ea typeface="Calibri" pitchFamily="34" charset="-122"/>
                          <a:cs typeface="Calibri" pitchFamily="34" charset="-120"/>
                        </a:rPr>
                        <a:t>Applicant withdraws</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Interrupting event sub-process (message start)</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c>
                  <a:txBody>
                    <a:bodyPr/>
                    <a:lstStyle/>
                    <a:p>
                      <a:pPr indent="0" marL="0">
                        <a:buNone/>
                      </a:pPr>
                      <a:r>
                        <a:rPr lang="en-US" sz="1300" dirty="0">
                          <a:solidFill>
                            <a:srgbClr val="3A4659"/>
                          </a:solidFill>
                          <a:latin typeface="Calibri" pitchFamily="34" charset="0"/>
                          <a:ea typeface="Calibri" pitchFamily="34" charset="-122"/>
                          <a:cs typeface="Calibri" pitchFamily="34" charset="-120"/>
                        </a:rPr>
                        <a:t>Withdrawn</a:t>
                      </a:r>
                      <a:endParaRPr lang="en-US" sz="1300" dirty="0">
                        <a:latin typeface="Calibri" charset="0"/>
                        <a:ea typeface="Calibri" charset="0"/>
                        <a:cs typeface="Calibri" charset="0"/>
                      </a:endParaRPr>
                    </a:p>
                  </a:txBody>
                  <a:tcPr marL="101600" marR="101600" marT="50800" marB="50800" anchor="ctr">
                    <a:lnL w="9525" cap="flat" cmpd="sng" algn="ctr">
                      <a:solidFill>
                        <a:srgbClr val="DFE3EA"/>
                      </a:solidFill>
                      <a:prstDash val="solid"/>
                      <a:round/>
                      <a:headEnd type="none" w="med" len="med"/>
                      <a:tailEnd type="none" w="med" len="med"/>
                    </a:lnL>
                    <a:lnR w="9525" cap="flat" cmpd="sng" algn="ctr">
                      <a:solidFill>
                        <a:srgbClr val="DFE3EA"/>
                      </a:solidFill>
                      <a:prstDash val="solid"/>
                      <a:round/>
                      <a:headEnd type="none" w="med" len="med"/>
                      <a:tailEnd type="none" w="med" len="med"/>
                    </a:lnR>
                    <a:lnT w="9525" cap="flat" cmpd="sng" algn="ctr">
                      <a:solidFill>
                        <a:srgbClr val="DFE3EA"/>
                      </a:solidFill>
                      <a:prstDash val="solid"/>
                      <a:round/>
                      <a:headEnd type="none" w="med" len="med"/>
                      <a:tailEnd type="none" w="med" len="med"/>
                    </a:lnT>
                    <a:lnB w="9525" cap="flat" cmpd="sng" algn="ctr">
                      <a:solidFill>
                        <a:srgbClr val="DFE3EA"/>
                      </a:solidFill>
                      <a:prstDash val="solid"/>
                      <a:round/>
                      <a:headEnd type="none" w="med" len="med"/>
                      <a:tailEnd type="none" w="med" len="med"/>
                    </a:lnB>
                    <a:solidFill>
                      <a:srgbClr val="EEF1F5"/>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D67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10698480" cy="1554480"/>
          </a:xfrm>
          <a:prstGeom prst="rect">
            <a:avLst/>
          </a:prstGeom>
          <a:noFill/>
          <a:ln/>
        </p:spPr>
        <p:txBody>
          <a:bodyPr wrap="square" lIns="0" tIns="0" rIns="0" bIns="0"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Summary</a:t>
            </a:r>
            <a:endParaRPr lang="en-US" sz="4000" dirty="0"/>
          </a:p>
        </p:txBody>
      </p:sp>
      <p:sp>
        <p:nvSpPr>
          <p:cNvPr id="3" name="Text 0"/>
          <p:cNvSpPr/>
          <p:nvPr>
            <p:ph idx="101" type="body" hasCustomPrompt="1"/>
          </p:nvPr>
        </p:nvSpPr>
        <p:spPr>
          <a:xfrm>
            <a:off x="731520" y="3886200"/>
            <a:ext cx="10698480" cy="548640"/>
          </a:xfrm>
          <a:prstGeom prst="rect">
            <a:avLst/>
          </a:prstGeom>
          <a:noFill/>
          <a:ln/>
        </p:spPr>
        <p:txBody>
          <a:bodyPr wrap="square" lIns="0" tIns="0" rIns="0" bIns="0" rtlCol="0" anchor="t"/>
          <a:lstStyle/>
          <a:p>
            <a:pPr algn="l" indent="0" marL="0">
              <a:buNone/>
            </a:pPr>
            <a:r>
              <a:rPr lang="en-US" sz="2000" dirty="0">
                <a:solidFill>
                  <a:srgbClr val="8DB3EC"/>
                </a:solidFill>
                <a:latin typeface="Calibri" pitchFamily="34" charset="0"/>
                <a:ea typeface="Calibri" pitchFamily="34" charset="-122"/>
                <a:cs typeface="Calibri" pitchFamily="34" charset="-120"/>
              </a:rPr>
              <a:t>One critical path and ten alternate paths, each handled inside the diagram.</a:t>
            </a:r>
            <a:endParaRPr lang="en-US" sz="2000" dirty="0"/>
          </a:p>
        </p:txBody>
      </p:sp>
      <p:sp>
        <p:nvSpPr>
          <p:cNvPr id="4" name="Text 2"/>
          <p:cNvSpPr txBox="1"/>
          <p:nvPr/>
        </p:nvSpPr>
        <p:spPr>
          <a:xfrm>
            <a:off x="731520" y="4709160"/>
            <a:ext cx="2491740" cy="1188720"/>
          </a:xfrm>
          <a:prstGeom prst="rect">
            <a:avLst/>
          </a:prstGeom>
          <a:noFill/>
          <a:ln/>
        </p:spPr>
        <p:txBody>
          <a:bodyPr wrap="square" lIns="0" tIns="0" rIns="0" bIns="0" rtlCol="0" anchor="t"/>
          <a:lstStyle/>
          <a:p>
            <a:pPr indent="0" marL="0">
              <a:buNone/>
            </a:pPr>
            <a:r>
              <a:rPr lang="en-US" sz="4800" b="1" dirty="0">
                <a:solidFill>
                  <a:srgbClr val="8DB3EC"/>
                </a:solidFill>
                <a:latin typeface="Cambria" pitchFamily="34" charset="0"/>
                <a:ea typeface="Cambria" pitchFamily="34" charset="-122"/>
                <a:cs typeface="Cambria" pitchFamily="34" charset="-120"/>
              </a:rPr>
              <a:t>5</a:t>
            </a:r>
            <a:endParaRPr lang="en-US" sz="4800" dirty="0"/>
          </a:p>
          <a:p>
            <a:pPr indent="0" marL="0">
              <a:buNone/>
            </a:pPr>
            <a:r>
              <a:rPr lang="en-US" sz="1500" dirty="0">
                <a:solidFill>
                  <a:srgbClr val="C9D2E0"/>
                </a:solidFill>
              </a:rPr>
              <a:t>task types</a:t>
            </a:r>
            <a:endParaRPr lang="en-US" sz="4800" dirty="0"/>
          </a:p>
        </p:txBody>
      </p:sp>
      <p:sp>
        <p:nvSpPr>
          <p:cNvPr id="5" name="Text 3"/>
          <p:cNvSpPr txBox="1"/>
          <p:nvPr/>
        </p:nvSpPr>
        <p:spPr>
          <a:xfrm>
            <a:off x="3497580" y="4709160"/>
            <a:ext cx="2491740" cy="1188720"/>
          </a:xfrm>
          <a:prstGeom prst="rect">
            <a:avLst/>
          </a:prstGeom>
          <a:noFill/>
          <a:ln/>
        </p:spPr>
        <p:txBody>
          <a:bodyPr wrap="square" lIns="0" tIns="0" rIns="0" bIns="0" rtlCol="0" anchor="t"/>
          <a:lstStyle/>
          <a:p>
            <a:pPr indent="0" marL="0">
              <a:buNone/>
            </a:pPr>
            <a:r>
              <a:rPr lang="en-US" sz="4800" b="1" dirty="0">
                <a:solidFill>
                  <a:srgbClr val="8DB3EC"/>
                </a:solidFill>
                <a:latin typeface="Cambria" pitchFamily="34" charset="0"/>
                <a:ea typeface="Cambria" pitchFamily="34" charset="-122"/>
                <a:cs typeface="Cambria" pitchFamily="34" charset="-120"/>
              </a:rPr>
              <a:t>3</a:t>
            </a:r>
            <a:endParaRPr lang="en-US" sz="4800" dirty="0"/>
          </a:p>
          <a:p>
            <a:pPr indent="0" marL="0">
              <a:buNone/>
            </a:pPr>
            <a:r>
              <a:rPr lang="en-US" sz="1500" dirty="0">
                <a:solidFill>
                  <a:srgbClr val="C9D2E0"/>
                </a:solidFill>
              </a:rPr>
              <a:t>gateway types</a:t>
            </a:r>
            <a:endParaRPr lang="en-US" sz="4800" dirty="0"/>
          </a:p>
        </p:txBody>
      </p:sp>
      <p:sp>
        <p:nvSpPr>
          <p:cNvPr id="6" name="Text 4"/>
          <p:cNvSpPr txBox="1"/>
          <p:nvPr/>
        </p:nvSpPr>
        <p:spPr>
          <a:xfrm>
            <a:off x="6263640" y="4709160"/>
            <a:ext cx="2491740" cy="1188720"/>
          </a:xfrm>
          <a:prstGeom prst="rect">
            <a:avLst/>
          </a:prstGeom>
          <a:noFill/>
          <a:ln/>
        </p:spPr>
        <p:txBody>
          <a:bodyPr wrap="square" lIns="0" tIns="0" rIns="0" bIns="0" rtlCol="0" anchor="t"/>
          <a:lstStyle/>
          <a:p>
            <a:pPr indent="0" marL="0">
              <a:buNone/>
            </a:pPr>
            <a:r>
              <a:rPr lang="en-US" sz="4800" b="1" dirty="0">
                <a:solidFill>
                  <a:srgbClr val="8DB3EC"/>
                </a:solidFill>
                <a:latin typeface="Cambria" pitchFamily="34" charset="0"/>
                <a:ea typeface="Cambria" pitchFamily="34" charset="-122"/>
                <a:cs typeface="Cambria" pitchFamily="34" charset="-120"/>
              </a:rPr>
              <a:t>6</a:t>
            </a:r>
            <a:endParaRPr lang="en-US" sz="4800" dirty="0"/>
          </a:p>
          <a:p>
            <a:pPr indent="0" marL="0">
              <a:buNone/>
            </a:pPr>
            <a:r>
              <a:rPr lang="en-US" sz="1500" dirty="0">
                <a:solidFill>
                  <a:srgbClr val="C9D2E0"/>
                </a:solidFill>
              </a:rPr>
              <a:t>intermediate events</a:t>
            </a:r>
            <a:endParaRPr lang="en-US" sz="4800" dirty="0"/>
          </a:p>
        </p:txBody>
      </p:sp>
      <p:sp>
        <p:nvSpPr>
          <p:cNvPr id="7" name="Text 5"/>
          <p:cNvSpPr txBox="1"/>
          <p:nvPr/>
        </p:nvSpPr>
        <p:spPr>
          <a:xfrm>
            <a:off x="9029700" y="4709160"/>
            <a:ext cx="2491740" cy="1188720"/>
          </a:xfrm>
          <a:prstGeom prst="rect">
            <a:avLst/>
          </a:prstGeom>
          <a:noFill/>
          <a:ln/>
        </p:spPr>
        <p:txBody>
          <a:bodyPr wrap="square" lIns="0" tIns="0" rIns="0" bIns="0" rtlCol="0" anchor="t"/>
          <a:lstStyle/>
          <a:p>
            <a:pPr indent="0" marL="0">
              <a:buNone/>
            </a:pPr>
            <a:r>
              <a:rPr lang="en-US" sz="4800" b="1" dirty="0">
                <a:solidFill>
                  <a:srgbClr val="8DB3EC"/>
                </a:solidFill>
                <a:latin typeface="Cambria" pitchFamily="34" charset="0"/>
                <a:ea typeface="Cambria" pitchFamily="34" charset="-122"/>
                <a:cs typeface="Cambria" pitchFamily="34" charset="-120"/>
              </a:rPr>
              <a:t>10</a:t>
            </a:r>
            <a:endParaRPr lang="en-US" sz="4800" dirty="0"/>
          </a:p>
          <a:p>
            <a:pPr indent="0" marL="0">
              <a:buNone/>
            </a:pPr>
            <a:r>
              <a:rPr lang="en-US" sz="1500" dirty="0">
                <a:solidFill>
                  <a:srgbClr val="C9D2E0"/>
                </a:solidFill>
              </a:rPr>
              <a:t>alternate paths</a:t>
            </a:r>
            <a:endParaRPr lang="en-US" sz="4800" dirty="0"/>
          </a:p>
        </p:txBody>
      </p:sp>
      <p:sp>
        <p:nvSpPr>
          <p:cNvPr id="8" name="Text 6"/>
          <p:cNvSpPr txBox="1"/>
          <p:nvPr/>
        </p:nvSpPr>
        <p:spPr>
          <a:xfrm>
            <a:off x="731520" y="5989320"/>
            <a:ext cx="10698480" cy="457200"/>
          </a:xfrm>
          <a:prstGeom prst="rect">
            <a:avLst/>
          </a:prstGeom>
          <a:noFill/>
          <a:ln/>
        </p:spPr>
        <p:txBody>
          <a:bodyPr wrap="square" lIns="0" tIns="0" rIns="0" bIns="0" rtlCol="0" anchor="ctr"/>
          <a:lstStyle/>
          <a:p>
            <a:pPr indent="0" marL="0">
              <a:buNone/>
            </a:pPr>
            <a:r>
              <a:rPr lang="en-US" sz="2200" b="1" dirty="0">
                <a:solidFill>
                  <a:srgbClr val="8DB3EC"/>
                </a:solidFill>
                <a:latin typeface="Cambria" pitchFamily="34" charset="0"/>
                <a:ea typeface="Cambria" pitchFamily="34" charset="-122"/>
                <a:cs typeface="Cambria" pitchFamily="34" charset="-120"/>
              </a:rPr>
              <a:t>Thank you</a:t>
            </a:r>
            <a:endParaRPr lang="en-US" sz="2200" dirty="0"/>
          </a:p>
        </p:txBody>
      </p:sp>
    </p:spTree>
  </p:cSld>
  <p:clrMapOvr>
    <a:masterClrMapping/>
  </p:clrMapOvr>
</p:sld>
</file>

<file path=ppt/theme/theme1.xml><?xml version="1.0" encoding="utf-8"?>
<a:theme xmlns:a="http://schemas.openxmlformats.org/drawingml/2006/main" name="Loan BPMN">
  <a:themeElements>
    <a:clrScheme name="Loan BPMN">
      <a:dk1>
        <a:srgbClr val="13203A"/>
      </a:dk1>
      <a:lt1>
        <a:srgbClr val="FFFFFF"/>
      </a:lt1>
      <a:dk2>
        <a:srgbClr val="3A4659"/>
      </a:dk2>
      <a:lt2>
        <a:srgbClr val="EEF1F5"/>
      </a:lt2>
      <a:accent1>
        <a:srgbClr val="2E5EAA"/>
      </a:accent1>
      <a:accent2>
        <a:srgbClr val="8DB3EC"/>
      </a:accent2>
      <a:accent3>
        <a:srgbClr val="5D6778"/>
      </a:accent3>
      <a:accent4>
        <a:srgbClr val="DFE3EA"/>
      </a:accent4>
      <a:accent5>
        <a:srgbClr val="2E7D5B"/>
      </a:accent5>
      <a:accent6>
        <a:srgbClr val="7A4E96"/>
      </a:accent6>
      <a:hlink>
        <a:srgbClr val="2E5EAA"/>
      </a:hlink>
      <a:folHlink>
        <a:srgbClr val="5D6778"/>
      </a:folHlink>
    </a:clrScheme>
    <a:fontScheme name="Loan BPM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Loan Origination &amp; Approval System</dc:title>
  <dc:subject>BPMN 2.0 process model</dc:subject>
  <dc:creator>[Your name]</dc:creator>
  <cp:lastModifiedBy>[Your name]</cp:lastModifiedBy>
  <cp:revision>1</cp:revision>
  <dcterms:created xsi:type="dcterms:W3CDTF">2026-10-11T17:59:58Z</dcterms:created>
  <dcterms:modified xsi:type="dcterms:W3CDTF">2026-10-11T17:59:58Z</dcterms:modified>
</cp:coreProperties>
</file>