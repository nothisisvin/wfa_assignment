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assignment: a bank processes a loan application through checks, underwriting, the offer and disbursement. The question asks us to show every point where an application can stall, be rejected or be cancelled.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a bank handles personal and secured loans through document checks, identity verification, credit assessment, underwriting, the offer and disbursement. It starts when the application arrives and ends when the loan is disbursed, or the application is rejected, withdrawn or lapsed. The pills list the failure areas we had to 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diagram. Applicant and Credit Bureau are external pools; the bank has five lanes. The dotted box at the top is the withdrawal event sub-process.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task types, each with its BPMN marker. Check eligibility is a business rule task that uses a DMN table. The three user tasks need human judgement and have forms. Service tasks are automated calls: credit score, backup bureau, KYC, AML and disbursement. Send tasks send messages to the applicant, and Receive documents waits for the applicant with a seven-day timer.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gateway types. Exclusive gateways choose one path; Eligible? has three outcomes. The parallel gateway runs the credit, KYC and AML checks at the same time; the normal and backup credit paths are merged first so the join gets exactly three tokens. The event-based gateway after the offer waits for whichever happens first: the signed agreement, a decline, or the fifteen-day timer.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six decision gateways and the problem each one solves. Eligible? routes the DMN result three ways. Checks passed? looks at all three check results together, after the parallel join. Fraud? stops the process for confirmed fraud. Approved? applies the underwriter decision. The event-based gateway after the offer makes sure we never wait forever: whichever comes first, signed, declined or fifteen days, decides. Retry? decides what happens after a failed payment.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gateways shape the flow rather than make decisions. The parallel split runs the three checks at once and the join waits for all of them. The credit merge combines the normal and backup credit paths, so the parallel join always receives exactly three tokens and never deadlocks. The other merges let loops re-enter a step, documents and payment retry, or let several paths share one task, like the single rejection letter and the return to underwriting after a false alarm.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intermediate events. Boundary events: a seven-day timer on Receive documents, an error event when the credit bureau is down, and an error event when the payment fails. After the offer, two message catch events and a fifteen-day timer race through the event-based gateway. The crops show the payment retry and the document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critical path: application received, eligibility check, the three checks in parallel, underwriting, the signed offer, and disbursement. Every gateway takes its normal branch, and the process ends at Loan disbursed.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alternate paths, each with the BPMN symbol that handles it. Three end in the same rejection letter. The bureau outage recovers instead of failing. Confirmed fraud uses a terminate end event to stop everything. Withdrawal can happen at any stage, so it is an interrupting event sub-process.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five task types, three gateway types, six intermediate events, one critical path and ten alternate paths.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_TITLE">
    <p:bg>
      <p:bgPr>
        <a:solidFill>
          <a:srgbClr val="14222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914400" y="2514600"/>
            <a:ext cx="10332720" cy="1188720"/>
          </a:xfrm>
          <a:prstGeom prst="rect">
            <a:avLst/>
          </a:prstGeom>
          <a:noFill/>
          <a:ln/>
        </p:spPr>
        <p:txBody>
          <a:bodyPr wrap="square" rtlCol="0"/>
          <a:lstStyle>
            <a:lvl1pPr algn="ctr" indent="0" marL="0">
              <a:buNone/>
              <a:defRPr lang="en-US" sz="4600" b="1" dirty="0">
                <a:solidFill>
                  <a:srgbClr val="EEF3F5"/>
                </a:solidFill>
                <a:latin typeface="Cambria" pitchFamily="34" charset="0"/>
                <a:ea typeface="Cambria" pitchFamily="34" charset="-122"/>
                <a:cs typeface="Cambria" pitchFamily="34" charset="-120"/>
              </a:defRPr>
            </a:lvl1pPr>
          </a:lstStyle>
          <a:p>
            <a:pPr algn="ctr" indent="0" marL="0">
              <a:buNone/>
            </a:pPr>
            <a:endParaRPr lang="en-US" sz="4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_CONTENT">
    <p:bg>
      <p:bgPr>
        <a:solidFill>
          <a:srgbClr val="14222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417320" y="457200"/>
            <a:ext cx="9601200" cy="685800"/>
          </a:xfrm>
          <a:prstGeom prst="rect">
            <a:avLst/>
          </a:prstGeom>
          <a:noFill/>
          <a:ln/>
        </p:spPr>
        <p:txBody>
          <a:bodyPr wrap="square" rtlCol="0"/>
          <a:lstStyle>
            <a:lvl1pPr algn="l" indent="0" marL="0">
              <a:buNone/>
              <a:defRPr lang="en-US" sz="3000" b="1" dirty="0">
                <a:solidFill>
                  <a:srgbClr val="EEF3F5"/>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247120"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7BAC4"/>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7BAC4"/>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1.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1.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3.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2.png"/><Relationship Id="rId4" Type="http://schemas.openxmlformats.org/officeDocument/2006/relationships/image" Target="../media/image-8-4.png"/><Relationship Id="rId5" Type="http://schemas.openxmlformats.org/officeDocument/2006/relationships/image" Target="../media/image-8-1.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3.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2.png"/><Relationship Id="rId5" Type="http://schemas.openxmlformats.org/officeDocument/2006/relationships/image" Target="../media/image-10-5.png"/><Relationship Id="rId6" Type="http://schemas.openxmlformats.org/officeDocument/2006/relationships/image" Target="../media/image-10-2.png"/><Relationship Id="rId7" Type="http://schemas.openxmlformats.org/officeDocument/2006/relationships/image" Target="../media/image-10-7.png"/><Relationship Id="rId8" Type="http://schemas.openxmlformats.org/officeDocument/2006/relationships/image" Target="../media/image-10-1.png"/><Relationship Id="rId9" Type="http://schemas.openxmlformats.org/officeDocument/2006/relationships/image" Target="../media/image-10-3.png"/><Relationship Id="rId10" Type="http://schemas.openxmlformats.org/officeDocument/2006/relationships/image" Target="../media/image-10-10.png"/><Relationship Id="rId11" Type="http://schemas.openxmlformats.org/officeDocument/2006/relationships/slideLayout" Target="../slideLayouts/slideLayout3.xml"/><Relationship Id="rId1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Faint background of the loan diagram">    </p:cNvPr>
          <p:cNvPicPr>
            <a:picLocks noChangeAspect="1"/>
          </p:cNvPicPr>
          <p:nvPr/>
        </p:nvPicPr>
        <p:blipFill>
          <a:blip r:embed="rId1">
            <a:alphaModFix amt="18000"/>
          </a:blip>
          <a:stretch>
            <a:fillRect/>
          </a:stretch>
        </p:blipFill>
        <p:spPr>
          <a:xfrm>
            <a:off x="2863" y="182880"/>
            <a:ext cx="12185969" cy="6492240"/>
          </a:xfrm>
          <a:prstGeom prst="rect">
            <a:avLst/>
          </a:prstGeom>
        </p:spPr>
      </p:pic>
      <p:sp>
        <p:nvSpPr>
          <p:cNvPr id="3" name="Shape 0"/>
          <p:cNvSpPr/>
          <p:nvPr/>
        </p:nvSpPr>
        <p:spPr>
          <a:xfrm>
            <a:off x="1463040" y="1691640"/>
            <a:ext cx="9235440" cy="3383280"/>
          </a:xfrm>
          <a:prstGeom prst="roundRect">
            <a:avLst>
              <a:gd name="adj" fmla="val 5405"/>
            </a:avLst>
          </a:prstGeom>
          <a:solidFill>
            <a:srgbClr val="14222A">
              <a:alpha val="88000"/>
            </a:srgbClr>
          </a:solidFill>
          <a:ln w="12700">
            <a:solidFill>
              <a:srgbClr val="2E4A57"/>
            </a:solidFill>
            <a:prstDash val="solid"/>
          </a:ln>
        </p:spPr>
      </p:sp>
      <p:sp>
        <p:nvSpPr>
          <p:cNvPr id="4" name="Text 1"/>
          <p:cNvSpPr txBox="1"/>
          <p:nvPr/>
        </p:nvSpPr>
        <p:spPr>
          <a:xfrm>
            <a:off x="914400" y="2011680"/>
            <a:ext cx="10332720" cy="365760"/>
          </a:xfrm>
          <a:prstGeom prst="rect">
            <a:avLst/>
          </a:prstGeom>
          <a:noFill/>
          <a:ln/>
        </p:spPr>
        <p:txBody>
          <a:bodyPr wrap="square" lIns="0" tIns="0" rIns="0" bIns="0" rtlCol="0" anchor="t"/>
          <a:lstStyle/>
          <a:p>
            <a:pPr algn="ctr" indent="0" marL="0">
              <a:buNone/>
            </a:pPr>
            <a:r>
              <a:rPr lang="en-US" sz="1400" b="1" spc="400" kern="0" dirty="0">
                <a:solidFill>
                  <a:srgbClr val="4FD1C5"/>
                </a:solidFill>
                <a:latin typeface="Calibri" pitchFamily="34" charset="0"/>
                <a:ea typeface="Calibri" pitchFamily="34" charset="-122"/>
                <a:cs typeface="Calibri" pitchFamily="34" charset="-120"/>
              </a:rPr>
              <a:t>ASSIGNMENT 3</a:t>
            </a:r>
            <a:endParaRPr lang="en-US" sz="1400" dirty="0"/>
          </a:p>
        </p:txBody>
      </p:sp>
      <p:sp>
        <p:nvSpPr>
          <p:cNvPr id="5" name="Text 0"/>
          <p:cNvSpPr/>
          <p:nvPr>
            <p:ph idx="100" type="title" hasCustomPrompt="1"/>
          </p:nvPr>
        </p:nvSpPr>
        <p:spPr>
          <a:xfrm>
            <a:off x="914400" y="2514600"/>
            <a:ext cx="10332720" cy="1188720"/>
          </a:xfrm>
          <a:prstGeom prst="rect">
            <a:avLst/>
          </a:prstGeom>
          <a:noFill/>
          <a:ln/>
        </p:spPr>
        <p:txBody>
          <a:bodyPr wrap="square" lIns="0" tIns="0" rIns="0" bIns="0" rtlCol="0" anchor="ctr"/>
          <a:lstStyle/>
          <a:p>
            <a:pPr algn="ctr" indent="0" marL="0">
              <a:buNone/>
            </a:pPr>
            <a:r>
              <a:rPr lang="en-US" sz="4600" b="1" dirty="0">
                <a:solidFill>
                  <a:srgbClr val="EEF3F5"/>
                </a:solidFill>
                <a:latin typeface="Cambria" pitchFamily="34" charset="0"/>
                <a:ea typeface="Cambria" pitchFamily="34" charset="-122"/>
                <a:cs typeface="Cambria" pitchFamily="34" charset="-120"/>
              </a:rPr>
              <a:t>Loan Origination &amp; Approval System</a:t>
            </a:r>
            <a:endParaRPr lang="en-US" sz="4600" dirty="0"/>
          </a:p>
        </p:txBody>
      </p:sp>
      <p:sp>
        <p:nvSpPr>
          <p:cNvPr id="6" name="Text 3"/>
          <p:cNvSpPr txBox="1"/>
          <p:nvPr/>
        </p:nvSpPr>
        <p:spPr>
          <a:xfrm>
            <a:off x="914400" y="3794760"/>
            <a:ext cx="10332720" cy="411480"/>
          </a:xfrm>
          <a:prstGeom prst="rect">
            <a:avLst/>
          </a:prstGeom>
          <a:noFill/>
          <a:ln/>
        </p:spPr>
        <p:txBody>
          <a:bodyPr wrap="square" lIns="0" tIns="0" rIns="0" bIns="0" rtlCol="0" anchor="t"/>
          <a:lstStyle/>
          <a:p>
            <a:pPr algn="ctr" indent="0" marL="0">
              <a:buNone/>
            </a:pPr>
            <a:r>
              <a:rPr lang="en-US" sz="1800" dirty="0">
                <a:solidFill>
                  <a:srgbClr val="A7BAC4"/>
                </a:solidFill>
                <a:latin typeface="Calibri" pitchFamily="34" charset="0"/>
                <a:ea typeface="Calibri" pitchFamily="34" charset="-122"/>
                <a:cs typeface="Calibri" pitchFamily="34" charset="-120"/>
              </a:rPr>
              <a:t>From application to disbursement, with every point where it can stop</a:t>
            </a:r>
            <a:endParaRPr lang="en-US" sz="1800" dirty="0"/>
          </a:p>
        </p:txBody>
      </p:sp>
      <p:pic>
        <p:nvPicPr>
          <p:cNvPr id="7" name="Image 1" descr="C:\Users\vines\AppData\Local\Temp\claude\C--Users-vines-OneDrive-Documents-wfa-assesment\56031c87-33c5-4040-9294-6fdd52e10b61\scratchpad\pptx\icons\start.png">    </p:cNvPr>
          <p:cNvPicPr>
            <a:picLocks noChangeAspect="1"/>
          </p:cNvPicPr>
          <p:nvPr/>
        </p:nvPicPr>
        <p:blipFill>
          <a:blip r:embed="rId2"/>
          <a:stretch>
            <a:fillRect/>
          </a:stretch>
        </p:blipFill>
        <p:spPr>
          <a:xfrm>
            <a:off x="5074920" y="4343400"/>
            <a:ext cx="457200" cy="457200"/>
          </a:xfrm>
          <a:prstGeom prst="rect">
            <a:avLst/>
          </a:prstGeom>
        </p:spPr>
      </p:pic>
      <p:sp>
        <p:nvSpPr>
          <p:cNvPr id="8" name="Shape 4"/>
          <p:cNvSpPr/>
          <p:nvPr/>
        </p:nvSpPr>
        <p:spPr>
          <a:xfrm>
            <a:off x="5577840" y="4572000"/>
            <a:ext cx="320040" cy="0"/>
          </a:xfrm>
          <a:prstGeom prst="line">
            <a:avLst/>
          </a:prstGeom>
          <a:noFill/>
          <a:ln w="19050">
            <a:solidFill>
              <a:srgbClr val="4FD1C5"/>
            </a:solidFill>
            <a:prstDash val="solid"/>
            <a:tailEnd type="triangle"/>
          </a:ln>
        </p:spPr>
      </p:sp>
      <p:pic>
        <p:nvPicPr>
          <p:cNvPr id="9" name="Image 2" descr="C:\Users\vines\AppData\Local\Temp\claude\C--Users-vines-OneDrive-Documents-wfa-assesment\56031c87-33c5-4040-9294-6fdd52e10b61\scratchpad\pptx\icons\xor.png">    </p:cNvPr>
          <p:cNvPicPr>
            <a:picLocks noChangeAspect="1"/>
          </p:cNvPicPr>
          <p:nvPr/>
        </p:nvPicPr>
        <p:blipFill>
          <a:blip r:embed="rId3"/>
          <a:stretch>
            <a:fillRect/>
          </a:stretch>
        </p:blipFill>
        <p:spPr>
          <a:xfrm>
            <a:off x="5897880" y="4297680"/>
            <a:ext cx="548640" cy="548640"/>
          </a:xfrm>
          <a:prstGeom prst="rect">
            <a:avLst/>
          </a:prstGeom>
        </p:spPr>
      </p:pic>
      <p:sp>
        <p:nvSpPr>
          <p:cNvPr id="10" name="Shape 5"/>
          <p:cNvSpPr/>
          <p:nvPr/>
        </p:nvSpPr>
        <p:spPr>
          <a:xfrm>
            <a:off x="6492240" y="4572000"/>
            <a:ext cx="320040" cy="0"/>
          </a:xfrm>
          <a:prstGeom prst="line">
            <a:avLst/>
          </a:prstGeom>
          <a:noFill/>
          <a:ln w="19050">
            <a:solidFill>
              <a:srgbClr val="4FD1C5"/>
            </a:solidFill>
            <a:prstDash val="solid"/>
            <a:tailEnd type="triangle"/>
          </a:ln>
        </p:spPr>
      </p:sp>
      <p:pic>
        <p:nvPicPr>
          <p:cNvPr id="11" name="Image 3" descr="C:\Users\vines\AppData\Local\Temp\claude\C--Users-vines-OneDrive-Documents-wfa-assesment\56031c87-33c5-4040-9294-6fdd52e10b61\scratchpad\pptx\icons\end.png">    </p:cNvPr>
          <p:cNvPicPr>
            <a:picLocks noChangeAspect="1"/>
          </p:cNvPicPr>
          <p:nvPr/>
        </p:nvPicPr>
        <p:blipFill>
          <a:blip r:embed="rId4"/>
          <a:stretch>
            <a:fillRect/>
          </a:stretch>
        </p:blipFill>
        <p:spPr>
          <a:xfrm>
            <a:off x="6858000" y="4343400"/>
            <a:ext cx="457200" cy="457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C:\Users\vines\AppData\Local\Temp\claude\C--Users-vines-OneDrive-Documents-wfa-assesment\56031c87-33c5-4040-9294-6fdd52e10b61\scratchpad\pptx\icons\start.png">    </p:cNvPr>
          <p:cNvPicPr>
            <a:picLocks noChangeAspect="1"/>
          </p:cNvPicPr>
          <p:nvPr/>
        </p:nvPicPr>
        <p:blipFill>
          <a:blip r:embed="rId1">
            <a:alphaModFix amt="15000"/>
          </a:blip>
          <a:stretch>
            <a:fillRect/>
          </a:stretch>
        </p:blipFill>
        <p:spPr>
          <a:xfrm>
            <a:off x="10058400" y="5074920"/>
            <a:ext cx="1371600" cy="1371600"/>
          </a:xfrm>
          <a:prstGeom prst="rect">
            <a:avLst/>
          </a:prstGeom>
        </p:spPr>
      </p:pic>
      <p:sp>
        <p:nvSpPr>
          <p:cNvPr id="3" name="Text 0"/>
          <p:cNvSpPr/>
          <p:nvPr/>
        </p:nvSpPr>
        <p:spPr>
          <a:xfrm>
            <a:off x="640080" y="548640"/>
            <a:ext cx="594360" cy="502920"/>
          </a:xfrm>
          <a:prstGeom prst="roundRect">
            <a:avLst>
              <a:gd name="adj" fmla="val 21818"/>
            </a:avLst>
          </a:prstGeom>
          <a:solidFill>
            <a:srgbClr val="4FD1C5"/>
          </a:solidFill>
          <a:ln>
            <a:solidFill>
              <a:srgbClr val="4FD1C5"/>
            </a:solidFill>
          </a:ln>
        </p:spPr>
        <p:txBody>
          <a:bodyPr wrap="square" lIns="0" tIns="0" rIns="0" bIns="0" rtlCol="0" anchor="ctr"/>
          <a:lstStyle/>
          <a:p>
            <a:pPr algn="ctr" indent="0" marL="0">
              <a:buNone/>
            </a:pPr>
            <a:r>
              <a:rPr lang="en-US" sz="1600" b="1" dirty="0">
                <a:solidFill>
                  <a:srgbClr val="14222A"/>
                </a:solidFill>
                <a:latin typeface="Calibri" pitchFamily="34" charset="0"/>
                <a:ea typeface="Calibri" pitchFamily="34" charset="-122"/>
                <a:cs typeface="Calibri" pitchFamily="34" charset="-120"/>
              </a:rPr>
              <a:t>01</a:t>
            </a:r>
            <a:endParaRPr lang="en-US" sz="1600" dirty="0"/>
          </a:p>
        </p:txBody>
      </p:sp>
      <p:sp>
        <p:nvSpPr>
          <p:cNvPr id="4" name="Text 0"/>
          <p:cNvSpPr/>
          <p:nvPr>
            <p:ph idx="100" type="title" hasCustomPrompt="1"/>
          </p:nvPr>
        </p:nvSpPr>
        <p:spPr>
          <a:xfrm>
            <a:off x="1417320" y="457200"/>
            <a:ext cx="9601200" cy="685800"/>
          </a:xfrm>
          <a:prstGeom prst="rect">
            <a:avLst/>
          </a:prstGeom>
          <a:noFill/>
          <a:ln/>
        </p:spPr>
        <p:txBody>
          <a:bodyPr wrap="square" lIns="0" tIns="0" rIns="0" bIns="0" rtlCol="0" anchor="ctr"/>
          <a:lstStyle/>
          <a:p>
            <a:pPr algn="l" indent="0" marL="0">
              <a:buNone/>
            </a:pPr>
            <a:r>
              <a:rPr lang="en-US" sz="3000" b="1" dirty="0">
                <a:solidFill>
                  <a:srgbClr val="EEF3F5"/>
                </a:solidFill>
                <a:latin typeface="Cambria" pitchFamily="34" charset="0"/>
                <a:ea typeface="Cambria" pitchFamily="34" charset="-122"/>
                <a:cs typeface="Cambria" pitchFamily="34" charset="-120"/>
              </a:rPr>
              <a:t>The question</a:t>
            </a:r>
            <a:endParaRPr lang="en-US" sz="3000" dirty="0"/>
          </a:p>
        </p:txBody>
      </p:sp>
      <p:sp>
        <p:nvSpPr>
          <p:cNvPr id="5" name="Shape 2"/>
          <p:cNvSpPr/>
          <p:nvPr/>
        </p:nvSpPr>
        <p:spPr>
          <a:xfrm>
            <a:off x="640080" y="1600200"/>
            <a:ext cx="3474720" cy="2286000"/>
          </a:xfrm>
          <a:prstGeom prst="roundRect">
            <a:avLst>
              <a:gd name="adj" fmla="val 4800"/>
            </a:avLst>
          </a:prstGeom>
          <a:solidFill>
            <a:srgbClr val="1E323C"/>
          </a:solidFill>
          <a:ln w="12700">
            <a:solidFill>
              <a:srgbClr val="1E323C"/>
            </a:solidFill>
            <a:prstDash val="solid"/>
          </a:ln>
        </p:spPr>
      </p:sp>
      <p:pic>
        <p:nvPicPr>
          <p:cNvPr id="6" name="Image 1" descr="C:\Users\vines\AppData\Local\Temp\claude\C--Users-vines-OneDrive-Documents-wfa-assesment\56031c87-33c5-4040-9294-6fdd52e10b61\scratchpad\pptx\icons\service.png">    </p:cNvPr>
          <p:cNvPicPr>
            <a:picLocks noChangeAspect="1"/>
          </p:cNvPicPr>
          <p:nvPr/>
        </p:nvPicPr>
        <p:blipFill>
          <a:blip r:embed="rId2"/>
          <a:stretch>
            <a:fillRect/>
          </a:stretch>
        </p:blipFill>
        <p:spPr>
          <a:xfrm>
            <a:off x="914400" y="1828800"/>
            <a:ext cx="457200" cy="457200"/>
          </a:xfrm>
          <a:prstGeom prst="rect">
            <a:avLst/>
          </a:prstGeom>
        </p:spPr>
      </p:pic>
      <p:sp>
        <p:nvSpPr>
          <p:cNvPr id="7" name="Text 3"/>
          <p:cNvSpPr txBox="1"/>
          <p:nvPr/>
        </p:nvSpPr>
        <p:spPr>
          <a:xfrm>
            <a:off x="914400" y="2423160"/>
            <a:ext cx="2971800" cy="1371600"/>
          </a:xfrm>
          <a:prstGeom prst="rect">
            <a:avLst/>
          </a:prstGeom>
          <a:noFill/>
          <a:ln/>
        </p:spPr>
        <p:txBody>
          <a:bodyPr wrap="square" lIns="0" tIns="0" rIns="0" bIns="0" rtlCol="0" anchor="t"/>
          <a:lstStyle/>
          <a:p>
            <a:pPr indent="0" marL="0">
              <a:spcAft>
                <a:spcPts val="600"/>
              </a:spcAft>
              <a:buNone/>
            </a:pPr>
            <a:r>
              <a:rPr lang="en-US" sz="1600" b="1" dirty="0">
                <a:solidFill>
                  <a:srgbClr val="4FD1C5"/>
                </a:solidFill>
                <a:latin typeface="Calibri" pitchFamily="34" charset="0"/>
                <a:ea typeface="Calibri" pitchFamily="34" charset="-122"/>
                <a:cs typeface="Calibri" pitchFamily="34" charset="-120"/>
              </a:rPr>
              <a:t>What happens</a:t>
            </a:r>
            <a:endParaRPr lang="en-US" sz="1600" dirty="0"/>
          </a:p>
          <a:p>
            <a:pPr indent="0" marL="0">
              <a:spcAft>
                <a:spcPts val="600"/>
              </a:spcAft>
              <a:buNone/>
            </a:pPr>
            <a:r>
              <a:rPr lang="en-US" sz="1600" dirty="0">
                <a:solidFill>
                  <a:srgbClr val="EEF3F5"/>
                </a:solidFill>
                <a:latin typeface="Calibri" pitchFamily="34" charset="0"/>
                <a:ea typeface="Calibri" pitchFamily="34" charset="-122"/>
                <a:cs typeface="Calibri" pitchFamily="34" charset="-120"/>
              </a:rPr>
              <a:t>A bank checks documents and identity, assesses credit, underwrites, makes an offer and pays out the loan.</a:t>
            </a:r>
            <a:endParaRPr lang="en-US" sz="1600" dirty="0"/>
          </a:p>
        </p:txBody>
      </p:sp>
      <p:sp>
        <p:nvSpPr>
          <p:cNvPr id="8" name="Shape 4"/>
          <p:cNvSpPr/>
          <p:nvPr/>
        </p:nvSpPr>
        <p:spPr>
          <a:xfrm>
            <a:off x="4343400" y="1600200"/>
            <a:ext cx="3474720" cy="2286000"/>
          </a:xfrm>
          <a:prstGeom prst="roundRect">
            <a:avLst>
              <a:gd name="adj" fmla="val 4800"/>
            </a:avLst>
          </a:prstGeom>
          <a:solidFill>
            <a:srgbClr val="1E323C"/>
          </a:solidFill>
          <a:ln w="12700">
            <a:solidFill>
              <a:srgbClr val="1E323C"/>
            </a:solidFill>
            <a:prstDash val="solid"/>
          </a:ln>
        </p:spPr>
      </p:sp>
      <p:pic>
        <p:nvPicPr>
          <p:cNvPr id="9" name="Image 2" descr="C:\Users\vines\AppData\Local\Temp\claude\C--Users-vines-OneDrive-Documents-wfa-assesment\56031c87-33c5-4040-9294-6fdd52e10b61\scratchpad\pptx\icons\start.png">    </p:cNvPr>
          <p:cNvPicPr>
            <a:picLocks noChangeAspect="1"/>
          </p:cNvPicPr>
          <p:nvPr/>
        </p:nvPicPr>
        <p:blipFill>
          <a:blip r:embed="rId3"/>
          <a:stretch>
            <a:fillRect/>
          </a:stretch>
        </p:blipFill>
        <p:spPr>
          <a:xfrm>
            <a:off x="4617720" y="1828800"/>
            <a:ext cx="457200" cy="457200"/>
          </a:xfrm>
          <a:prstGeom prst="rect">
            <a:avLst/>
          </a:prstGeom>
        </p:spPr>
      </p:pic>
      <p:sp>
        <p:nvSpPr>
          <p:cNvPr id="10" name="Text 5"/>
          <p:cNvSpPr txBox="1"/>
          <p:nvPr/>
        </p:nvSpPr>
        <p:spPr>
          <a:xfrm>
            <a:off x="4617720" y="2423160"/>
            <a:ext cx="2971800" cy="1371600"/>
          </a:xfrm>
          <a:prstGeom prst="rect">
            <a:avLst/>
          </a:prstGeom>
          <a:noFill/>
          <a:ln/>
        </p:spPr>
        <p:txBody>
          <a:bodyPr wrap="square" lIns="0" tIns="0" rIns="0" bIns="0" rtlCol="0" anchor="t"/>
          <a:lstStyle/>
          <a:p>
            <a:pPr indent="0" marL="0">
              <a:spcAft>
                <a:spcPts val="600"/>
              </a:spcAft>
              <a:buNone/>
            </a:pPr>
            <a:r>
              <a:rPr lang="en-US" sz="1600" b="1" dirty="0">
                <a:solidFill>
                  <a:srgbClr val="4FD1C5"/>
                </a:solidFill>
                <a:latin typeface="Calibri" pitchFamily="34" charset="0"/>
                <a:ea typeface="Calibri" pitchFamily="34" charset="-122"/>
                <a:cs typeface="Calibri" pitchFamily="34" charset="-120"/>
              </a:rPr>
              <a:t>Starts</a:t>
            </a:r>
            <a:endParaRPr lang="en-US" sz="1600" dirty="0"/>
          </a:p>
          <a:p>
            <a:pPr indent="0" marL="0">
              <a:spcAft>
                <a:spcPts val="600"/>
              </a:spcAft>
              <a:buNone/>
            </a:pPr>
            <a:r>
              <a:rPr lang="en-US" sz="1600" dirty="0">
                <a:solidFill>
                  <a:srgbClr val="EEF3F5"/>
                </a:solidFill>
                <a:latin typeface="Calibri" pitchFamily="34" charset="0"/>
                <a:ea typeface="Calibri" pitchFamily="34" charset="-122"/>
                <a:cs typeface="Calibri" pitchFamily="34" charset="-120"/>
              </a:rPr>
              <a:t>An applicant submits an application with documents</a:t>
            </a:r>
            <a:endParaRPr lang="en-US" sz="1600" dirty="0"/>
          </a:p>
        </p:txBody>
      </p:sp>
      <p:sp>
        <p:nvSpPr>
          <p:cNvPr id="11" name="Shape 6"/>
          <p:cNvSpPr/>
          <p:nvPr/>
        </p:nvSpPr>
        <p:spPr>
          <a:xfrm>
            <a:off x="8046720" y="1600200"/>
            <a:ext cx="3474720" cy="2286000"/>
          </a:xfrm>
          <a:prstGeom prst="roundRect">
            <a:avLst>
              <a:gd name="adj" fmla="val 4800"/>
            </a:avLst>
          </a:prstGeom>
          <a:solidFill>
            <a:srgbClr val="1E323C"/>
          </a:solidFill>
          <a:ln w="12700">
            <a:solidFill>
              <a:srgbClr val="1E323C"/>
            </a:solidFill>
            <a:prstDash val="solid"/>
          </a:ln>
        </p:spPr>
      </p:sp>
      <p:pic>
        <p:nvPicPr>
          <p:cNvPr id="12" name="Image 3" descr="C:\Users\vines\AppData\Local\Temp\claude\C--Users-vines-OneDrive-Documents-wfa-assesment\56031c87-33c5-4040-9294-6fdd52e10b61\scratchpad\pptx\icons\end.png">    </p:cNvPr>
          <p:cNvPicPr>
            <a:picLocks noChangeAspect="1"/>
          </p:cNvPicPr>
          <p:nvPr/>
        </p:nvPicPr>
        <p:blipFill>
          <a:blip r:embed="rId4"/>
          <a:stretch>
            <a:fillRect/>
          </a:stretch>
        </p:blipFill>
        <p:spPr>
          <a:xfrm>
            <a:off x="8321040" y="1828800"/>
            <a:ext cx="457200" cy="457200"/>
          </a:xfrm>
          <a:prstGeom prst="rect">
            <a:avLst/>
          </a:prstGeom>
        </p:spPr>
      </p:pic>
      <p:sp>
        <p:nvSpPr>
          <p:cNvPr id="13" name="Text 7"/>
          <p:cNvSpPr txBox="1"/>
          <p:nvPr/>
        </p:nvSpPr>
        <p:spPr>
          <a:xfrm>
            <a:off x="8321040" y="2423160"/>
            <a:ext cx="2971800" cy="1371600"/>
          </a:xfrm>
          <a:prstGeom prst="rect">
            <a:avLst/>
          </a:prstGeom>
          <a:noFill/>
          <a:ln/>
        </p:spPr>
        <p:txBody>
          <a:bodyPr wrap="square" lIns="0" tIns="0" rIns="0" bIns="0" rtlCol="0" anchor="t"/>
          <a:lstStyle/>
          <a:p>
            <a:pPr indent="0" marL="0">
              <a:spcAft>
                <a:spcPts val="600"/>
              </a:spcAft>
              <a:buNone/>
            </a:pPr>
            <a:r>
              <a:rPr lang="en-US" sz="1600" b="1" dirty="0">
                <a:solidFill>
                  <a:srgbClr val="4FD1C5"/>
                </a:solidFill>
                <a:latin typeface="Calibri" pitchFamily="34" charset="0"/>
                <a:ea typeface="Calibri" pitchFamily="34" charset="-122"/>
                <a:cs typeface="Calibri" pitchFamily="34" charset="-120"/>
              </a:rPr>
              <a:t>Ends</a:t>
            </a:r>
            <a:endParaRPr lang="en-US" sz="1600" dirty="0"/>
          </a:p>
          <a:p>
            <a:pPr indent="0" marL="0">
              <a:spcAft>
                <a:spcPts val="600"/>
              </a:spcAft>
              <a:buNone/>
            </a:pPr>
            <a:r>
              <a:rPr lang="en-US" sz="1600" dirty="0">
                <a:solidFill>
                  <a:srgbClr val="EEF3F5"/>
                </a:solidFill>
                <a:latin typeface="Calibri" pitchFamily="34" charset="0"/>
                <a:ea typeface="Calibri" pitchFamily="34" charset="-122"/>
                <a:cs typeface="Calibri" pitchFamily="34" charset="-120"/>
              </a:rPr>
              <a:t>Disbursed, rejected, withdrawn or lapsed</a:t>
            </a:r>
            <a:endParaRPr lang="en-US" sz="1600" dirty="0"/>
          </a:p>
        </p:txBody>
      </p:sp>
      <p:sp>
        <p:nvSpPr>
          <p:cNvPr id="14" name="Text 8"/>
          <p:cNvSpPr txBox="1"/>
          <p:nvPr/>
        </p:nvSpPr>
        <p:spPr>
          <a:xfrm>
            <a:off x="640080" y="4206240"/>
            <a:ext cx="5486400" cy="365760"/>
          </a:xfrm>
          <a:prstGeom prst="rect">
            <a:avLst/>
          </a:prstGeom>
          <a:noFill/>
          <a:ln/>
        </p:spPr>
        <p:txBody>
          <a:bodyPr wrap="square" lIns="0" tIns="0" rIns="0" bIns="0" rtlCol="0" anchor="t"/>
          <a:lstStyle/>
          <a:p>
            <a:pPr indent="0" marL="0">
              <a:buNone/>
            </a:pPr>
            <a:r>
              <a:rPr lang="en-US" sz="1600" b="1" dirty="0">
                <a:solidFill>
                  <a:srgbClr val="4FD1C5"/>
                </a:solidFill>
                <a:latin typeface="Calibri" pitchFamily="34" charset="0"/>
                <a:ea typeface="Calibri" pitchFamily="34" charset="-122"/>
                <a:cs typeface="Calibri" pitchFamily="34" charset="-120"/>
              </a:rPr>
              <a:t>Failure areas to cover</a:t>
            </a:r>
            <a:endParaRPr lang="en-US" sz="1600" dirty="0"/>
          </a:p>
        </p:txBody>
      </p:sp>
      <p:sp>
        <p:nvSpPr>
          <p:cNvPr id="15" name="Text 9"/>
          <p:cNvSpPr/>
          <p:nvPr/>
        </p:nvSpPr>
        <p:spPr>
          <a:xfrm>
            <a:off x="640080" y="4663440"/>
            <a:ext cx="2697480" cy="475488"/>
          </a:xfrm>
          <a:prstGeom prst="roundRect">
            <a:avLst>
              <a:gd name="adj" fmla="val 50000"/>
            </a:avLst>
          </a:prstGeom>
          <a:solidFill>
            <a:srgbClr val="243C48"/>
          </a:solidFill>
          <a:ln w="12700">
            <a:solidFill>
              <a:srgbClr val="35566A"/>
            </a:solidFill>
          </a:ln>
        </p:spPr>
        <p:txBody>
          <a:bodyPr wrap="square" lIns="0" tIns="0" rIns="0" bIns="0" rtlCol="0" anchor="ctr"/>
          <a:lstStyle/>
          <a:p>
            <a:pPr algn="ctr" indent="0" marL="0">
              <a:buNone/>
            </a:pPr>
            <a:r>
              <a:rPr lang="en-US" sz="1400" dirty="0">
                <a:solidFill>
                  <a:srgbClr val="EEF3F5"/>
                </a:solidFill>
                <a:latin typeface="Calibri" pitchFamily="34" charset="0"/>
                <a:ea typeface="Calibri" pitchFamily="34" charset="-122"/>
                <a:cs typeface="Calibri" pitchFamily="34" charset="-120"/>
              </a:rPr>
              <a:t>Documents &amp; identity</a:t>
            </a:r>
            <a:endParaRPr lang="en-US" sz="1400" dirty="0"/>
          </a:p>
        </p:txBody>
      </p:sp>
      <p:sp>
        <p:nvSpPr>
          <p:cNvPr id="16" name="Text 10"/>
          <p:cNvSpPr/>
          <p:nvPr/>
        </p:nvSpPr>
        <p:spPr>
          <a:xfrm>
            <a:off x="3520440" y="4663440"/>
            <a:ext cx="2697480" cy="475488"/>
          </a:xfrm>
          <a:prstGeom prst="roundRect">
            <a:avLst>
              <a:gd name="adj" fmla="val 50000"/>
            </a:avLst>
          </a:prstGeom>
          <a:solidFill>
            <a:srgbClr val="243C48"/>
          </a:solidFill>
          <a:ln w="12700">
            <a:solidFill>
              <a:srgbClr val="35566A"/>
            </a:solidFill>
          </a:ln>
        </p:spPr>
        <p:txBody>
          <a:bodyPr wrap="square" lIns="0" tIns="0" rIns="0" bIns="0" rtlCol="0" anchor="ctr"/>
          <a:lstStyle/>
          <a:p>
            <a:pPr algn="ctr" indent="0" marL="0">
              <a:buNone/>
            </a:pPr>
            <a:r>
              <a:rPr lang="en-US" sz="1400" dirty="0">
                <a:solidFill>
                  <a:srgbClr val="EEF3F5"/>
                </a:solidFill>
                <a:latin typeface="Calibri" pitchFamily="34" charset="0"/>
                <a:ea typeface="Calibri" pitchFamily="34" charset="-122"/>
                <a:cs typeface="Calibri" pitchFamily="34" charset="-120"/>
              </a:rPr>
              <a:t>Fraud, AML, sanctions</a:t>
            </a:r>
            <a:endParaRPr lang="en-US" sz="1400" dirty="0"/>
          </a:p>
        </p:txBody>
      </p:sp>
      <p:sp>
        <p:nvSpPr>
          <p:cNvPr id="17" name="Text 11"/>
          <p:cNvSpPr/>
          <p:nvPr/>
        </p:nvSpPr>
        <p:spPr>
          <a:xfrm>
            <a:off x="6400800" y="4663440"/>
            <a:ext cx="2697480" cy="475488"/>
          </a:xfrm>
          <a:prstGeom prst="roundRect">
            <a:avLst>
              <a:gd name="adj" fmla="val 50000"/>
            </a:avLst>
          </a:prstGeom>
          <a:solidFill>
            <a:srgbClr val="243C48"/>
          </a:solidFill>
          <a:ln w="12700">
            <a:solidFill>
              <a:srgbClr val="35566A"/>
            </a:solidFill>
          </a:ln>
        </p:spPr>
        <p:txBody>
          <a:bodyPr wrap="square" lIns="0" tIns="0" rIns="0" bIns="0" rtlCol="0" anchor="ctr"/>
          <a:lstStyle/>
          <a:p>
            <a:pPr algn="ctr" indent="0" marL="0">
              <a:buNone/>
            </a:pPr>
            <a:r>
              <a:rPr lang="en-US" sz="1400" dirty="0">
                <a:solidFill>
                  <a:srgbClr val="EEF3F5"/>
                </a:solidFill>
                <a:latin typeface="Calibri" pitchFamily="34" charset="0"/>
                <a:ea typeface="Calibri" pitchFamily="34" charset="-122"/>
                <a:cs typeface="Calibri" pitchFamily="34" charset="-120"/>
              </a:rPr>
              <a:t>Credit bureau down</a:t>
            </a:r>
            <a:endParaRPr lang="en-US" sz="1400" dirty="0"/>
          </a:p>
        </p:txBody>
      </p:sp>
      <p:sp>
        <p:nvSpPr>
          <p:cNvPr id="18" name="Text 12"/>
          <p:cNvSpPr/>
          <p:nvPr/>
        </p:nvSpPr>
        <p:spPr>
          <a:xfrm>
            <a:off x="640080" y="5303520"/>
            <a:ext cx="2697480" cy="475488"/>
          </a:xfrm>
          <a:prstGeom prst="roundRect">
            <a:avLst>
              <a:gd name="adj" fmla="val 50000"/>
            </a:avLst>
          </a:prstGeom>
          <a:solidFill>
            <a:srgbClr val="243C48"/>
          </a:solidFill>
          <a:ln w="12700">
            <a:solidFill>
              <a:srgbClr val="35566A"/>
            </a:solidFill>
          </a:ln>
        </p:spPr>
        <p:txBody>
          <a:bodyPr wrap="square" lIns="0" tIns="0" rIns="0" bIns="0" rtlCol="0" anchor="ctr"/>
          <a:lstStyle/>
          <a:p>
            <a:pPr algn="ctr" indent="0" marL="0">
              <a:buNone/>
            </a:pPr>
            <a:r>
              <a:rPr lang="en-US" sz="1400" dirty="0">
                <a:solidFill>
                  <a:srgbClr val="EEF3F5"/>
                </a:solidFill>
                <a:latin typeface="Calibri" pitchFamily="34" charset="0"/>
                <a:ea typeface="Calibri" pitchFamily="34" charset="-122"/>
                <a:cs typeface="Calibri" pitchFamily="34" charset="-120"/>
              </a:rPr>
              <a:t>Credit outcomes</a:t>
            </a:r>
            <a:endParaRPr lang="en-US" sz="1400" dirty="0"/>
          </a:p>
        </p:txBody>
      </p:sp>
      <p:sp>
        <p:nvSpPr>
          <p:cNvPr id="19" name="Text 13"/>
          <p:cNvSpPr/>
          <p:nvPr/>
        </p:nvSpPr>
        <p:spPr>
          <a:xfrm>
            <a:off x="3520440" y="5303520"/>
            <a:ext cx="2697480" cy="475488"/>
          </a:xfrm>
          <a:prstGeom prst="roundRect">
            <a:avLst>
              <a:gd name="adj" fmla="val 50000"/>
            </a:avLst>
          </a:prstGeom>
          <a:solidFill>
            <a:srgbClr val="243C48"/>
          </a:solidFill>
          <a:ln w="12700">
            <a:solidFill>
              <a:srgbClr val="35566A"/>
            </a:solidFill>
          </a:ln>
        </p:spPr>
        <p:txBody>
          <a:bodyPr wrap="square" lIns="0" tIns="0" rIns="0" bIns="0" rtlCol="0" anchor="ctr"/>
          <a:lstStyle/>
          <a:p>
            <a:pPr algn="ctr" indent="0" marL="0">
              <a:buNone/>
            </a:pPr>
            <a:r>
              <a:rPr lang="en-US" sz="1400" dirty="0">
                <a:solidFill>
                  <a:srgbClr val="EEF3F5"/>
                </a:solidFill>
                <a:latin typeface="Calibri" pitchFamily="34" charset="0"/>
                <a:ea typeface="Calibri" pitchFamily="34" charset="-122"/>
                <a:cs typeface="Calibri" pitchFamily="34" charset="-120"/>
              </a:rPr>
              <a:t>Timeouts &amp; withdrawal</a:t>
            </a:r>
            <a:endParaRPr lang="en-US" sz="1400" dirty="0"/>
          </a:p>
        </p:txBody>
      </p:sp>
      <p:sp>
        <p:nvSpPr>
          <p:cNvPr id="20" name="Text 14"/>
          <p:cNvSpPr/>
          <p:nvPr/>
        </p:nvSpPr>
        <p:spPr>
          <a:xfrm>
            <a:off x="6400800" y="5303520"/>
            <a:ext cx="2697480" cy="475488"/>
          </a:xfrm>
          <a:prstGeom prst="roundRect">
            <a:avLst>
              <a:gd name="adj" fmla="val 50000"/>
            </a:avLst>
          </a:prstGeom>
          <a:solidFill>
            <a:srgbClr val="243C48"/>
          </a:solidFill>
          <a:ln w="12700">
            <a:solidFill>
              <a:srgbClr val="35566A"/>
            </a:solidFill>
          </a:ln>
        </p:spPr>
        <p:txBody>
          <a:bodyPr wrap="square" lIns="0" tIns="0" rIns="0" bIns="0" rtlCol="0" anchor="ctr"/>
          <a:lstStyle/>
          <a:p>
            <a:pPr algn="ctr" indent="0" marL="0">
              <a:buNone/>
            </a:pPr>
            <a:r>
              <a:rPr lang="en-US" sz="1400" dirty="0">
                <a:solidFill>
                  <a:srgbClr val="EEF3F5"/>
                </a:solidFill>
                <a:latin typeface="Calibri" pitchFamily="34" charset="0"/>
                <a:ea typeface="Calibri" pitchFamily="34" charset="-122"/>
                <a:cs typeface="Calibri" pitchFamily="34" charset="-120"/>
              </a:rPr>
              <a:t>Disbursement failures</a:t>
            </a:r>
            <a:endParaRPr lang="en-US" sz="1400" dirty="0"/>
          </a:p>
        </p:txBody>
      </p:sp>
      <p:sp>
        <p:nvSpPr>
          <p:cNvPr id="25" name="Slide Number Placeholder 0"/>
          <p:cNvSpPr>
            <a:spLocks noGrp="1"/>
          </p:cNvSpPr>
          <p:nvPr>
            <p:ph type="sldNum" sz="quarter" idx="4294967295"/>
          </p:nvPr>
        </p:nvSpPr>
        <p:spPr>
          <a:xfrm>
            <a:off x="11247120"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7BAC4"/>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548640"/>
            <a:ext cx="594360" cy="502920"/>
          </a:xfrm>
          <a:prstGeom prst="roundRect">
            <a:avLst>
              <a:gd name="adj" fmla="val 21818"/>
            </a:avLst>
          </a:prstGeom>
          <a:solidFill>
            <a:srgbClr val="4FD1C5"/>
          </a:solidFill>
          <a:ln>
            <a:solidFill>
              <a:srgbClr val="4FD1C5"/>
            </a:solidFill>
          </a:ln>
        </p:spPr>
        <p:txBody>
          <a:bodyPr wrap="square" lIns="0" tIns="0" rIns="0" bIns="0" rtlCol="0" anchor="ctr"/>
          <a:lstStyle/>
          <a:p>
            <a:pPr algn="ctr" indent="0" marL="0">
              <a:buNone/>
            </a:pPr>
            <a:r>
              <a:rPr lang="en-US" sz="1600" b="1" dirty="0">
                <a:solidFill>
                  <a:srgbClr val="14222A"/>
                </a:solidFill>
                <a:latin typeface="Calibri" pitchFamily="34" charset="0"/>
                <a:ea typeface="Calibri" pitchFamily="34" charset="-122"/>
                <a:cs typeface="Calibri" pitchFamily="34" charset="-120"/>
              </a:rPr>
              <a:t>02</a:t>
            </a:r>
            <a:endParaRPr lang="en-US" sz="1600" dirty="0"/>
          </a:p>
        </p:txBody>
      </p:sp>
      <p:sp>
        <p:nvSpPr>
          <p:cNvPr id="3" name="Text 0"/>
          <p:cNvSpPr/>
          <p:nvPr>
            <p:ph idx="100" type="title" hasCustomPrompt="1"/>
          </p:nvPr>
        </p:nvSpPr>
        <p:spPr>
          <a:xfrm>
            <a:off x="1417320" y="457200"/>
            <a:ext cx="9601200" cy="685800"/>
          </a:xfrm>
          <a:prstGeom prst="rect">
            <a:avLst/>
          </a:prstGeom>
          <a:noFill/>
          <a:ln/>
        </p:spPr>
        <p:txBody>
          <a:bodyPr wrap="square" lIns="0" tIns="0" rIns="0" bIns="0" rtlCol="0" anchor="ctr"/>
          <a:lstStyle/>
          <a:p>
            <a:pPr algn="l" indent="0" marL="0">
              <a:buNone/>
            </a:pPr>
            <a:r>
              <a:rPr lang="en-US" sz="3000" b="1" dirty="0">
                <a:solidFill>
                  <a:srgbClr val="EEF3F5"/>
                </a:solidFill>
                <a:latin typeface="Cambria" pitchFamily="34" charset="0"/>
                <a:ea typeface="Cambria" pitchFamily="34" charset="-122"/>
                <a:cs typeface="Cambria" pitchFamily="34" charset="-120"/>
              </a:rPr>
              <a:t>The process</a:t>
            </a:r>
            <a:endParaRPr lang="en-US" sz="3000" dirty="0"/>
          </a:p>
        </p:txBody>
      </p:sp>
      <p:sp>
        <p:nvSpPr>
          <p:cNvPr id="4" name="Shape 2"/>
          <p:cNvSpPr/>
          <p:nvPr/>
        </p:nvSpPr>
        <p:spPr>
          <a:xfrm>
            <a:off x="640080" y="1417320"/>
            <a:ext cx="10881360" cy="4846320"/>
          </a:xfrm>
          <a:prstGeom prst="roundRect">
            <a:avLst>
              <a:gd name="adj" fmla="val 1887"/>
            </a:avLst>
          </a:prstGeom>
          <a:solidFill>
            <a:srgbClr val="FFFFFF"/>
          </a:solidFill>
          <a:ln w="12700">
            <a:solidFill>
              <a:srgbClr val="FFFFFF"/>
            </a:solidFill>
            <a:prstDash val="solid"/>
          </a:ln>
          <a:effectLst>
            <a:outerShdw sx="100000" sy="100000" kx="0" ky="0" algn="bl" rotWithShape="0" blurRad="101600" dist="25400" dir="5400000">
              <a:srgbClr val="000000">
                <a:alpha val="35000"/>
              </a:srgbClr>
            </a:outerShdw>
          </a:effectLst>
        </p:spPr>
      </p:sp>
      <p:pic>
        <p:nvPicPr>
          <p:cNvPr id="5" name="Image 0" descr="Full loan BPMN diagram">    </p:cNvPr>
          <p:cNvPicPr>
            <a:picLocks noChangeAspect="1"/>
          </p:cNvPicPr>
          <p:nvPr/>
        </p:nvPicPr>
        <p:blipFill>
          <a:blip r:embed="rId1"/>
          <a:stretch>
            <a:fillRect/>
          </a:stretch>
        </p:blipFill>
        <p:spPr>
          <a:xfrm>
            <a:off x="1738436" y="1527048"/>
            <a:ext cx="8684648" cy="4626864"/>
          </a:xfrm>
          <a:prstGeom prst="rect">
            <a:avLst/>
          </a:prstGeom>
        </p:spPr>
      </p:pic>
      <p:sp>
        <p:nvSpPr>
          <p:cNvPr id="25" name="Slide Number Placeholder 0"/>
          <p:cNvSpPr>
            <a:spLocks noGrp="1"/>
          </p:cNvSpPr>
          <p:nvPr>
            <p:ph type="sldNum" sz="quarter" idx="4294967295"/>
          </p:nvPr>
        </p:nvSpPr>
        <p:spPr>
          <a:xfrm>
            <a:off x="11247120"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7BAC4"/>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C:\Users\vines\AppData\Local\Temp\claude\C--Users-vines-OneDrive-Documents-wfa-assesment\56031c87-33c5-4040-9294-6fdd52e10b61\scratchpad\pptx\icons\service.png">    </p:cNvPr>
          <p:cNvPicPr>
            <a:picLocks noChangeAspect="1"/>
          </p:cNvPicPr>
          <p:nvPr/>
        </p:nvPicPr>
        <p:blipFill>
          <a:blip r:embed="rId1">
            <a:alphaModFix amt="15000"/>
          </a:blip>
          <a:stretch>
            <a:fillRect/>
          </a:stretch>
        </p:blipFill>
        <p:spPr>
          <a:xfrm>
            <a:off x="10058400" y="5074920"/>
            <a:ext cx="1371600" cy="1371600"/>
          </a:xfrm>
          <a:prstGeom prst="rect">
            <a:avLst/>
          </a:prstGeom>
        </p:spPr>
      </p:pic>
      <p:sp>
        <p:nvSpPr>
          <p:cNvPr id="3" name="Text 0"/>
          <p:cNvSpPr/>
          <p:nvPr/>
        </p:nvSpPr>
        <p:spPr>
          <a:xfrm>
            <a:off x="640080" y="548640"/>
            <a:ext cx="594360" cy="502920"/>
          </a:xfrm>
          <a:prstGeom prst="roundRect">
            <a:avLst>
              <a:gd name="adj" fmla="val 21818"/>
            </a:avLst>
          </a:prstGeom>
          <a:solidFill>
            <a:srgbClr val="4FD1C5"/>
          </a:solidFill>
          <a:ln>
            <a:solidFill>
              <a:srgbClr val="4FD1C5"/>
            </a:solidFill>
          </a:ln>
        </p:spPr>
        <p:txBody>
          <a:bodyPr wrap="square" lIns="0" tIns="0" rIns="0" bIns="0" rtlCol="0" anchor="ctr"/>
          <a:lstStyle/>
          <a:p>
            <a:pPr algn="ctr" indent="0" marL="0">
              <a:buNone/>
            </a:pPr>
            <a:r>
              <a:rPr lang="en-US" sz="1600" b="1" dirty="0">
                <a:solidFill>
                  <a:srgbClr val="14222A"/>
                </a:solidFill>
                <a:latin typeface="Calibri" pitchFamily="34" charset="0"/>
                <a:ea typeface="Calibri" pitchFamily="34" charset="-122"/>
                <a:cs typeface="Calibri" pitchFamily="34" charset="-120"/>
              </a:rPr>
              <a:t>03</a:t>
            </a:r>
            <a:endParaRPr lang="en-US" sz="1600" dirty="0"/>
          </a:p>
        </p:txBody>
      </p:sp>
      <p:sp>
        <p:nvSpPr>
          <p:cNvPr id="4" name="Text 0"/>
          <p:cNvSpPr/>
          <p:nvPr>
            <p:ph idx="100" type="title" hasCustomPrompt="1"/>
          </p:nvPr>
        </p:nvSpPr>
        <p:spPr>
          <a:xfrm>
            <a:off x="1417320" y="457200"/>
            <a:ext cx="9601200" cy="685800"/>
          </a:xfrm>
          <a:prstGeom prst="rect">
            <a:avLst/>
          </a:prstGeom>
          <a:noFill/>
          <a:ln/>
        </p:spPr>
        <p:txBody>
          <a:bodyPr wrap="square" lIns="0" tIns="0" rIns="0" bIns="0" rtlCol="0" anchor="ctr"/>
          <a:lstStyle/>
          <a:p>
            <a:pPr algn="l" indent="0" marL="0">
              <a:buNone/>
            </a:pPr>
            <a:r>
              <a:rPr lang="en-US" sz="3000" b="1" dirty="0">
                <a:solidFill>
                  <a:srgbClr val="EEF3F5"/>
                </a:solidFill>
                <a:latin typeface="Cambria" pitchFamily="34" charset="0"/>
                <a:ea typeface="Cambria" pitchFamily="34" charset="-122"/>
                <a:cs typeface="Cambria" pitchFamily="34" charset="-120"/>
              </a:rPr>
              <a:t>Task types</a:t>
            </a:r>
            <a:endParaRPr lang="en-US" sz="3000" dirty="0"/>
          </a:p>
        </p:txBody>
      </p:sp>
      <p:sp>
        <p:nvSpPr>
          <p:cNvPr id="5" name="Shape 2"/>
          <p:cNvSpPr/>
          <p:nvPr/>
        </p:nvSpPr>
        <p:spPr>
          <a:xfrm>
            <a:off x="640080" y="1691640"/>
            <a:ext cx="2057400" cy="3566160"/>
          </a:xfrm>
          <a:prstGeom prst="roundRect">
            <a:avLst>
              <a:gd name="adj" fmla="val 5333"/>
            </a:avLst>
          </a:prstGeom>
          <a:solidFill>
            <a:srgbClr val="1E323C"/>
          </a:solidFill>
          <a:ln w="12700">
            <a:solidFill>
              <a:srgbClr val="1E323C"/>
            </a:solidFill>
            <a:prstDash val="solid"/>
          </a:ln>
        </p:spPr>
      </p:sp>
      <p:sp>
        <p:nvSpPr>
          <p:cNvPr id="6" name="Shape 3"/>
          <p:cNvSpPr/>
          <p:nvPr/>
        </p:nvSpPr>
        <p:spPr>
          <a:xfrm>
            <a:off x="868680" y="1920240"/>
            <a:ext cx="731520" cy="731520"/>
          </a:xfrm>
          <a:prstGeom prst="ellipse">
            <a:avLst/>
          </a:prstGeom>
          <a:solidFill>
            <a:srgbClr val="243C48"/>
          </a:solidFill>
          <a:ln w="12700">
            <a:solidFill>
              <a:srgbClr val="35566A"/>
            </a:solidFill>
            <a:prstDash val="solid"/>
          </a:ln>
        </p:spPr>
      </p:sp>
      <p:pic>
        <p:nvPicPr>
          <p:cNvPr id="7" name="Image 1" descr="Business rule task icon">    </p:cNvPr>
          <p:cNvPicPr>
            <a:picLocks noChangeAspect="1"/>
          </p:cNvPicPr>
          <p:nvPr/>
        </p:nvPicPr>
        <p:blipFill>
          <a:blip r:embed="rId2"/>
          <a:stretch>
            <a:fillRect/>
          </a:stretch>
        </p:blipFill>
        <p:spPr>
          <a:xfrm>
            <a:off x="1005840" y="2057400"/>
            <a:ext cx="457200" cy="457200"/>
          </a:xfrm>
          <a:prstGeom prst="rect">
            <a:avLst/>
          </a:prstGeom>
        </p:spPr>
      </p:pic>
      <p:sp>
        <p:nvSpPr>
          <p:cNvPr id="8" name="Text 4"/>
          <p:cNvSpPr txBox="1"/>
          <p:nvPr/>
        </p:nvSpPr>
        <p:spPr>
          <a:xfrm>
            <a:off x="868680" y="2834640"/>
            <a:ext cx="1691640" cy="2286000"/>
          </a:xfrm>
          <a:prstGeom prst="rect">
            <a:avLst/>
          </a:prstGeom>
          <a:noFill/>
          <a:ln/>
        </p:spPr>
        <p:txBody>
          <a:bodyPr wrap="square" lIns="0" tIns="0" rIns="0" bIns="0" rtlCol="0" anchor="t"/>
          <a:lstStyle/>
          <a:p>
            <a:pPr indent="0" marL="0">
              <a:buNone/>
            </a:pPr>
            <a:r>
              <a:rPr lang="en-US" sz="1800" b="1" dirty="0">
                <a:solidFill>
                  <a:srgbClr val="4FD1C5"/>
                </a:solidFill>
                <a:latin typeface="Calibri" pitchFamily="34" charset="0"/>
                <a:ea typeface="Calibri" pitchFamily="34" charset="-122"/>
                <a:cs typeface="Calibri" pitchFamily="34" charset="-120"/>
              </a:rPr>
              <a:t>Business rule</a:t>
            </a:r>
            <a:endParaRPr lang="en-US" sz="1800" dirty="0"/>
          </a:p>
          <a:p>
            <a:pPr indent="0" marL="0">
              <a:buNone/>
            </a:pPr>
            <a:r>
              <a:rPr lang="en-US" sz="600" dirty="0">
                <a:solidFill>
                  <a:srgbClr val="EEF3F5"/>
                </a:solidFill>
                <a:latin typeface="Calibri" pitchFamily="34" charset="0"/>
                <a:ea typeface="Calibri" pitchFamily="34" charset="-122"/>
                <a:cs typeface="Calibri" pitchFamily="34" charset="-120"/>
              </a:rPr>
              <a:t> </a:t>
            </a:r>
            <a:endParaRPr lang="en-US" sz="1800" dirty="0"/>
          </a:p>
          <a:p>
            <a:pPr indent="0" marL="0">
              <a:buNone/>
            </a:pPr>
            <a:r>
              <a:rPr lang="en-US" sz="1500" dirty="0">
                <a:solidFill>
                  <a:srgbClr val="EEF3F5"/>
                </a:solidFill>
                <a:latin typeface="Calibri" pitchFamily="34" charset="0"/>
                <a:ea typeface="Calibri" pitchFamily="34" charset="-122"/>
                <a:cs typeface="Calibri" pitchFamily="34" charset="-120"/>
              </a:rPr>
              <a:t>Check eligibility</a:t>
            </a:r>
            <a:endParaRPr lang="en-US" sz="1800" dirty="0"/>
          </a:p>
          <a:p>
            <a:pPr indent="0" marL="0">
              <a:buNone/>
            </a:pPr>
            <a:r>
              <a:rPr lang="en-US" sz="600" dirty="0">
                <a:solidFill>
                  <a:srgbClr val="EEF3F5"/>
                </a:solidFill>
                <a:latin typeface="Calibri" pitchFamily="34" charset="0"/>
                <a:ea typeface="Calibri" pitchFamily="34" charset="-122"/>
                <a:cs typeface="Calibri" pitchFamily="34" charset="-120"/>
              </a:rPr>
              <a:t> </a:t>
            </a:r>
            <a:endParaRPr lang="en-US" sz="1800" dirty="0"/>
          </a:p>
          <a:p>
            <a:pPr indent="0" marL="0">
              <a:buNone/>
            </a:pPr>
            <a:r>
              <a:rPr lang="en-US" sz="1400" i="1" dirty="0">
                <a:solidFill>
                  <a:srgbClr val="A7BAC4"/>
                </a:solidFill>
                <a:latin typeface="Calibri" pitchFamily="34" charset="0"/>
                <a:ea typeface="Calibri" pitchFamily="34" charset="-122"/>
                <a:cs typeface="Calibri" pitchFamily="34" charset="-120"/>
              </a:rPr>
              <a:t>DMN table decides</a:t>
            </a:r>
            <a:endParaRPr lang="en-US" sz="1800" dirty="0"/>
          </a:p>
        </p:txBody>
      </p:sp>
      <p:sp>
        <p:nvSpPr>
          <p:cNvPr id="9" name="Shape 5"/>
          <p:cNvSpPr/>
          <p:nvPr/>
        </p:nvSpPr>
        <p:spPr>
          <a:xfrm>
            <a:off x="2862072" y="1691640"/>
            <a:ext cx="2057400" cy="3566160"/>
          </a:xfrm>
          <a:prstGeom prst="roundRect">
            <a:avLst>
              <a:gd name="adj" fmla="val 5333"/>
            </a:avLst>
          </a:prstGeom>
          <a:solidFill>
            <a:srgbClr val="1E323C"/>
          </a:solidFill>
          <a:ln w="12700">
            <a:solidFill>
              <a:srgbClr val="1E323C"/>
            </a:solidFill>
            <a:prstDash val="solid"/>
          </a:ln>
        </p:spPr>
      </p:sp>
      <p:sp>
        <p:nvSpPr>
          <p:cNvPr id="10" name="Shape 6"/>
          <p:cNvSpPr/>
          <p:nvPr/>
        </p:nvSpPr>
        <p:spPr>
          <a:xfrm>
            <a:off x="3090672" y="1920240"/>
            <a:ext cx="731520" cy="731520"/>
          </a:xfrm>
          <a:prstGeom prst="ellipse">
            <a:avLst/>
          </a:prstGeom>
          <a:solidFill>
            <a:srgbClr val="243C48"/>
          </a:solidFill>
          <a:ln w="12700">
            <a:solidFill>
              <a:srgbClr val="35566A"/>
            </a:solidFill>
            <a:prstDash val="solid"/>
          </a:ln>
        </p:spPr>
      </p:sp>
      <p:pic>
        <p:nvPicPr>
          <p:cNvPr id="11" name="Image 2" descr="User task icon">    </p:cNvPr>
          <p:cNvPicPr>
            <a:picLocks noChangeAspect="1"/>
          </p:cNvPicPr>
          <p:nvPr/>
        </p:nvPicPr>
        <p:blipFill>
          <a:blip r:embed="rId3"/>
          <a:stretch>
            <a:fillRect/>
          </a:stretch>
        </p:blipFill>
        <p:spPr>
          <a:xfrm>
            <a:off x="3227832" y="2057400"/>
            <a:ext cx="457200" cy="457200"/>
          </a:xfrm>
          <a:prstGeom prst="rect">
            <a:avLst/>
          </a:prstGeom>
        </p:spPr>
      </p:pic>
      <p:sp>
        <p:nvSpPr>
          <p:cNvPr id="12" name="Text 7"/>
          <p:cNvSpPr txBox="1"/>
          <p:nvPr/>
        </p:nvSpPr>
        <p:spPr>
          <a:xfrm>
            <a:off x="3090672" y="2834640"/>
            <a:ext cx="1691640" cy="2286000"/>
          </a:xfrm>
          <a:prstGeom prst="rect">
            <a:avLst/>
          </a:prstGeom>
          <a:noFill/>
          <a:ln/>
        </p:spPr>
        <p:txBody>
          <a:bodyPr wrap="square" lIns="0" tIns="0" rIns="0" bIns="0" rtlCol="0" anchor="t"/>
          <a:lstStyle/>
          <a:p>
            <a:pPr indent="0" marL="0">
              <a:buNone/>
            </a:pPr>
            <a:r>
              <a:rPr lang="en-US" sz="1800" b="1" dirty="0">
                <a:solidFill>
                  <a:srgbClr val="4FD1C5"/>
                </a:solidFill>
                <a:latin typeface="Calibri" pitchFamily="34" charset="0"/>
                <a:ea typeface="Calibri" pitchFamily="34" charset="-122"/>
                <a:cs typeface="Calibri" pitchFamily="34" charset="-120"/>
              </a:rPr>
              <a:t>User</a:t>
            </a:r>
            <a:endParaRPr lang="en-US" sz="1800" dirty="0"/>
          </a:p>
          <a:p>
            <a:pPr indent="0" marL="0">
              <a:buNone/>
            </a:pPr>
            <a:r>
              <a:rPr lang="en-US" sz="600" dirty="0">
                <a:solidFill>
                  <a:srgbClr val="EEF3F5"/>
                </a:solidFill>
                <a:latin typeface="Calibri" pitchFamily="34" charset="0"/>
                <a:ea typeface="Calibri" pitchFamily="34" charset="-122"/>
                <a:cs typeface="Calibri" pitchFamily="34" charset="-120"/>
              </a:rPr>
              <a:t> </a:t>
            </a:r>
            <a:endParaRPr lang="en-US" sz="1800" dirty="0"/>
          </a:p>
          <a:p>
            <a:pPr indent="0" marL="0">
              <a:buNone/>
            </a:pPr>
            <a:r>
              <a:rPr lang="en-US" sz="1500" dirty="0">
                <a:solidFill>
                  <a:srgbClr val="EEF3F5"/>
                </a:solidFill>
                <a:latin typeface="Calibri" pitchFamily="34" charset="0"/>
                <a:ea typeface="Calibri" pitchFamily="34" charset="-122"/>
                <a:cs typeface="Calibri" pitchFamily="34" charset="-120"/>
              </a:rPr>
              <a:t>Investigate alert, Underwrite, Fix bank details</a:t>
            </a:r>
            <a:endParaRPr lang="en-US" sz="1800" dirty="0"/>
          </a:p>
          <a:p>
            <a:pPr indent="0" marL="0">
              <a:buNone/>
            </a:pPr>
            <a:r>
              <a:rPr lang="en-US" sz="600" dirty="0">
                <a:solidFill>
                  <a:srgbClr val="EEF3F5"/>
                </a:solidFill>
                <a:latin typeface="Calibri" pitchFamily="34" charset="0"/>
                <a:ea typeface="Calibri" pitchFamily="34" charset="-122"/>
                <a:cs typeface="Calibri" pitchFamily="34" charset="-120"/>
              </a:rPr>
              <a:t> </a:t>
            </a:r>
            <a:endParaRPr lang="en-US" sz="1800" dirty="0"/>
          </a:p>
          <a:p>
            <a:pPr indent="0" marL="0">
              <a:buNone/>
            </a:pPr>
            <a:r>
              <a:rPr lang="en-US" sz="1400" i="1" dirty="0">
                <a:solidFill>
                  <a:srgbClr val="A7BAC4"/>
                </a:solidFill>
                <a:latin typeface="Calibri" pitchFamily="34" charset="0"/>
                <a:ea typeface="Calibri" pitchFamily="34" charset="-122"/>
                <a:cs typeface="Calibri" pitchFamily="34" charset="-120"/>
              </a:rPr>
              <a:t>a person decides</a:t>
            </a:r>
            <a:endParaRPr lang="en-US" sz="1800" dirty="0"/>
          </a:p>
        </p:txBody>
      </p:sp>
      <p:sp>
        <p:nvSpPr>
          <p:cNvPr id="13" name="Shape 8"/>
          <p:cNvSpPr/>
          <p:nvPr/>
        </p:nvSpPr>
        <p:spPr>
          <a:xfrm>
            <a:off x="5084064" y="1691640"/>
            <a:ext cx="2057400" cy="3566160"/>
          </a:xfrm>
          <a:prstGeom prst="roundRect">
            <a:avLst>
              <a:gd name="adj" fmla="val 5333"/>
            </a:avLst>
          </a:prstGeom>
          <a:solidFill>
            <a:srgbClr val="1E323C"/>
          </a:solidFill>
          <a:ln w="12700">
            <a:solidFill>
              <a:srgbClr val="1E323C"/>
            </a:solidFill>
            <a:prstDash val="solid"/>
          </a:ln>
        </p:spPr>
      </p:sp>
      <p:sp>
        <p:nvSpPr>
          <p:cNvPr id="14" name="Shape 9"/>
          <p:cNvSpPr/>
          <p:nvPr/>
        </p:nvSpPr>
        <p:spPr>
          <a:xfrm>
            <a:off x="5312664" y="1920240"/>
            <a:ext cx="731520" cy="731520"/>
          </a:xfrm>
          <a:prstGeom prst="ellipse">
            <a:avLst/>
          </a:prstGeom>
          <a:solidFill>
            <a:srgbClr val="243C48"/>
          </a:solidFill>
          <a:ln w="12700">
            <a:solidFill>
              <a:srgbClr val="35566A"/>
            </a:solidFill>
            <a:prstDash val="solid"/>
          </a:ln>
        </p:spPr>
      </p:sp>
      <p:pic>
        <p:nvPicPr>
          <p:cNvPr id="15" name="Image 3" descr="Service task icon">    </p:cNvPr>
          <p:cNvPicPr>
            <a:picLocks noChangeAspect="1"/>
          </p:cNvPicPr>
          <p:nvPr/>
        </p:nvPicPr>
        <p:blipFill>
          <a:blip r:embed="rId4"/>
          <a:stretch>
            <a:fillRect/>
          </a:stretch>
        </p:blipFill>
        <p:spPr>
          <a:xfrm>
            <a:off x="5449824" y="2057400"/>
            <a:ext cx="457200" cy="457200"/>
          </a:xfrm>
          <a:prstGeom prst="rect">
            <a:avLst/>
          </a:prstGeom>
        </p:spPr>
      </p:pic>
      <p:sp>
        <p:nvSpPr>
          <p:cNvPr id="16" name="Text 10"/>
          <p:cNvSpPr txBox="1"/>
          <p:nvPr/>
        </p:nvSpPr>
        <p:spPr>
          <a:xfrm>
            <a:off x="5312664" y="2834640"/>
            <a:ext cx="1691640" cy="2286000"/>
          </a:xfrm>
          <a:prstGeom prst="rect">
            <a:avLst/>
          </a:prstGeom>
          <a:noFill/>
          <a:ln/>
        </p:spPr>
        <p:txBody>
          <a:bodyPr wrap="square" lIns="0" tIns="0" rIns="0" bIns="0" rtlCol="0" anchor="t"/>
          <a:lstStyle/>
          <a:p>
            <a:pPr indent="0" marL="0">
              <a:buNone/>
            </a:pPr>
            <a:r>
              <a:rPr lang="en-US" sz="1800" b="1" dirty="0">
                <a:solidFill>
                  <a:srgbClr val="4FD1C5"/>
                </a:solidFill>
                <a:latin typeface="Calibri" pitchFamily="34" charset="0"/>
                <a:ea typeface="Calibri" pitchFamily="34" charset="-122"/>
                <a:cs typeface="Calibri" pitchFamily="34" charset="-120"/>
              </a:rPr>
              <a:t>Service</a:t>
            </a:r>
            <a:endParaRPr lang="en-US" sz="1800" dirty="0"/>
          </a:p>
          <a:p>
            <a:pPr indent="0" marL="0">
              <a:buNone/>
            </a:pPr>
            <a:r>
              <a:rPr lang="en-US" sz="600" dirty="0">
                <a:solidFill>
                  <a:srgbClr val="EEF3F5"/>
                </a:solidFill>
                <a:latin typeface="Calibri" pitchFamily="34" charset="0"/>
                <a:ea typeface="Calibri" pitchFamily="34" charset="-122"/>
                <a:cs typeface="Calibri" pitchFamily="34" charset="-120"/>
              </a:rPr>
              <a:t> </a:t>
            </a:r>
            <a:endParaRPr lang="en-US" sz="1800" dirty="0"/>
          </a:p>
          <a:p>
            <a:pPr indent="0" marL="0">
              <a:buNone/>
            </a:pPr>
            <a:r>
              <a:rPr lang="en-US" sz="1500" dirty="0">
                <a:solidFill>
                  <a:srgbClr val="EEF3F5"/>
                </a:solidFill>
                <a:latin typeface="Calibri" pitchFamily="34" charset="0"/>
                <a:ea typeface="Calibri" pitchFamily="34" charset="-122"/>
                <a:cs typeface="Calibri" pitchFamily="34" charset="-120"/>
              </a:rPr>
              <a:t>Credit score, backup bureau, KYC, AML, Disburse</a:t>
            </a:r>
            <a:endParaRPr lang="en-US" sz="1800" dirty="0"/>
          </a:p>
          <a:p>
            <a:pPr indent="0" marL="0">
              <a:buNone/>
            </a:pPr>
            <a:r>
              <a:rPr lang="en-US" sz="600" dirty="0">
                <a:solidFill>
                  <a:srgbClr val="EEF3F5"/>
                </a:solidFill>
                <a:latin typeface="Calibri" pitchFamily="34" charset="0"/>
                <a:ea typeface="Calibri" pitchFamily="34" charset="-122"/>
                <a:cs typeface="Calibri" pitchFamily="34" charset="-120"/>
              </a:rPr>
              <a:t> </a:t>
            </a:r>
            <a:endParaRPr lang="en-US" sz="1800" dirty="0"/>
          </a:p>
          <a:p>
            <a:pPr indent="0" marL="0">
              <a:buNone/>
            </a:pPr>
            <a:r>
              <a:rPr lang="en-US" sz="1400" i="1" dirty="0">
                <a:solidFill>
                  <a:srgbClr val="A7BAC4"/>
                </a:solidFill>
                <a:latin typeface="Calibri" pitchFamily="34" charset="0"/>
                <a:ea typeface="Calibri" pitchFamily="34" charset="-122"/>
                <a:cs typeface="Calibri" pitchFamily="34" charset="-120"/>
              </a:rPr>
              <a:t>system / API call</a:t>
            </a:r>
            <a:endParaRPr lang="en-US" sz="1800" dirty="0"/>
          </a:p>
        </p:txBody>
      </p:sp>
      <p:sp>
        <p:nvSpPr>
          <p:cNvPr id="17" name="Shape 11"/>
          <p:cNvSpPr/>
          <p:nvPr/>
        </p:nvSpPr>
        <p:spPr>
          <a:xfrm>
            <a:off x="7306056" y="1691640"/>
            <a:ext cx="2057400" cy="3566160"/>
          </a:xfrm>
          <a:prstGeom prst="roundRect">
            <a:avLst>
              <a:gd name="adj" fmla="val 5333"/>
            </a:avLst>
          </a:prstGeom>
          <a:solidFill>
            <a:srgbClr val="1E323C"/>
          </a:solidFill>
          <a:ln w="12700">
            <a:solidFill>
              <a:srgbClr val="1E323C"/>
            </a:solidFill>
            <a:prstDash val="solid"/>
          </a:ln>
        </p:spPr>
      </p:sp>
      <p:sp>
        <p:nvSpPr>
          <p:cNvPr id="18" name="Shape 12"/>
          <p:cNvSpPr/>
          <p:nvPr/>
        </p:nvSpPr>
        <p:spPr>
          <a:xfrm>
            <a:off x="7534656" y="1920240"/>
            <a:ext cx="731520" cy="731520"/>
          </a:xfrm>
          <a:prstGeom prst="ellipse">
            <a:avLst/>
          </a:prstGeom>
          <a:solidFill>
            <a:srgbClr val="243C48"/>
          </a:solidFill>
          <a:ln w="12700">
            <a:solidFill>
              <a:srgbClr val="35566A"/>
            </a:solidFill>
            <a:prstDash val="solid"/>
          </a:ln>
        </p:spPr>
      </p:sp>
      <p:pic>
        <p:nvPicPr>
          <p:cNvPr id="19" name="Image 4" descr="Send task icon">    </p:cNvPr>
          <p:cNvPicPr>
            <a:picLocks noChangeAspect="1"/>
          </p:cNvPicPr>
          <p:nvPr/>
        </p:nvPicPr>
        <p:blipFill>
          <a:blip r:embed="rId5"/>
          <a:stretch>
            <a:fillRect/>
          </a:stretch>
        </p:blipFill>
        <p:spPr>
          <a:xfrm>
            <a:off x="7671816" y="2057400"/>
            <a:ext cx="457200" cy="457200"/>
          </a:xfrm>
          <a:prstGeom prst="rect">
            <a:avLst/>
          </a:prstGeom>
        </p:spPr>
      </p:pic>
      <p:sp>
        <p:nvSpPr>
          <p:cNvPr id="20" name="Text 13"/>
          <p:cNvSpPr txBox="1"/>
          <p:nvPr/>
        </p:nvSpPr>
        <p:spPr>
          <a:xfrm>
            <a:off x="7534656" y="2834640"/>
            <a:ext cx="1691640" cy="2286000"/>
          </a:xfrm>
          <a:prstGeom prst="rect">
            <a:avLst/>
          </a:prstGeom>
          <a:noFill/>
          <a:ln/>
        </p:spPr>
        <p:txBody>
          <a:bodyPr wrap="square" lIns="0" tIns="0" rIns="0" bIns="0" rtlCol="0" anchor="t"/>
          <a:lstStyle/>
          <a:p>
            <a:pPr indent="0" marL="0">
              <a:buNone/>
            </a:pPr>
            <a:r>
              <a:rPr lang="en-US" sz="1800" b="1" dirty="0">
                <a:solidFill>
                  <a:srgbClr val="4FD1C5"/>
                </a:solidFill>
                <a:latin typeface="Calibri" pitchFamily="34" charset="0"/>
                <a:ea typeface="Calibri" pitchFamily="34" charset="-122"/>
                <a:cs typeface="Calibri" pitchFamily="34" charset="-120"/>
              </a:rPr>
              <a:t>Send</a:t>
            </a:r>
            <a:endParaRPr lang="en-US" sz="1800" dirty="0"/>
          </a:p>
          <a:p>
            <a:pPr indent="0" marL="0">
              <a:buNone/>
            </a:pPr>
            <a:r>
              <a:rPr lang="en-US" sz="600" dirty="0">
                <a:solidFill>
                  <a:srgbClr val="EEF3F5"/>
                </a:solidFill>
                <a:latin typeface="Calibri" pitchFamily="34" charset="0"/>
                <a:ea typeface="Calibri" pitchFamily="34" charset="-122"/>
                <a:cs typeface="Calibri" pitchFamily="34" charset="-120"/>
              </a:rPr>
              <a:t> </a:t>
            </a:r>
            <a:endParaRPr lang="en-US" sz="1800" dirty="0"/>
          </a:p>
          <a:p>
            <a:pPr indent="0" marL="0">
              <a:buNone/>
            </a:pPr>
            <a:r>
              <a:rPr lang="en-US" sz="1500" dirty="0">
                <a:solidFill>
                  <a:srgbClr val="EEF3F5"/>
                </a:solidFill>
                <a:latin typeface="Calibri" pitchFamily="34" charset="0"/>
                <a:ea typeface="Calibri" pitchFamily="34" charset="-122"/>
                <a:cs typeface="Calibri" pitchFamily="34" charset="-120"/>
              </a:rPr>
              <a:t>Request documents, offer, rejection, confirmation</a:t>
            </a:r>
            <a:endParaRPr lang="en-US" sz="1800" dirty="0"/>
          </a:p>
          <a:p>
            <a:pPr indent="0" marL="0">
              <a:buNone/>
            </a:pPr>
            <a:r>
              <a:rPr lang="en-US" sz="600" dirty="0">
                <a:solidFill>
                  <a:srgbClr val="EEF3F5"/>
                </a:solidFill>
                <a:latin typeface="Calibri" pitchFamily="34" charset="0"/>
                <a:ea typeface="Calibri" pitchFamily="34" charset="-122"/>
                <a:cs typeface="Calibri" pitchFamily="34" charset="-120"/>
              </a:rPr>
              <a:t> </a:t>
            </a:r>
            <a:endParaRPr lang="en-US" sz="1800" dirty="0"/>
          </a:p>
          <a:p>
            <a:pPr indent="0" marL="0">
              <a:buNone/>
            </a:pPr>
            <a:r>
              <a:rPr lang="en-US" sz="1400" i="1" dirty="0">
                <a:solidFill>
                  <a:srgbClr val="A7BAC4"/>
                </a:solidFill>
                <a:latin typeface="Calibri" pitchFamily="34" charset="0"/>
                <a:ea typeface="Calibri" pitchFamily="34" charset="-122"/>
                <a:cs typeface="Calibri" pitchFamily="34" charset="-120"/>
              </a:rPr>
              <a:t>message to applicant</a:t>
            </a:r>
            <a:endParaRPr lang="en-US" sz="1800" dirty="0"/>
          </a:p>
        </p:txBody>
      </p:sp>
      <p:sp>
        <p:nvSpPr>
          <p:cNvPr id="21" name="Shape 14"/>
          <p:cNvSpPr/>
          <p:nvPr/>
        </p:nvSpPr>
        <p:spPr>
          <a:xfrm>
            <a:off x="9528048" y="1691640"/>
            <a:ext cx="2057400" cy="3566160"/>
          </a:xfrm>
          <a:prstGeom prst="roundRect">
            <a:avLst>
              <a:gd name="adj" fmla="val 5333"/>
            </a:avLst>
          </a:prstGeom>
          <a:solidFill>
            <a:srgbClr val="1E323C"/>
          </a:solidFill>
          <a:ln w="12700">
            <a:solidFill>
              <a:srgbClr val="1E323C"/>
            </a:solidFill>
            <a:prstDash val="solid"/>
          </a:ln>
        </p:spPr>
      </p:sp>
      <p:sp>
        <p:nvSpPr>
          <p:cNvPr id="22" name="Shape 15"/>
          <p:cNvSpPr/>
          <p:nvPr/>
        </p:nvSpPr>
        <p:spPr>
          <a:xfrm>
            <a:off x="9756648" y="1920240"/>
            <a:ext cx="731520" cy="731520"/>
          </a:xfrm>
          <a:prstGeom prst="ellipse">
            <a:avLst/>
          </a:prstGeom>
          <a:solidFill>
            <a:srgbClr val="243C48"/>
          </a:solidFill>
          <a:ln w="12700">
            <a:solidFill>
              <a:srgbClr val="35566A"/>
            </a:solidFill>
            <a:prstDash val="solid"/>
          </a:ln>
        </p:spPr>
      </p:sp>
      <p:pic>
        <p:nvPicPr>
          <p:cNvPr id="23" name="Image 5" descr="Receive task icon">    </p:cNvPr>
          <p:cNvPicPr>
            <a:picLocks noChangeAspect="1"/>
          </p:cNvPicPr>
          <p:nvPr/>
        </p:nvPicPr>
        <p:blipFill>
          <a:blip r:embed="rId6"/>
          <a:stretch>
            <a:fillRect/>
          </a:stretch>
        </p:blipFill>
        <p:spPr>
          <a:xfrm>
            <a:off x="9893808" y="2057400"/>
            <a:ext cx="457200" cy="457200"/>
          </a:xfrm>
          <a:prstGeom prst="rect">
            <a:avLst/>
          </a:prstGeom>
        </p:spPr>
      </p:pic>
      <p:sp>
        <p:nvSpPr>
          <p:cNvPr id="24" name="Text 16"/>
          <p:cNvSpPr txBox="1"/>
          <p:nvPr/>
        </p:nvSpPr>
        <p:spPr>
          <a:xfrm>
            <a:off x="9756648" y="2834640"/>
            <a:ext cx="1691640" cy="2286000"/>
          </a:xfrm>
          <a:prstGeom prst="rect">
            <a:avLst/>
          </a:prstGeom>
          <a:noFill/>
          <a:ln/>
        </p:spPr>
        <p:txBody>
          <a:bodyPr wrap="square" lIns="0" tIns="0" rIns="0" bIns="0" rtlCol="0" anchor="t"/>
          <a:lstStyle/>
          <a:p>
            <a:pPr indent="0" marL="0">
              <a:buNone/>
            </a:pPr>
            <a:r>
              <a:rPr lang="en-US" sz="1800" b="1" dirty="0">
                <a:solidFill>
                  <a:srgbClr val="4FD1C5"/>
                </a:solidFill>
                <a:latin typeface="Calibri" pitchFamily="34" charset="0"/>
                <a:ea typeface="Calibri" pitchFamily="34" charset="-122"/>
                <a:cs typeface="Calibri" pitchFamily="34" charset="-120"/>
              </a:rPr>
              <a:t>Receive</a:t>
            </a:r>
            <a:endParaRPr lang="en-US" sz="1800" dirty="0"/>
          </a:p>
          <a:p>
            <a:pPr indent="0" marL="0">
              <a:buNone/>
            </a:pPr>
            <a:r>
              <a:rPr lang="en-US" sz="600" dirty="0">
                <a:solidFill>
                  <a:srgbClr val="EEF3F5"/>
                </a:solidFill>
                <a:latin typeface="Calibri" pitchFamily="34" charset="0"/>
                <a:ea typeface="Calibri" pitchFamily="34" charset="-122"/>
                <a:cs typeface="Calibri" pitchFamily="34" charset="-120"/>
              </a:rPr>
              <a:t> </a:t>
            </a:r>
            <a:endParaRPr lang="en-US" sz="1800" dirty="0"/>
          </a:p>
          <a:p>
            <a:pPr indent="0" marL="0">
              <a:buNone/>
            </a:pPr>
            <a:r>
              <a:rPr lang="en-US" sz="1500" dirty="0">
                <a:solidFill>
                  <a:srgbClr val="EEF3F5"/>
                </a:solidFill>
                <a:latin typeface="Calibri" pitchFamily="34" charset="0"/>
                <a:ea typeface="Calibri" pitchFamily="34" charset="-122"/>
                <a:cs typeface="Calibri" pitchFamily="34" charset="-120"/>
              </a:rPr>
              <a:t>Receive documents</a:t>
            </a:r>
            <a:endParaRPr lang="en-US" sz="1800" dirty="0"/>
          </a:p>
          <a:p>
            <a:pPr indent="0" marL="0">
              <a:buNone/>
            </a:pPr>
            <a:r>
              <a:rPr lang="en-US" sz="600" dirty="0">
                <a:solidFill>
                  <a:srgbClr val="EEF3F5"/>
                </a:solidFill>
                <a:latin typeface="Calibri" pitchFamily="34" charset="0"/>
                <a:ea typeface="Calibri" pitchFamily="34" charset="-122"/>
                <a:cs typeface="Calibri" pitchFamily="34" charset="-120"/>
              </a:rPr>
              <a:t> </a:t>
            </a:r>
            <a:endParaRPr lang="en-US" sz="1800" dirty="0"/>
          </a:p>
          <a:p>
            <a:pPr indent="0" marL="0">
              <a:buNone/>
            </a:pPr>
            <a:r>
              <a:rPr lang="en-US" sz="1400" i="1" dirty="0">
                <a:solidFill>
                  <a:srgbClr val="A7BAC4"/>
                </a:solidFill>
                <a:latin typeface="Calibri" pitchFamily="34" charset="0"/>
                <a:ea typeface="Calibri" pitchFamily="34" charset="-122"/>
                <a:cs typeface="Calibri" pitchFamily="34" charset="-120"/>
              </a:rPr>
              <a:t>waits, 7-day timer</a:t>
            </a:r>
            <a:endParaRPr lang="en-US" sz="1800" dirty="0"/>
          </a:p>
        </p:txBody>
      </p:sp>
      <p:sp>
        <p:nvSpPr>
          <p:cNvPr id="25" name="Slide Number Placeholder 0"/>
          <p:cNvSpPr>
            <a:spLocks noGrp="1"/>
          </p:cNvSpPr>
          <p:nvPr>
            <p:ph type="sldNum" sz="quarter" idx="4294967295"/>
          </p:nvPr>
        </p:nvSpPr>
        <p:spPr>
          <a:xfrm>
            <a:off x="11247120"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7BAC4"/>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548640"/>
            <a:ext cx="594360" cy="502920"/>
          </a:xfrm>
          <a:prstGeom prst="roundRect">
            <a:avLst>
              <a:gd name="adj" fmla="val 21818"/>
            </a:avLst>
          </a:prstGeom>
          <a:solidFill>
            <a:srgbClr val="4FD1C5"/>
          </a:solidFill>
          <a:ln>
            <a:solidFill>
              <a:srgbClr val="4FD1C5"/>
            </a:solidFill>
          </a:ln>
        </p:spPr>
        <p:txBody>
          <a:bodyPr wrap="square" lIns="0" tIns="0" rIns="0" bIns="0" rtlCol="0" anchor="ctr"/>
          <a:lstStyle/>
          <a:p>
            <a:pPr algn="ctr" indent="0" marL="0">
              <a:buNone/>
            </a:pPr>
            <a:r>
              <a:rPr lang="en-US" sz="1600" b="1" dirty="0">
                <a:solidFill>
                  <a:srgbClr val="14222A"/>
                </a:solidFill>
                <a:latin typeface="Calibri" pitchFamily="34" charset="0"/>
                <a:ea typeface="Calibri" pitchFamily="34" charset="-122"/>
                <a:cs typeface="Calibri" pitchFamily="34" charset="-120"/>
              </a:rPr>
              <a:t>04</a:t>
            </a:r>
            <a:endParaRPr lang="en-US" sz="1600" dirty="0"/>
          </a:p>
        </p:txBody>
      </p:sp>
      <p:sp>
        <p:nvSpPr>
          <p:cNvPr id="3" name="Text 0"/>
          <p:cNvSpPr/>
          <p:nvPr>
            <p:ph idx="100" type="title" hasCustomPrompt="1"/>
          </p:nvPr>
        </p:nvSpPr>
        <p:spPr>
          <a:xfrm>
            <a:off x="1417320" y="457200"/>
            <a:ext cx="9601200" cy="685800"/>
          </a:xfrm>
          <a:prstGeom prst="rect">
            <a:avLst/>
          </a:prstGeom>
          <a:noFill/>
          <a:ln/>
        </p:spPr>
        <p:txBody>
          <a:bodyPr wrap="square" lIns="0" tIns="0" rIns="0" bIns="0" rtlCol="0" anchor="ctr"/>
          <a:lstStyle/>
          <a:p>
            <a:pPr algn="l" indent="0" marL="0">
              <a:buNone/>
            </a:pPr>
            <a:r>
              <a:rPr lang="en-US" sz="3000" b="1" dirty="0">
                <a:solidFill>
                  <a:srgbClr val="EEF3F5"/>
                </a:solidFill>
                <a:latin typeface="Cambria" pitchFamily="34" charset="0"/>
                <a:ea typeface="Cambria" pitchFamily="34" charset="-122"/>
                <a:cs typeface="Cambria" pitchFamily="34" charset="-120"/>
              </a:rPr>
              <a:t>Gateways</a:t>
            </a:r>
            <a:endParaRPr lang="en-US" sz="3000" dirty="0"/>
          </a:p>
        </p:txBody>
      </p:sp>
      <p:sp>
        <p:nvSpPr>
          <p:cNvPr id="4" name="Shape 2"/>
          <p:cNvSpPr/>
          <p:nvPr/>
        </p:nvSpPr>
        <p:spPr>
          <a:xfrm>
            <a:off x="640080" y="1463040"/>
            <a:ext cx="3474720" cy="2743200"/>
          </a:xfrm>
          <a:prstGeom prst="roundRect">
            <a:avLst>
              <a:gd name="adj" fmla="val 3333"/>
            </a:avLst>
          </a:prstGeom>
          <a:solidFill>
            <a:srgbClr val="FFFFFF"/>
          </a:solidFill>
          <a:ln w="12700">
            <a:solidFill>
              <a:srgbClr val="FFFFFF"/>
            </a:solidFill>
            <a:prstDash val="solid"/>
          </a:ln>
          <a:effectLst>
            <a:outerShdw sx="100000" sy="100000" kx="0" ky="0" algn="bl" rotWithShape="0" blurRad="101600" dist="25400" dir="5400000">
              <a:srgbClr val="000000">
                <a:alpha val="35000"/>
              </a:srgbClr>
            </a:outerShdw>
          </a:effectLst>
        </p:spPr>
      </p:sp>
      <p:pic>
        <p:nvPicPr>
          <p:cNvPr id="5" name="Image 0" descr="Diagram crop for the Exclusive gateway">    </p:cNvPr>
          <p:cNvPicPr>
            <a:picLocks noChangeAspect="1"/>
          </p:cNvPicPr>
          <p:nvPr/>
        </p:nvPicPr>
        <p:blipFill>
          <a:blip r:embed="rId1"/>
          <a:stretch>
            <a:fillRect/>
          </a:stretch>
        </p:blipFill>
        <p:spPr>
          <a:xfrm>
            <a:off x="749808" y="1850773"/>
            <a:ext cx="3255264" cy="1967734"/>
          </a:xfrm>
          <a:prstGeom prst="rect">
            <a:avLst/>
          </a:prstGeom>
        </p:spPr>
      </p:pic>
      <p:pic>
        <p:nvPicPr>
          <p:cNvPr id="6" name="Image 1" descr="Exclusive gateway symbol">    </p:cNvPr>
          <p:cNvPicPr>
            <a:picLocks noChangeAspect="1"/>
          </p:cNvPicPr>
          <p:nvPr/>
        </p:nvPicPr>
        <p:blipFill>
          <a:blip r:embed="rId2"/>
          <a:stretch>
            <a:fillRect/>
          </a:stretch>
        </p:blipFill>
        <p:spPr>
          <a:xfrm>
            <a:off x="640080" y="4434840"/>
            <a:ext cx="548640" cy="548640"/>
          </a:xfrm>
          <a:prstGeom prst="rect">
            <a:avLst/>
          </a:prstGeom>
        </p:spPr>
      </p:pic>
      <p:sp>
        <p:nvSpPr>
          <p:cNvPr id="7" name="Text 3"/>
          <p:cNvSpPr txBox="1"/>
          <p:nvPr/>
        </p:nvSpPr>
        <p:spPr>
          <a:xfrm>
            <a:off x="1325880" y="4434840"/>
            <a:ext cx="2788920" cy="1645920"/>
          </a:xfrm>
          <a:prstGeom prst="rect">
            <a:avLst/>
          </a:prstGeom>
          <a:noFill/>
          <a:ln/>
        </p:spPr>
        <p:txBody>
          <a:bodyPr wrap="square" lIns="0" tIns="0" rIns="0" bIns="0" rtlCol="0" anchor="t"/>
          <a:lstStyle/>
          <a:p>
            <a:pPr indent="0" marL="0">
              <a:spcAft>
                <a:spcPts val="400"/>
              </a:spcAft>
              <a:buNone/>
            </a:pPr>
            <a:r>
              <a:rPr lang="en-US" sz="1800" b="1" dirty="0">
                <a:solidFill>
                  <a:srgbClr val="4FD1C5"/>
                </a:solidFill>
                <a:latin typeface="Calibri" pitchFamily="34" charset="0"/>
                <a:ea typeface="Calibri" pitchFamily="34" charset="-122"/>
                <a:cs typeface="Calibri" pitchFamily="34" charset="-120"/>
              </a:rPr>
              <a:t>Exclusive</a:t>
            </a:r>
            <a:endParaRPr lang="en-US" sz="1800" dirty="0"/>
          </a:p>
          <a:p>
            <a:pPr indent="0" marL="0">
              <a:spcAft>
                <a:spcPts val="400"/>
              </a:spcAft>
              <a:buNone/>
            </a:pPr>
            <a:r>
              <a:rPr lang="en-US" sz="1500" dirty="0">
                <a:solidFill>
                  <a:srgbClr val="EEF3F5"/>
                </a:solidFill>
                <a:latin typeface="Calibri" pitchFamily="34" charset="0"/>
                <a:ea typeface="Calibri" pitchFamily="34" charset="-122"/>
                <a:cs typeface="Calibri" pitchFamily="34" charset="-120"/>
              </a:rPr>
              <a:t>One path. Eligible? has three: OK, docs missing, ineligible.</a:t>
            </a:r>
            <a:endParaRPr lang="en-US" sz="1800" dirty="0"/>
          </a:p>
        </p:txBody>
      </p:sp>
      <p:sp>
        <p:nvSpPr>
          <p:cNvPr id="8" name="Shape 4"/>
          <p:cNvSpPr/>
          <p:nvPr/>
        </p:nvSpPr>
        <p:spPr>
          <a:xfrm>
            <a:off x="4343400" y="1463040"/>
            <a:ext cx="3474720" cy="2743200"/>
          </a:xfrm>
          <a:prstGeom prst="roundRect">
            <a:avLst>
              <a:gd name="adj" fmla="val 3333"/>
            </a:avLst>
          </a:prstGeom>
          <a:solidFill>
            <a:srgbClr val="FFFFFF"/>
          </a:solidFill>
          <a:ln w="12700">
            <a:solidFill>
              <a:srgbClr val="FFFFFF"/>
            </a:solidFill>
            <a:prstDash val="solid"/>
          </a:ln>
          <a:effectLst>
            <a:outerShdw sx="100000" sy="100000" kx="0" ky="0" algn="bl" rotWithShape="0" blurRad="101600" dist="25400" dir="5400000">
              <a:srgbClr val="000000">
                <a:alpha val="35000"/>
              </a:srgbClr>
            </a:outerShdw>
          </a:effectLst>
        </p:spPr>
      </p:sp>
      <p:pic>
        <p:nvPicPr>
          <p:cNvPr id="9" name="Image 2" descr="Diagram crop for the Parallel gateway">    </p:cNvPr>
          <p:cNvPicPr>
            <a:picLocks noChangeAspect="1"/>
          </p:cNvPicPr>
          <p:nvPr/>
        </p:nvPicPr>
        <p:blipFill>
          <a:blip r:embed="rId3"/>
          <a:stretch>
            <a:fillRect/>
          </a:stretch>
        </p:blipFill>
        <p:spPr>
          <a:xfrm>
            <a:off x="4730850" y="1572768"/>
            <a:ext cx="2699819" cy="2523744"/>
          </a:xfrm>
          <a:prstGeom prst="rect">
            <a:avLst/>
          </a:prstGeom>
        </p:spPr>
      </p:pic>
      <p:pic>
        <p:nvPicPr>
          <p:cNvPr id="10" name="Image 3" descr="Parallel gateway symbol">    </p:cNvPr>
          <p:cNvPicPr>
            <a:picLocks noChangeAspect="1"/>
          </p:cNvPicPr>
          <p:nvPr/>
        </p:nvPicPr>
        <p:blipFill>
          <a:blip r:embed="rId4"/>
          <a:stretch>
            <a:fillRect/>
          </a:stretch>
        </p:blipFill>
        <p:spPr>
          <a:xfrm>
            <a:off x="4343400" y="4434840"/>
            <a:ext cx="548640" cy="548640"/>
          </a:xfrm>
          <a:prstGeom prst="rect">
            <a:avLst/>
          </a:prstGeom>
        </p:spPr>
      </p:pic>
      <p:sp>
        <p:nvSpPr>
          <p:cNvPr id="11" name="Text 5"/>
          <p:cNvSpPr txBox="1"/>
          <p:nvPr/>
        </p:nvSpPr>
        <p:spPr>
          <a:xfrm>
            <a:off x="5029200" y="4434840"/>
            <a:ext cx="2788920" cy="1645920"/>
          </a:xfrm>
          <a:prstGeom prst="rect">
            <a:avLst/>
          </a:prstGeom>
          <a:noFill/>
          <a:ln/>
        </p:spPr>
        <p:txBody>
          <a:bodyPr wrap="square" lIns="0" tIns="0" rIns="0" bIns="0" rtlCol="0" anchor="t"/>
          <a:lstStyle/>
          <a:p>
            <a:pPr indent="0" marL="0">
              <a:spcAft>
                <a:spcPts val="400"/>
              </a:spcAft>
              <a:buNone/>
            </a:pPr>
            <a:r>
              <a:rPr lang="en-US" sz="1800" b="1" dirty="0">
                <a:solidFill>
                  <a:srgbClr val="4FD1C5"/>
                </a:solidFill>
                <a:latin typeface="Calibri" pitchFamily="34" charset="0"/>
                <a:ea typeface="Calibri" pitchFamily="34" charset="-122"/>
                <a:cs typeface="Calibri" pitchFamily="34" charset="-120"/>
              </a:rPr>
              <a:t>Parallel</a:t>
            </a:r>
            <a:endParaRPr lang="en-US" sz="1800" dirty="0"/>
          </a:p>
          <a:p>
            <a:pPr indent="0" marL="0">
              <a:spcAft>
                <a:spcPts val="400"/>
              </a:spcAft>
              <a:buNone/>
            </a:pPr>
            <a:r>
              <a:rPr lang="en-US" sz="1500" dirty="0">
                <a:solidFill>
                  <a:srgbClr val="EEF3F5"/>
                </a:solidFill>
                <a:latin typeface="Calibri" pitchFamily="34" charset="0"/>
                <a:ea typeface="Calibri" pitchFamily="34" charset="-122"/>
                <a:cs typeface="Calibri" pitchFamily="34" charset="-120"/>
              </a:rPr>
              <a:t>Credit, KYC and AML at once. The join waits for all three.</a:t>
            </a:r>
            <a:endParaRPr lang="en-US" sz="1800" dirty="0"/>
          </a:p>
        </p:txBody>
      </p:sp>
      <p:sp>
        <p:nvSpPr>
          <p:cNvPr id="12" name="Shape 6"/>
          <p:cNvSpPr/>
          <p:nvPr/>
        </p:nvSpPr>
        <p:spPr>
          <a:xfrm>
            <a:off x="8046720" y="1463040"/>
            <a:ext cx="3474720" cy="2743200"/>
          </a:xfrm>
          <a:prstGeom prst="roundRect">
            <a:avLst>
              <a:gd name="adj" fmla="val 3333"/>
            </a:avLst>
          </a:prstGeom>
          <a:solidFill>
            <a:srgbClr val="FFFFFF"/>
          </a:solidFill>
          <a:ln w="12700">
            <a:solidFill>
              <a:srgbClr val="FFFFFF"/>
            </a:solidFill>
            <a:prstDash val="solid"/>
          </a:ln>
          <a:effectLst>
            <a:outerShdw sx="100000" sy="100000" kx="0" ky="0" algn="bl" rotWithShape="0" blurRad="101600" dist="25400" dir="5400000">
              <a:srgbClr val="000000">
                <a:alpha val="35000"/>
              </a:srgbClr>
            </a:outerShdw>
          </a:effectLst>
        </p:spPr>
      </p:sp>
      <p:pic>
        <p:nvPicPr>
          <p:cNvPr id="13" name="Image 4" descr="Diagram crop for the Event-based gateway">    </p:cNvPr>
          <p:cNvPicPr>
            <a:picLocks noChangeAspect="1"/>
          </p:cNvPicPr>
          <p:nvPr/>
        </p:nvPicPr>
        <p:blipFill>
          <a:blip r:embed="rId5"/>
          <a:stretch>
            <a:fillRect/>
          </a:stretch>
        </p:blipFill>
        <p:spPr>
          <a:xfrm>
            <a:off x="8156448" y="2009134"/>
            <a:ext cx="3255264" cy="1651012"/>
          </a:xfrm>
          <a:prstGeom prst="rect">
            <a:avLst/>
          </a:prstGeom>
        </p:spPr>
      </p:pic>
      <p:pic>
        <p:nvPicPr>
          <p:cNvPr id="14" name="Image 5" descr="Event-based gateway symbol">    </p:cNvPr>
          <p:cNvPicPr>
            <a:picLocks noChangeAspect="1"/>
          </p:cNvPicPr>
          <p:nvPr/>
        </p:nvPicPr>
        <p:blipFill>
          <a:blip r:embed="rId6"/>
          <a:stretch>
            <a:fillRect/>
          </a:stretch>
        </p:blipFill>
        <p:spPr>
          <a:xfrm>
            <a:off x="8046720" y="4434840"/>
            <a:ext cx="548640" cy="548640"/>
          </a:xfrm>
          <a:prstGeom prst="rect">
            <a:avLst/>
          </a:prstGeom>
        </p:spPr>
      </p:pic>
      <p:sp>
        <p:nvSpPr>
          <p:cNvPr id="15" name="Text 7"/>
          <p:cNvSpPr txBox="1"/>
          <p:nvPr/>
        </p:nvSpPr>
        <p:spPr>
          <a:xfrm>
            <a:off x="8732520" y="4434840"/>
            <a:ext cx="2788920" cy="1645920"/>
          </a:xfrm>
          <a:prstGeom prst="rect">
            <a:avLst/>
          </a:prstGeom>
          <a:noFill/>
          <a:ln/>
        </p:spPr>
        <p:txBody>
          <a:bodyPr wrap="square" lIns="0" tIns="0" rIns="0" bIns="0" rtlCol="0" anchor="t"/>
          <a:lstStyle/>
          <a:p>
            <a:pPr indent="0" marL="0">
              <a:spcAft>
                <a:spcPts val="400"/>
              </a:spcAft>
              <a:buNone/>
            </a:pPr>
            <a:r>
              <a:rPr lang="en-US" sz="1800" b="1" dirty="0">
                <a:solidFill>
                  <a:srgbClr val="4FD1C5"/>
                </a:solidFill>
                <a:latin typeface="Calibri" pitchFamily="34" charset="0"/>
                <a:ea typeface="Calibri" pitchFamily="34" charset="-122"/>
                <a:cs typeface="Calibri" pitchFamily="34" charset="-120"/>
              </a:rPr>
              <a:t>Event-based</a:t>
            </a:r>
            <a:endParaRPr lang="en-US" sz="1800" dirty="0"/>
          </a:p>
          <a:p>
            <a:pPr indent="0" marL="0">
              <a:spcAft>
                <a:spcPts val="400"/>
              </a:spcAft>
              <a:buNone/>
            </a:pPr>
            <a:r>
              <a:rPr lang="en-US" sz="1500" dirty="0">
                <a:solidFill>
                  <a:srgbClr val="EEF3F5"/>
                </a:solidFill>
                <a:latin typeface="Calibri" pitchFamily="34" charset="0"/>
                <a:ea typeface="Calibri" pitchFamily="34" charset="-122"/>
                <a:cs typeface="Calibri" pitchFamily="34" charset="-120"/>
              </a:rPr>
              <a:t>After the offer, whichever comes first wins: signed, declined or 15 days.</a:t>
            </a:r>
            <a:endParaRPr lang="en-US" sz="1800" dirty="0"/>
          </a:p>
        </p:txBody>
      </p:sp>
      <p:sp>
        <p:nvSpPr>
          <p:cNvPr id="25" name="Slide Number Placeholder 0"/>
          <p:cNvSpPr>
            <a:spLocks noGrp="1"/>
          </p:cNvSpPr>
          <p:nvPr>
            <p:ph type="sldNum" sz="quarter" idx="4294967295"/>
          </p:nvPr>
        </p:nvSpPr>
        <p:spPr>
          <a:xfrm>
            <a:off x="11247120"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7BAC4"/>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548640"/>
            <a:ext cx="594360" cy="502920"/>
          </a:xfrm>
          <a:prstGeom prst="roundRect">
            <a:avLst>
              <a:gd name="adj" fmla="val 21818"/>
            </a:avLst>
          </a:prstGeom>
          <a:solidFill>
            <a:srgbClr val="4FD1C5"/>
          </a:solidFill>
          <a:ln>
            <a:solidFill>
              <a:srgbClr val="4FD1C5"/>
            </a:solidFill>
          </a:ln>
        </p:spPr>
        <p:txBody>
          <a:bodyPr wrap="square" lIns="0" tIns="0" rIns="0" bIns="0" rtlCol="0" anchor="ctr"/>
          <a:lstStyle/>
          <a:p>
            <a:pPr algn="ctr" indent="0" marL="0">
              <a:buNone/>
            </a:pPr>
            <a:r>
              <a:rPr lang="en-US" sz="1600" b="1" dirty="0">
                <a:solidFill>
                  <a:srgbClr val="14222A"/>
                </a:solidFill>
                <a:latin typeface="Calibri" pitchFamily="34" charset="0"/>
                <a:ea typeface="Calibri" pitchFamily="34" charset="-122"/>
                <a:cs typeface="Calibri" pitchFamily="34" charset="-120"/>
              </a:rPr>
              <a:t>05</a:t>
            </a:r>
            <a:endParaRPr lang="en-US" sz="1600" dirty="0"/>
          </a:p>
        </p:txBody>
      </p:sp>
      <p:sp>
        <p:nvSpPr>
          <p:cNvPr id="3" name="Text 0"/>
          <p:cNvSpPr/>
          <p:nvPr>
            <p:ph idx="100" type="title" hasCustomPrompt="1"/>
          </p:nvPr>
        </p:nvSpPr>
        <p:spPr>
          <a:xfrm>
            <a:off x="1417320" y="457200"/>
            <a:ext cx="9601200" cy="685800"/>
          </a:xfrm>
          <a:prstGeom prst="rect">
            <a:avLst/>
          </a:prstGeom>
          <a:noFill/>
          <a:ln/>
        </p:spPr>
        <p:txBody>
          <a:bodyPr wrap="square" lIns="0" tIns="0" rIns="0" bIns="0" rtlCol="0" anchor="ctr"/>
          <a:lstStyle/>
          <a:p>
            <a:pPr algn="l" indent="0" marL="0">
              <a:buNone/>
            </a:pPr>
            <a:r>
              <a:rPr lang="en-US" sz="3000" b="1" dirty="0">
                <a:solidFill>
                  <a:srgbClr val="EEF3F5"/>
                </a:solidFill>
                <a:latin typeface="Cambria" pitchFamily="34" charset="0"/>
                <a:ea typeface="Cambria" pitchFamily="34" charset="-122"/>
                <a:cs typeface="Cambria" pitchFamily="34" charset="-120"/>
              </a:rPr>
              <a:t>Decision gateways: what each one solves</a:t>
            </a:r>
            <a:endParaRPr lang="en-US" sz="3000" dirty="0"/>
          </a:p>
        </p:txBody>
      </p:sp>
      <p:sp>
        <p:nvSpPr>
          <p:cNvPr id="4" name="Shape 2"/>
          <p:cNvSpPr/>
          <p:nvPr/>
        </p:nvSpPr>
        <p:spPr>
          <a:xfrm>
            <a:off x="640080" y="1371600"/>
            <a:ext cx="3474720" cy="2377440"/>
          </a:xfrm>
          <a:prstGeom prst="roundRect">
            <a:avLst>
              <a:gd name="adj" fmla="val 4615"/>
            </a:avLst>
          </a:prstGeom>
          <a:solidFill>
            <a:srgbClr val="1E323C"/>
          </a:solidFill>
          <a:ln w="12700">
            <a:solidFill>
              <a:srgbClr val="1E323C"/>
            </a:solidFill>
            <a:prstDash val="solid"/>
          </a:ln>
        </p:spPr>
      </p:sp>
      <p:sp>
        <p:nvSpPr>
          <p:cNvPr id="5" name="Shape 3"/>
          <p:cNvSpPr/>
          <p:nvPr/>
        </p:nvSpPr>
        <p:spPr>
          <a:xfrm>
            <a:off x="777240" y="1508760"/>
            <a:ext cx="3200400" cy="896112"/>
          </a:xfrm>
          <a:prstGeom prst="roundRect">
            <a:avLst>
              <a:gd name="adj" fmla="val 6122"/>
            </a:avLst>
          </a:prstGeom>
          <a:solidFill>
            <a:srgbClr val="FFFFFF"/>
          </a:solidFill>
          <a:ln w="12700">
            <a:solidFill>
              <a:srgbClr val="FFFFFF"/>
            </a:solidFill>
            <a:prstDash val="solid"/>
          </a:ln>
        </p:spPr>
      </p:sp>
      <p:pic>
        <p:nvPicPr>
          <p:cNvPr id="6" name="Image 0" descr="Gateway Eligible? in the diagram">    </p:cNvPr>
          <p:cNvPicPr>
            <a:picLocks noChangeAspect="1"/>
          </p:cNvPicPr>
          <p:nvPr/>
        </p:nvPicPr>
        <p:blipFill>
          <a:blip r:embed="rId1"/>
          <a:stretch>
            <a:fillRect/>
          </a:stretch>
        </p:blipFill>
        <p:spPr>
          <a:xfrm>
            <a:off x="1760525" y="1536192"/>
            <a:ext cx="1233830" cy="841248"/>
          </a:xfrm>
          <a:prstGeom prst="rect">
            <a:avLst/>
          </a:prstGeom>
        </p:spPr>
      </p:pic>
      <p:sp>
        <p:nvSpPr>
          <p:cNvPr id="7" name="Text 4"/>
          <p:cNvSpPr txBox="1"/>
          <p:nvPr/>
        </p:nvSpPr>
        <p:spPr>
          <a:xfrm>
            <a:off x="822960" y="2487168"/>
            <a:ext cx="3108960" cy="292608"/>
          </a:xfrm>
          <a:prstGeom prst="rect">
            <a:avLst/>
          </a:prstGeom>
          <a:noFill/>
          <a:ln/>
        </p:spPr>
        <p:txBody>
          <a:bodyPr wrap="square" lIns="0" tIns="0" rIns="0" bIns="0" rtlCol="0" anchor="t"/>
          <a:lstStyle/>
          <a:p>
            <a:pPr indent="0" marL="0">
              <a:buNone/>
            </a:pPr>
            <a:r>
              <a:rPr lang="en-US" sz="1500" b="1" dirty="0">
                <a:solidFill>
                  <a:srgbClr val="EEF3F5"/>
                </a:solidFill>
                <a:latin typeface="Calibri" pitchFamily="34" charset="0"/>
                <a:ea typeface="Calibri" pitchFamily="34" charset="-122"/>
                <a:cs typeface="Calibri" pitchFamily="34" charset="-120"/>
              </a:rPr>
              <a:t>Eligible?</a:t>
            </a:r>
            <a:endParaRPr lang="en-US" sz="1500" dirty="0"/>
          </a:p>
        </p:txBody>
      </p:sp>
      <p:sp>
        <p:nvSpPr>
          <p:cNvPr id="8" name="Text 5"/>
          <p:cNvSpPr txBox="1"/>
          <p:nvPr/>
        </p:nvSpPr>
        <p:spPr>
          <a:xfrm>
            <a:off x="822960" y="2779776"/>
            <a:ext cx="3108960" cy="256032"/>
          </a:xfrm>
          <a:prstGeom prst="rect">
            <a:avLst/>
          </a:prstGeom>
          <a:noFill/>
          <a:ln/>
        </p:spPr>
        <p:txBody>
          <a:bodyPr wrap="square" lIns="0" tIns="0" rIns="0" bIns="0" rtlCol="0" anchor="t"/>
          <a:lstStyle/>
          <a:p>
            <a:pPr indent="0" marL="0">
              <a:buNone/>
            </a:pPr>
            <a:r>
              <a:rPr lang="en-US" sz="1200" dirty="0">
                <a:solidFill>
                  <a:srgbClr val="4FD1C5"/>
                </a:solidFill>
                <a:latin typeface="Calibri" pitchFamily="34" charset="0"/>
                <a:ea typeface="Calibri" pitchFamily="34" charset="-122"/>
                <a:cs typeface="Calibri" pitchFamily="34" charset="-120"/>
              </a:rPr>
              <a:t>exclusive · 3 ways</a:t>
            </a:r>
            <a:endParaRPr lang="en-US" sz="1200" dirty="0"/>
          </a:p>
        </p:txBody>
      </p:sp>
      <p:sp>
        <p:nvSpPr>
          <p:cNvPr id="9" name="Text 6"/>
          <p:cNvSpPr txBox="1"/>
          <p:nvPr/>
        </p:nvSpPr>
        <p:spPr>
          <a:xfrm>
            <a:off x="822960" y="3054096"/>
            <a:ext cx="3108960" cy="640080"/>
          </a:xfrm>
          <a:prstGeom prst="rect">
            <a:avLst/>
          </a:prstGeom>
          <a:noFill/>
          <a:ln/>
        </p:spPr>
        <p:txBody>
          <a:bodyPr wrap="square" lIns="0" tIns="0" rIns="0" bIns="0" rtlCol="0" anchor="t"/>
          <a:lstStyle/>
          <a:p>
            <a:pPr indent="0" marL="0">
              <a:buNone/>
            </a:pPr>
            <a:r>
              <a:rPr lang="en-US" sz="1300" dirty="0">
                <a:solidFill>
                  <a:srgbClr val="A7BAC4"/>
                </a:solidFill>
                <a:latin typeface="Calibri" pitchFamily="34" charset="0"/>
                <a:ea typeface="Calibri" pitchFamily="34" charset="-122"/>
                <a:cs typeface="Calibri" pitchFamily="34" charset="-120"/>
              </a:rPr>
              <a:t>Sorts the DMN result: continue, ask for documents, or reject.</a:t>
            </a:r>
            <a:endParaRPr lang="en-US" sz="1300" dirty="0"/>
          </a:p>
        </p:txBody>
      </p:sp>
      <p:sp>
        <p:nvSpPr>
          <p:cNvPr id="10" name="Shape 7"/>
          <p:cNvSpPr/>
          <p:nvPr/>
        </p:nvSpPr>
        <p:spPr>
          <a:xfrm>
            <a:off x="4343400" y="1371600"/>
            <a:ext cx="3474720" cy="2377440"/>
          </a:xfrm>
          <a:prstGeom prst="roundRect">
            <a:avLst>
              <a:gd name="adj" fmla="val 4615"/>
            </a:avLst>
          </a:prstGeom>
          <a:solidFill>
            <a:srgbClr val="1E323C"/>
          </a:solidFill>
          <a:ln w="12700">
            <a:solidFill>
              <a:srgbClr val="1E323C"/>
            </a:solidFill>
            <a:prstDash val="solid"/>
          </a:ln>
        </p:spPr>
      </p:sp>
      <p:sp>
        <p:nvSpPr>
          <p:cNvPr id="11" name="Shape 8"/>
          <p:cNvSpPr/>
          <p:nvPr/>
        </p:nvSpPr>
        <p:spPr>
          <a:xfrm>
            <a:off x="4480560" y="1508760"/>
            <a:ext cx="3200400" cy="896112"/>
          </a:xfrm>
          <a:prstGeom prst="roundRect">
            <a:avLst>
              <a:gd name="adj" fmla="val 6122"/>
            </a:avLst>
          </a:prstGeom>
          <a:solidFill>
            <a:srgbClr val="FFFFFF"/>
          </a:solidFill>
          <a:ln w="12700">
            <a:solidFill>
              <a:srgbClr val="FFFFFF"/>
            </a:solidFill>
            <a:prstDash val="solid"/>
          </a:ln>
        </p:spPr>
      </p:sp>
      <p:pic>
        <p:nvPicPr>
          <p:cNvPr id="12" name="Image 1" descr="Gateway Checks passed? in the diagram">    </p:cNvPr>
          <p:cNvPicPr>
            <a:picLocks noChangeAspect="1"/>
          </p:cNvPicPr>
          <p:nvPr/>
        </p:nvPicPr>
        <p:blipFill>
          <a:blip r:embed="rId2"/>
          <a:stretch>
            <a:fillRect/>
          </a:stretch>
        </p:blipFill>
        <p:spPr>
          <a:xfrm>
            <a:off x="5416174" y="1536192"/>
            <a:ext cx="1329172" cy="841248"/>
          </a:xfrm>
          <a:prstGeom prst="rect">
            <a:avLst/>
          </a:prstGeom>
        </p:spPr>
      </p:pic>
      <p:sp>
        <p:nvSpPr>
          <p:cNvPr id="13" name="Text 9"/>
          <p:cNvSpPr txBox="1"/>
          <p:nvPr/>
        </p:nvSpPr>
        <p:spPr>
          <a:xfrm>
            <a:off x="4526280" y="2487168"/>
            <a:ext cx="3108960" cy="292608"/>
          </a:xfrm>
          <a:prstGeom prst="rect">
            <a:avLst/>
          </a:prstGeom>
          <a:noFill/>
          <a:ln/>
        </p:spPr>
        <p:txBody>
          <a:bodyPr wrap="square" lIns="0" tIns="0" rIns="0" bIns="0" rtlCol="0" anchor="t"/>
          <a:lstStyle/>
          <a:p>
            <a:pPr indent="0" marL="0">
              <a:buNone/>
            </a:pPr>
            <a:r>
              <a:rPr lang="en-US" sz="1500" b="1" dirty="0">
                <a:solidFill>
                  <a:srgbClr val="EEF3F5"/>
                </a:solidFill>
                <a:latin typeface="Calibri" pitchFamily="34" charset="0"/>
                <a:ea typeface="Calibri" pitchFamily="34" charset="-122"/>
                <a:cs typeface="Calibri" pitchFamily="34" charset="-120"/>
              </a:rPr>
              <a:t>Checks passed?</a:t>
            </a:r>
            <a:endParaRPr lang="en-US" sz="1500" dirty="0"/>
          </a:p>
        </p:txBody>
      </p:sp>
      <p:sp>
        <p:nvSpPr>
          <p:cNvPr id="14" name="Text 10"/>
          <p:cNvSpPr txBox="1"/>
          <p:nvPr/>
        </p:nvSpPr>
        <p:spPr>
          <a:xfrm>
            <a:off x="4526280" y="2779776"/>
            <a:ext cx="3108960" cy="256032"/>
          </a:xfrm>
          <a:prstGeom prst="rect">
            <a:avLst/>
          </a:prstGeom>
          <a:noFill/>
          <a:ln/>
        </p:spPr>
        <p:txBody>
          <a:bodyPr wrap="square" lIns="0" tIns="0" rIns="0" bIns="0" rtlCol="0" anchor="t"/>
          <a:lstStyle/>
          <a:p>
            <a:pPr indent="0" marL="0">
              <a:buNone/>
            </a:pPr>
            <a:r>
              <a:rPr lang="en-US" sz="1200" dirty="0">
                <a:solidFill>
                  <a:srgbClr val="4FD1C5"/>
                </a:solidFill>
                <a:latin typeface="Calibri" pitchFamily="34" charset="0"/>
                <a:ea typeface="Calibri" pitchFamily="34" charset="-122"/>
                <a:cs typeface="Calibri" pitchFamily="34" charset="-120"/>
              </a:rPr>
              <a:t>exclusive · 3 ways</a:t>
            </a:r>
            <a:endParaRPr lang="en-US" sz="1200" dirty="0"/>
          </a:p>
        </p:txBody>
      </p:sp>
      <p:sp>
        <p:nvSpPr>
          <p:cNvPr id="15" name="Text 11"/>
          <p:cNvSpPr txBox="1"/>
          <p:nvPr/>
        </p:nvSpPr>
        <p:spPr>
          <a:xfrm>
            <a:off x="4526280" y="3054096"/>
            <a:ext cx="3108960" cy="640080"/>
          </a:xfrm>
          <a:prstGeom prst="rect">
            <a:avLst/>
          </a:prstGeom>
          <a:noFill/>
          <a:ln/>
        </p:spPr>
        <p:txBody>
          <a:bodyPr wrap="square" lIns="0" tIns="0" rIns="0" bIns="0" rtlCol="0" anchor="t"/>
          <a:lstStyle/>
          <a:p>
            <a:pPr indent="0" marL="0">
              <a:buNone/>
            </a:pPr>
            <a:r>
              <a:rPr lang="en-US" sz="1300" dirty="0">
                <a:solidFill>
                  <a:srgbClr val="A7BAC4"/>
                </a:solidFill>
                <a:latin typeface="Calibri" pitchFamily="34" charset="0"/>
                <a:ea typeface="Calibri" pitchFamily="34" charset="-122"/>
                <a:cs typeface="Calibri" pitchFamily="34" charset="-120"/>
              </a:rPr>
              <a:t>Acts on all check results at once: clear, KYC failed, or AML alert.</a:t>
            </a:r>
            <a:endParaRPr lang="en-US" sz="1300" dirty="0"/>
          </a:p>
        </p:txBody>
      </p:sp>
      <p:sp>
        <p:nvSpPr>
          <p:cNvPr id="16" name="Shape 12"/>
          <p:cNvSpPr/>
          <p:nvPr/>
        </p:nvSpPr>
        <p:spPr>
          <a:xfrm>
            <a:off x="8046720" y="1371600"/>
            <a:ext cx="3474720" cy="2377440"/>
          </a:xfrm>
          <a:prstGeom prst="roundRect">
            <a:avLst>
              <a:gd name="adj" fmla="val 4615"/>
            </a:avLst>
          </a:prstGeom>
          <a:solidFill>
            <a:srgbClr val="1E323C"/>
          </a:solidFill>
          <a:ln w="12700">
            <a:solidFill>
              <a:srgbClr val="1E323C"/>
            </a:solidFill>
            <a:prstDash val="solid"/>
          </a:ln>
        </p:spPr>
      </p:sp>
      <p:sp>
        <p:nvSpPr>
          <p:cNvPr id="17" name="Shape 13"/>
          <p:cNvSpPr/>
          <p:nvPr/>
        </p:nvSpPr>
        <p:spPr>
          <a:xfrm>
            <a:off x="8183880" y="1508760"/>
            <a:ext cx="3200400" cy="896112"/>
          </a:xfrm>
          <a:prstGeom prst="roundRect">
            <a:avLst>
              <a:gd name="adj" fmla="val 6122"/>
            </a:avLst>
          </a:prstGeom>
          <a:solidFill>
            <a:srgbClr val="FFFFFF"/>
          </a:solidFill>
          <a:ln w="12700">
            <a:solidFill>
              <a:srgbClr val="FFFFFF"/>
            </a:solidFill>
            <a:prstDash val="solid"/>
          </a:ln>
        </p:spPr>
      </p:sp>
      <p:pic>
        <p:nvPicPr>
          <p:cNvPr id="18" name="Image 2" descr="Gateway Fraud? in the diagram">    </p:cNvPr>
          <p:cNvPicPr>
            <a:picLocks noChangeAspect="1"/>
          </p:cNvPicPr>
          <p:nvPr/>
        </p:nvPicPr>
        <p:blipFill>
          <a:blip r:embed="rId3"/>
          <a:stretch>
            <a:fillRect/>
          </a:stretch>
        </p:blipFill>
        <p:spPr>
          <a:xfrm>
            <a:off x="9167165" y="1536192"/>
            <a:ext cx="1233830" cy="841248"/>
          </a:xfrm>
          <a:prstGeom prst="rect">
            <a:avLst/>
          </a:prstGeom>
        </p:spPr>
      </p:pic>
      <p:sp>
        <p:nvSpPr>
          <p:cNvPr id="19" name="Text 14"/>
          <p:cNvSpPr txBox="1"/>
          <p:nvPr/>
        </p:nvSpPr>
        <p:spPr>
          <a:xfrm>
            <a:off x="8229600" y="2487168"/>
            <a:ext cx="3108960" cy="292608"/>
          </a:xfrm>
          <a:prstGeom prst="rect">
            <a:avLst/>
          </a:prstGeom>
          <a:noFill/>
          <a:ln/>
        </p:spPr>
        <p:txBody>
          <a:bodyPr wrap="square" lIns="0" tIns="0" rIns="0" bIns="0" rtlCol="0" anchor="t"/>
          <a:lstStyle/>
          <a:p>
            <a:pPr indent="0" marL="0">
              <a:buNone/>
            </a:pPr>
            <a:r>
              <a:rPr lang="en-US" sz="1500" b="1" dirty="0">
                <a:solidFill>
                  <a:srgbClr val="EEF3F5"/>
                </a:solidFill>
                <a:latin typeface="Calibri" pitchFamily="34" charset="0"/>
                <a:ea typeface="Calibri" pitchFamily="34" charset="-122"/>
                <a:cs typeface="Calibri" pitchFamily="34" charset="-120"/>
              </a:rPr>
              <a:t>Fraud?</a:t>
            </a:r>
            <a:endParaRPr lang="en-US" sz="1500" dirty="0"/>
          </a:p>
        </p:txBody>
      </p:sp>
      <p:sp>
        <p:nvSpPr>
          <p:cNvPr id="20" name="Text 15"/>
          <p:cNvSpPr txBox="1"/>
          <p:nvPr/>
        </p:nvSpPr>
        <p:spPr>
          <a:xfrm>
            <a:off x="8229600" y="2779776"/>
            <a:ext cx="3108960" cy="256032"/>
          </a:xfrm>
          <a:prstGeom prst="rect">
            <a:avLst/>
          </a:prstGeom>
          <a:noFill/>
          <a:ln/>
        </p:spPr>
        <p:txBody>
          <a:bodyPr wrap="square" lIns="0" tIns="0" rIns="0" bIns="0" rtlCol="0" anchor="t"/>
          <a:lstStyle/>
          <a:p>
            <a:pPr indent="0" marL="0">
              <a:buNone/>
            </a:pPr>
            <a:r>
              <a:rPr lang="en-US" sz="1200" dirty="0">
                <a:solidFill>
                  <a:srgbClr val="4FD1C5"/>
                </a:solidFill>
                <a:latin typeface="Calibri" pitchFamily="34" charset="0"/>
                <a:ea typeface="Calibri" pitchFamily="34" charset="-122"/>
                <a:cs typeface="Calibri" pitchFamily="34" charset="-120"/>
              </a:rPr>
              <a:t>exclusive</a:t>
            </a:r>
            <a:endParaRPr lang="en-US" sz="1200" dirty="0"/>
          </a:p>
        </p:txBody>
      </p:sp>
      <p:sp>
        <p:nvSpPr>
          <p:cNvPr id="21" name="Text 16"/>
          <p:cNvSpPr txBox="1"/>
          <p:nvPr/>
        </p:nvSpPr>
        <p:spPr>
          <a:xfrm>
            <a:off x="8229600" y="3054096"/>
            <a:ext cx="3108960" cy="640080"/>
          </a:xfrm>
          <a:prstGeom prst="rect">
            <a:avLst/>
          </a:prstGeom>
          <a:noFill/>
          <a:ln/>
        </p:spPr>
        <p:txBody>
          <a:bodyPr wrap="square" lIns="0" tIns="0" rIns="0" bIns="0" rtlCol="0" anchor="t"/>
          <a:lstStyle/>
          <a:p>
            <a:pPr indent="0" marL="0">
              <a:buNone/>
            </a:pPr>
            <a:r>
              <a:rPr lang="en-US" sz="1300" dirty="0">
                <a:solidFill>
                  <a:srgbClr val="A7BAC4"/>
                </a:solidFill>
                <a:latin typeface="Calibri" pitchFamily="34" charset="0"/>
                <a:ea typeface="Calibri" pitchFamily="34" charset="-122"/>
                <a:cs typeface="Calibri" pitchFamily="34" charset="-120"/>
              </a:rPr>
              <a:t>Confirmed fraud stops everything; a false alarm carries on.</a:t>
            </a:r>
            <a:endParaRPr lang="en-US" sz="1300" dirty="0"/>
          </a:p>
        </p:txBody>
      </p:sp>
      <p:sp>
        <p:nvSpPr>
          <p:cNvPr id="22" name="Shape 17"/>
          <p:cNvSpPr/>
          <p:nvPr/>
        </p:nvSpPr>
        <p:spPr>
          <a:xfrm>
            <a:off x="640080" y="3913632"/>
            <a:ext cx="3474720" cy="2377440"/>
          </a:xfrm>
          <a:prstGeom prst="roundRect">
            <a:avLst>
              <a:gd name="adj" fmla="val 4615"/>
            </a:avLst>
          </a:prstGeom>
          <a:solidFill>
            <a:srgbClr val="1E323C"/>
          </a:solidFill>
          <a:ln w="12700">
            <a:solidFill>
              <a:srgbClr val="1E323C"/>
            </a:solidFill>
            <a:prstDash val="solid"/>
          </a:ln>
        </p:spPr>
      </p:sp>
      <p:sp>
        <p:nvSpPr>
          <p:cNvPr id="23" name="Shape 18"/>
          <p:cNvSpPr/>
          <p:nvPr/>
        </p:nvSpPr>
        <p:spPr>
          <a:xfrm>
            <a:off x="777240" y="4050792"/>
            <a:ext cx="3200400" cy="896112"/>
          </a:xfrm>
          <a:prstGeom prst="roundRect">
            <a:avLst>
              <a:gd name="adj" fmla="val 6122"/>
            </a:avLst>
          </a:prstGeom>
          <a:solidFill>
            <a:srgbClr val="FFFFFF"/>
          </a:solidFill>
          <a:ln w="12700">
            <a:solidFill>
              <a:srgbClr val="FFFFFF"/>
            </a:solidFill>
            <a:prstDash val="solid"/>
          </a:ln>
        </p:spPr>
      </p:sp>
      <p:pic>
        <p:nvPicPr>
          <p:cNvPr id="24" name="Image 3" descr="Gateway Approved? in the diagram">    </p:cNvPr>
          <p:cNvPicPr>
            <a:picLocks noChangeAspect="1"/>
          </p:cNvPicPr>
          <p:nvPr/>
        </p:nvPicPr>
        <p:blipFill>
          <a:blip r:embed="rId4"/>
          <a:stretch>
            <a:fillRect/>
          </a:stretch>
        </p:blipFill>
        <p:spPr>
          <a:xfrm>
            <a:off x="1760525" y="4078224"/>
            <a:ext cx="1233830" cy="841248"/>
          </a:xfrm>
          <a:prstGeom prst="rect">
            <a:avLst/>
          </a:prstGeom>
        </p:spPr>
      </p:pic>
      <p:sp>
        <p:nvSpPr>
          <p:cNvPr id="25" name="Text 19"/>
          <p:cNvSpPr txBox="1"/>
          <p:nvPr/>
        </p:nvSpPr>
        <p:spPr>
          <a:xfrm>
            <a:off x="822960" y="5029200"/>
            <a:ext cx="3108960" cy="292608"/>
          </a:xfrm>
          <a:prstGeom prst="rect">
            <a:avLst/>
          </a:prstGeom>
          <a:noFill/>
          <a:ln/>
        </p:spPr>
        <p:txBody>
          <a:bodyPr wrap="square" lIns="0" tIns="0" rIns="0" bIns="0" rtlCol="0" anchor="t"/>
          <a:lstStyle/>
          <a:p>
            <a:pPr indent="0" marL="0">
              <a:buNone/>
            </a:pPr>
            <a:r>
              <a:rPr lang="en-US" sz="1500" b="1" dirty="0">
                <a:solidFill>
                  <a:srgbClr val="EEF3F5"/>
                </a:solidFill>
                <a:latin typeface="Calibri" pitchFamily="34" charset="0"/>
                <a:ea typeface="Calibri" pitchFamily="34" charset="-122"/>
                <a:cs typeface="Calibri" pitchFamily="34" charset="-120"/>
              </a:rPr>
              <a:t>Approved?</a:t>
            </a:r>
            <a:endParaRPr lang="en-US" sz="1500" dirty="0"/>
          </a:p>
        </p:txBody>
      </p:sp>
      <p:sp>
        <p:nvSpPr>
          <p:cNvPr id="26" name="Text 20"/>
          <p:cNvSpPr txBox="1"/>
          <p:nvPr/>
        </p:nvSpPr>
        <p:spPr>
          <a:xfrm>
            <a:off x="822960" y="5321808"/>
            <a:ext cx="3108960" cy="256032"/>
          </a:xfrm>
          <a:prstGeom prst="rect">
            <a:avLst/>
          </a:prstGeom>
          <a:noFill/>
          <a:ln/>
        </p:spPr>
        <p:txBody>
          <a:bodyPr wrap="square" lIns="0" tIns="0" rIns="0" bIns="0" rtlCol="0" anchor="t"/>
          <a:lstStyle/>
          <a:p>
            <a:pPr indent="0" marL="0">
              <a:buNone/>
            </a:pPr>
            <a:r>
              <a:rPr lang="en-US" sz="1200" dirty="0">
                <a:solidFill>
                  <a:srgbClr val="4FD1C5"/>
                </a:solidFill>
                <a:latin typeface="Calibri" pitchFamily="34" charset="0"/>
                <a:ea typeface="Calibri" pitchFamily="34" charset="-122"/>
                <a:cs typeface="Calibri" pitchFamily="34" charset="-120"/>
              </a:rPr>
              <a:t>exclusive</a:t>
            </a:r>
            <a:endParaRPr lang="en-US" sz="1200" dirty="0"/>
          </a:p>
        </p:txBody>
      </p:sp>
      <p:sp>
        <p:nvSpPr>
          <p:cNvPr id="27" name="Text 21"/>
          <p:cNvSpPr txBox="1"/>
          <p:nvPr/>
        </p:nvSpPr>
        <p:spPr>
          <a:xfrm>
            <a:off x="822960" y="5596128"/>
            <a:ext cx="3108960" cy="640080"/>
          </a:xfrm>
          <a:prstGeom prst="rect">
            <a:avLst/>
          </a:prstGeom>
          <a:noFill/>
          <a:ln/>
        </p:spPr>
        <p:txBody>
          <a:bodyPr wrap="square" lIns="0" tIns="0" rIns="0" bIns="0" rtlCol="0" anchor="t"/>
          <a:lstStyle/>
          <a:p>
            <a:pPr indent="0" marL="0">
              <a:buNone/>
            </a:pPr>
            <a:r>
              <a:rPr lang="en-US" sz="1300" dirty="0">
                <a:solidFill>
                  <a:srgbClr val="A7BAC4"/>
                </a:solidFill>
                <a:latin typeface="Calibri" pitchFamily="34" charset="0"/>
                <a:ea typeface="Calibri" pitchFamily="34" charset="-122"/>
                <a:cs typeface="Calibri" pitchFamily="34" charset="-120"/>
              </a:rPr>
              <a:t>Carries out the underwriter’s decision: send an offer or reject.</a:t>
            </a:r>
            <a:endParaRPr lang="en-US" sz="1300" dirty="0"/>
          </a:p>
        </p:txBody>
      </p:sp>
      <p:sp>
        <p:nvSpPr>
          <p:cNvPr id="28" name="Shape 22"/>
          <p:cNvSpPr/>
          <p:nvPr/>
        </p:nvSpPr>
        <p:spPr>
          <a:xfrm>
            <a:off x="4343400" y="3913632"/>
            <a:ext cx="3474720" cy="2377440"/>
          </a:xfrm>
          <a:prstGeom prst="roundRect">
            <a:avLst>
              <a:gd name="adj" fmla="val 4615"/>
            </a:avLst>
          </a:prstGeom>
          <a:solidFill>
            <a:srgbClr val="1E323C"/>
          </a:solidFill>
          <a:ln w="12700">
            <a:solidFill>
              <a:srgbClr val="1E323C"/>
            </a:solidFill>
            <a:prstDash val="solid"/>
          </a:ln>
        </p:spPr>
      </p:sp>
      <p:sp>
        <p:nvSpPr>
          <p:cNvPr id="29" name="Shape 23"/>
          <p:cNvSpPr/>
          <p:nvPr/>
        </p:nvSpPr>
        <p:spPr>
          <a:xfrm>
            <a:off x="4480560" y="4050792"/>
            <a:ext cx="3200400" cy="896112"/>
          </a:xfrm>
          <a:prstGeom prst="roundRect">
            <a:avLst>
              <a:gd name="adj" fmla="val 6122"/>
            </a:avLst>
          </a:prstGeom>
          <a:solidFill>
            <a:srgbClr val="FFFFFF"/>
          </a:solidFill>
          <a:ln w="12700">
            <a:solidFill>
              <a:srgbClr val="FFFFFF"/>
            </a:solidFill>
            <a:prstDash val="solid"/>
          </a:ln>
        </p:spPr>
      </p:sp>
      <p:pic>
        <p:nvPicPr>
          <p:cNvPr id="30" name="Image 4" descr="Gateway After the offer in the diagram">    </p:cNvPr>
          <p:cNvPicPr>
            <a:picLocks noChangeAspect="1"/>
          </p:cNvPicPr>
          <p:nvPr/>
        </p:nvPicPr>
        <p:blipFill>
          <a:blip r:embed="rId5"/>
          <a:stretch>
            <a:fillRect/>
          </a:stretch>
        </p:blipFill>
        <p:spPr>
          <a:xfrm>
            <a:off x="5463845" y="4078224"/>
            <a:ext cx="1233830" cy="841248"/>
          </a:xfrm>
          <a:prstGeom prst="rect">
            <a:avLst/>
          </a:prstGeom>
        </p:spPr>
      </p:pic>
      <p:sp>
        <p:nvSpPr>
          <p:cNvPr id="31" name="Text 24"/>
          <p:cNvSpPr txBox="1"/>
          <p:nvPr/>
        </p:nvSpPr>
        <p:spPr>
          <a:xfrm>
            <a:off x="4526280" y="5029200"/>
            <a:ext cx="3108960" cy="292608"/>
          </a:xfrm>
          <a:prstGeom prst="rect">
            <a:avLst/>
          </a:prstGeom>
          <a:noFill/>
          <a:ln/>
        </p:spPr>
        <p:txBody>
          <a:bodyPr wrap="square" lIns="0" tIns="0" rIns="0" bIns="0" rtlCol="0" anchor="t"/>
          <a:lstStyle/>
          <a:p>
            <a:pPr indent="0" marL="0">
              <a:buNone/>
            </a:pPr>
            <a:r>
              <a:rPr lang="en-US" sz="1500" b="1" dirty="0">
                <a:solidFill>
                  <a:srgbClr val="EEF3F5"/>
                </a:solidFill>
                <a:latin typeface="Calibri" pitchFamily="34" charset="0"/>
                <a:ea typeface="Calibri" pitchFamily="34" charset="-122"/>
                <a:cs typeface="Calibri" pitchFamily="34" charset="-120"/>
              </a:rPr>
              <a:t>After the offer</a:t>
            </a:r>
            <a:endParaRPr lang="en-US" sz="1500" dirty="0"/>
          </a:p>
        </p:txBody>
      </p:sp>
      <p:sp>
        <p:nvSpPr>
          <p:cNvPr id="32" name="Text 25"/>
          <p:cNvSpPr txBox="1"/>
          <p:nvPr/>
        </p:nvSpPr>
        <p:spPr>
          <a:xfrm>
            <a:off x="4526280" y="5321808"/>
            <a:ext cx="3108960" cy="256032"/>
          </a:xfrm>
          <a:prstGeom prst="rect">
            <a:avLst/>
          </a:prstGeom>
          <a:noFill/>
          <a:ln/>
        </p:spPr>
        <p:txBody>
          <a:bodyPr wrap="square" lIns="0" tIns="0" rIns="0" bIns="0" rtlCol="0" anchor="t"/>
          <a:lstStyle/>
          <a:p>
            <a:pPr indent="0" marL="0">
              <a:buNone/>
            </a:pPr>
            <a:r>
              <a:rPr lang="en-US" sz="1200" dirty="0">
                <a:solidFill>
                  <a:srgbClr val="4FD1C5"/>
                </a:solidFill>
                <a:latin typeface="Calibri" pitchFamily="34" charset="0"/>
                <a:ea typeface="Calibri" pitchFamily="34" charset="-122"/>
                <a:cs typeface="Calibri" pitchFamily="34" charset="-120"/>
              </a:rPr>
              <a:t>event-based</a:t>
            </a:r>
            <a:endParaRPr lang="en-US" sz="1200" dirty="0"/>
          </a:p>
        </p:txBody>
      </p:sp>
      <p:sp>
        <p:nvSpPr>
          <p:cNvPr id="33" name="Text 26"/>
          <p:cNvSpPr txBox="1"/>
          <p:nvPr/>
        </p:nvSpPr>
        <p:spPr>
          <a:xfrm>
            <a:off x="4526280" y="5596128"/>
            <a:ext cx="3108960" cy="640080"/>
          </a:xfrm>
          <a:prstGeom prst="rect">
            <a:avLst/>
          </a:prstGeom>
          <a:noFill/>
          <a:ln/>
        </p:spPr>
        <p:txBody>
          <a:bodyPr wrap="square" lIns="0" tIns="0" rIns="0" bIns="0" rtlCol="0" anchor="t"/>
          <a:lstStyle/>
          <a:p>
            <a:pPr indent="0" marL="0">
              <a:buNone/>
            </a:pPr>
            <a:r>
              <a:rPr lang="en-US" sz="1300" dirty="0">
                <a:solidFill>
                  <a:srgbClr val="A7BAC4"/>
                </a:solidFill>
                <a:latin typeface="Calibri" pitchFamily="34" charset="0"/>
                <a:ea typeface="Calibri" pitchFamily="34" charset="-122"/>
                <a:cs typeface="Calibri" pitchFamily="34" charset="-120"/>
              </a:rPr>
              <a:t>An offer can’t wait forever: first of signed, declined or 15 days wins.</a:t>
            </a:r>
            <a:endParaRPr lang="en-US" sz="1300" dirty="0"/>
          </a:p>
        </p:txBody>
      </p:sp>
      <p:sp>
        <p:nvSpPr>
          <p:cNvPr id="34" name="Shape 27"/>
          <p:cNvSpPr/>
          <p:nvPr/>
        </p:nvSpPr>
        <p:spPr>
          <a:xfrm>
            <a:off x="8046720" y="3913632"/>
            <a:ext cx="3474720" cy="2377440"/>
          </a:xfrm>
          <a:prstGeom prst="roundRect">
            <a:avLst>
              <a:gd name="adj" fmla="val 4615"/>
            </a:avLst>
          </a:prstGeom>
          <a:solidFill>
            <a:srgbClr val="1E323C"/>
          </a:solidFill>
          <a:ln w="12700">
            <a:solidFill>
              <a:srgbClr val="1E323C"/>
            </a:solidFill>
            <a:prstDash val="solid"/>
          </a:ln>
        </p:spPr>
      </p:sp>
      <p:sp>
        <p:nvSpPr>
          <p:cNvPr id="35" name="Shape 28"/>
          <p:cNvSpPr/>
          <p:nvPr/>
        </p:nvSpPr>
        <p:spPr>
          <a:xfrm>
            <a:off x="8183880" y="4050792"/>
            <a:ext cx="3200400" cy="896112"/>
          </a:xfrm>
          <a:prstGeom prst="roundRect">
            <a:avLst>
              <a:gd name="adj" fmla="val 6122"/>
            </a:avLst>
          </a:prstGeom>
          <a:solidFill>
            <a:srgbClr val="FFFFFF"/>
          </a:solidFill>
          <a:ln w="12700">
            <a:solidFill>
              <a:srgbClr val="FFFFFF"/>
            </a:solidFill>
            <a:prstDash val="solid"/>
          </a:ln>
        </p:spPr>
      </p:sp>
      <p:pic>
        <p:nvPicPr>
          <p:cNvPr id="36" name="Image 5" descr="Gateway Retry? in the diagram">    </p:cNvPr>
          <p:cNvPicPr>
            <a:picLocks noChangeAspect="1"/>
          </p:cNvPicPr>
          <p:nvPr/>
        </p:nvPicPr>
        <p:blipFill>
          <a:blip r:embed="rId6"/>
          <a:stretch>
            <a:fillRect/>
          </a:stretch>
        </p:blipFill>
        <p:spPr>
          <a:xfrm>
            <a:off x="9167165" y="4078224"/>
            <a:ext cx="1233830" cy="841248"/>
          </a:xfrm>
          <a:prstGeom prst="rect">
            <a:avLst/>
          </a:prstGeom>
        </p:spPr>
      </p:pic>
      <p:sp>
        <p:nvSpPr>
          <p:cNvPr id="37" name="Text 29"/>
          <p:cNvSpPr txBox="1"/>
          <p:nvPr/>
        </p:nvSpPr>
        <p:spPr>
          <a:xfrm>
            <a:off x="8229600" y="5029200"/>
            <a:ext cx="3108960" cy="292608"/>
          </a:xfrm>
          <a:prstGeom prst="rect">
            <a:avLst/>
          </a:prstGeom>
          <a:noFill/>
          <a:ln/>
        </p:spPr>
        <p:txBody>
          <a:bodyPr wrap="square" lIns="0" tIns="0" rIns="0" bIns="0" rtlCol="0" anchor="t"/>
          <a:lstStyle/>
          <a:p>
            <a:pPr indent="0" marL="0">
              <a:buNone/>
            </a:pPr>
            <a:r>
              <a:rPr lang="en-US" sz="1500" b="1" dirty="0">
                <a:solidFill>
                  <a:srgbClr val="EEF3F5"/>
                </a:solidFill>
                <a:latin typeface="Calibri" pitchFamily="34" charset="0"/>
                <a:ea typeface="Calibri" pitchFamily="34" charset="-122"/>
                <a:cs typeface="Calibri" pitchFamily="34" charset="-120"/>
              </a:rPr>
              <a:t>Retry?</a:t>
            </a:r>
            <a:endParaRPr lang="en-US" sz="1500" dirty="0"/>
          </a:p>
        </p:txBody>
      </p:sp>
      <p:sp>
        <p:nvSpPr>
          <p:cNvPr id="38" name="Text 30"/>
          <p:cNvSpPr txBox="1"/>
          <p:nvPr/>
        </p:nvSpPr>
        <p:spPr>
          <a:xfrm>
            <a:off x="8229600" y="5321808"/>
            <a:ext cx="3108960" cy="256032"/>
          </a:xfrm>
          <a:prstGeom prst="rect">
            <a:avLst/>
          </a:prstGeom>
          <a:noFill/>
          <a:ln/>
        </p:spPr>
        <p:txBody>
          <a:bodyPr wrap="square" lIns="0" tIns="0" rIns="0" bIns="0" rtlCol="0" anchor="t"/>
          <a:lstStyle/>
          <a:p>
            <a:pPr indent="0" marL="0">
              <a:buNone/>
            </a:pPr>
            <a:r>
              <a:rPr lang="en-US" sz="1200" dirty="0">
                <a:solidFill>
                  <a:srgbClr val="4FD1C5"/>
                </a:solidFill>
                <a:latin typeface="Calibri" pitchFamily="34" charset="0"/>
                <a:ea typeface="Calibri" pitchFamily="34" charset="-122"/>
                <a:cs typeface="Calibri" pitchFamily="34" charset="-120"/>
              </a:rPr>
              <a:t>exclusive</a:t>
            </a:r>
            <a:endParaRPr lang="en-US" sz="1200" dirty="0"/>
          </a:p>
        </p:txBody>
      </p:sp>
      <p:sp>
        <p:nvSpPr>
          <p:cNvPr id="39" name="Text 31"/>
          <p:cNvSpPr txBox="1"/>
          <p:nvPr/>
        </p:nvSpPr>
        <p:spPr>
          <a:xfrm>
            <a:off x="8229600" y="5596128"/>
            <a:ext cx="3108960" cy="640080"/>
          </a:xfrm>
          <a:prstGeom prst="rect">
            <a:avLst/>
          </a:prstGeom>
          <a:noFill/>
          <a:ln/>
        </p:spPr>
        <p:txBody>
          <a:bodyPr wrap="square" lIns="0" tIns="0" rIns="0" bIns="0" rtlCol="0" anchor="t"/>
          <a:lstStyle/>
          <a:p>
            <a:pPr indent="0" marL="0">
              <a:buNone/>
            </a:pPr>
            <a:r>
              <a:rPr lang="en-US" sz="1300" dirty="0">
                <a:solidFill>
                  <a:srgbClr val="A7BAC4"/>
                </a:solidFill>
                <a:latin typeface="Calibri" pitchFamily="34" charset="0"/>
                <a:ea typeface="Calibri" pitchFamily="34" charset="-122"/>
                <a:cs typeface="Calibri" pitchFamily="34" charset="-120"/>
              </a:rPr>
              <a:t>After a failed payment: retry with fixed details or cancel the loan.</a:t>
            </a:r>
            <a:endParaRPr lang="en-US" sz="1300" dirty="0"/>
          </a:p>
        </p:txBody>
      </p:sp>
      <p:sp>
        <p:nvSpPr>
          <p:cNvPr id="25" name="Slide Number Placeholder 0"/>
          <p:cNvSpPr>
            <a:spLocks noGrp="1"/>
          </p:cNvSpPr>
          <p:nvPr>
            <p:ph type="sldNum" sz="quarter" idx="4294967295"/>
          </p:nvPr>
        </p:nvSpPr>
        <p:spPr>
          <a:xfrm>
            <a:off x="11247120"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7BAC4"/>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548640"/>
            <a:ext cx="594360" cy="502920"/>
          </a:xfrm>
          <a:prstGeom prst="roundRect">
            <a:avLst>
              <a:gd name="adj" fmla="val 21818"/>
            </a:avLst>
          </a:prstGeom>
          <a:solidFill>
            <a:srgbClr val="4FD1C5"/>
          </a:solidFill>
          <a:ln>
            <a:solidFill>
              <a:srgbClr val="4FD1C5"/>
            </a:solidFill>
          </a:ln>
        </p:spPr>
        <p:txBody>
          <a:bodyPr wrap="square" lIns="0" tIns="0" rIns="0" bIns="0" rtlCol="0" anchor="ctr"/>
          <a:lstStyle/>
          <a:p>
            <a:pPr algn="ctr" indent="0" marL="0">
              <a:buNone/>
            </a:pPr>
            <a:r>
              <a:rPr lang="en-US" sz="1600" b="1" dirty="0">
                <a:solidFill>
                  <a:srgbClr val="14222A"/>
                </a:solidFill>
                <a:latin typeface="Calibri" pitchFamily="34" charset="0"/>
                <a:ea typeface="Calibri" pitchFamily="34" charset="-122"/>
                <a:cs typeface="Calibri" pitchFamily="34" charset="-120"/>
              </a:rPr>
              <a:t>06</a:t>
            </a:r>
            <a:endParaRPr lang="en-US" sz="1600" dirty="0"/>
          </a:p>
        </p:txBody>
      </p:sp>
      <p:sp>
        <p:nvSpPr>
          <p:cNvPr id="3" name="Text 0"/>
          <p:cNvSpPr/>
          <p:nvPr>
            <p:ph idx="100" type="title" hasCustomPrompt="1"/>
          </p:nvPr>
        </p:nvSpPr>
        <p:spPr>
          <a:xfrm>
            <a:off x="1417320" y="457200"/>
            <a:ext cx="9601200" cy="685800"/>
          </a:xfrm>
          <a:prstGeom prst="rect">
            <a:avLst/>
          </a:prstGeom>
          <a:noFill/>
          <a:ln/>
        </p:spPr>
        <p:txBody>
          <a:bodyPr wrap="square" lIns="0" tIns="0" rIns="0" bIns="0" rtlCol="0" anchor="ctr"/>
          <a:lstStyle/>
          <a:p>
            <a:pPr algn="l" indent="0" marL="0">
              <a:buNone/>
            </a:pPr>
            <a:r>
              <a:rPr lang="en-US" sz="3000" b="1" dirty="0">
                <a:solidFill>
                  <a:srgbClr val="EEF3F5"/>
                </a:solidFill>
                <a:latin typeface="Cambria" pitchFamily="34" charset="0"/>
                <a:ea typeface="Cambria" pitchFamily="34" charset="-122"/>
                <a:cs typeface="Cambria" pitchFamily="34" charset="-120"/>
              </a:rPr>
              <a:t>Parallel and merge gateways: what each one solves</a:t>
            </a:r>
            <a:endParaRPr lang="en-US" sz="3000" dirty="0"/>
          </a:p>
        </p:txBody>
      </p:sp>
      <p:sp>
        <p:nvSpPr>
          <p:cNvPr id="4" name="Shape 2"/>
          <p:cNvSpPr/>
          <p:nvPr/>
        </p:nvSpPr>
        <p:spPr>
          <a:xfrm>
            <a:off x="640080" y="1371600"/>
            <a:ext cx="2548890" cy="2377440"/>
          </a:xfrm>
          <a:prstGeom prst="roundRect">
            <a:avLst>
              <a:gd name="adj" fmla="val 4615"/>
            </a:avLst>
          </a:prstGeom>
          <a:solidFill>
            <a:srgbClr val="1E323C"/>
          </a:solidFill>
          <a:ln w="12700">
            <a:solidFill>
              <a:srgbClr val="1E323C"/>
            </a:solidFill>
            <a:prstDash val="solid"/>
          </a:ln>
        </p:spPr>
      </p:sp>
      <p:sp>
        <p:nvSpPr>
          <p:cNvPr id="5" name="Shape 3"/>
          <p:cNvSpPr/>
          <p:nvPr/>
        </p:nvSpPr>
        <p:spPr>
          <a:xfrm>
            <a:off x="777240" y="1508760"/>
            <a:ext cx="2274570" cy="896112"/>
          </a:xfrm>
          <a:prstGeom prst="roundRect">
            <a:avLst>
              <a:gd name="adj" fmla="val 6122"/>
            </a:avLst>
          </a:prstGeom>
          <a:solidFill>
            <a:srgbClr val="FFFFFF"/>
          </a:solidFill>
          <a:ln w="12700">
            <a:solidFill>
              <a:srgbClr val="FFFFFF"/>
            </a:solidFill>
            <a:prstDash val="solid"/>
          </a:ln>
        </p:spPr>
      </p:sp>
      <p:pic>
        <p:nvPicPr>
          <p:cNvPr id="6" name="Image 0" descr="Gateway Split in the diagram">    </p:cNvPr>
          <p:cNvPicPr>
            <a:picLocks noChangeAspect="1"/>
          </p:cNvPicPr>
          <p:nvPr/>
        </p:nvPicPr>
        <p:blipFill>
          <a:blip r:embed="rId1"/>
          <a:stretch>
            <a:fillRect/>
          </a:stretch>
        </p:blipFill>
        <p:spPr>
          <a:xfrm>
            <a:off x="1297610" y="1536192"/>
            <a:ext cx="1233830" cy="841248"/>
          </a:xfrm>
          <a:prstGeom prst="rect">
            <a:avLst/>
          </a:prstGeom>
        </p:spPr>
      </p:pic>
      <p:sp>
        <p:nvSpPr>
          <p:cNvPr id="7" name="Text 4"/>
          <p:cNvSpPr txBox="1"/>
          <p:nvPr/>
        </p:nvSpPr>
        <p:spPr>
          <a:xfrm>
            <a:off x="822960" y="2487168"/>
            <a:ext cx="2183130" cy="292608"/>
          </a:xfrm>
          <a:prstGeom prst="rect">
            <a:avLst/>
          </a:prstGeom>
          <a:noFill/>
          <a:ln/>
        </p:spPr>
        <p:txBody>
          <a:bodyPr wrap="square" lIns="0" tIns="0" rIns="0" bIns="0" rtlCol="0" anchor="t"/>
          <a:lstStyle/>
          <a:p>
            <a:pPr indent="0" marL="0">
              <a:buNone/>
            </a:pPr>
            <a:r>
              <a:rPr lang="en-US" sz="1500" b="1" dirty="0">
                <a:solidFill>
                  <a:srgbClr val="EEF3F5"/>
                </a:solidFill>
                <a:latin typeface="Calibri" pitchFamily="34" charset="0"/>
                <a:ea typeface="Calibri" pitchFamily="34" charset="-122"/>
                <a:cs typeface="Calibri" pitchFamily="34" charset="-120"/>
              </a:rPr>
              <a:t>Split</a:t>
            </a:r>
            <a:endParaRPr lang="en-US" sz="1500" dirty="0"/>
          </a:p>
        </p:txBody>
      </p:sp>
      <p:sp>
        <p:nvSpPr>
          <p:cNvPr id="8" name="Text 5"/>
          <p:cNvSpPr txBox="1"/>
          <p:nvPr/>
        </p:nvSpPr>
        <p:spPr>
          <a:xfrm>
            <a:off x="822960" y="2779776"/>
            <a:ext cx="2183130" cy="256032"/>
          </a:xfrm>
          <a:prstGeom prst="rect">
            <a:avLst/>
          </a:prstGeom>
          <a:noFill/>
          <a:ln/>
        </p:spPr>
        <p:txBody>
          <a:bodyPr wrap="square" lIns="0" tIns="0" rIns="0" bIns="0" rtlCol="0" anchor="t"/>
          <a:lstStyle/>
          <a:p>
            <a:pPr indent="0" marL="0">
              <a:buNone/>
            </a:pPr>
            <a:r>
              <a:rPr lang="en-US" sz="1200" dirty="0">
                <a:solidFill>
                  <a:srgbClr val="4FD1C5"/>
                </a:solidFill>
                <a:latin typeface="Calibri" pitchFamily="34" charset="0"/>
                <a:ea typeface="Calibri" pitchFamily="34" charset="-122"/>
                <a:cs typeface="Calibri" pitchFamily="34" charset="-120"/>
              </a:rPr>
              <a:t>parallel</a:t>
            </a:r>
            <a:endParaRPr lang="en-US" sz="1200" dirty="0"/>
          </a:p>
        </p:txBody>
      </p:sp>
      <p:sp>
        <p:nvSpPr>
          <p:cNvPr id="9" name="Text 6"/>
          <p:cNvSpPr txBox="1"/>
          <p:nvPr/>
        </p:nvSpPr>
        <p:spPr>
          <a:xfrm>
            <a:off x="822960" y="3054096"/>
            <a:ext cx="2183130" cy="640080"/>
          </a:xfrm>
          <a:prstGeom prst="rect">
            <a:avLst/>
          </a:prstGeom>
          <a:noFill/>
          <a:ln/>
        </p:spPr>
        <p:txBody>
          <a:bodyPr wrap="square" lIns="0" tIns="0" rIns="0" bIns="0" rtlCol="0" anchor="t"/>
          <a:lstStyle/>
          <a:p>
            <a:pPr indent="0" marL="0">
              <a:buNone/>
            </a:pPr>
            <a:r>
              <a:rPr lang="en-US" sz="1300" dirty="0">
                <a:solidFill>
                  <a:srgbClr val="A7BAC4"/>
                </a:solidFill>
                <a:latin typeface="Calibri" pitchFamily="34" charset="0"/>
                <a:ea typeface="Calibri" pitchFamily="34" charset="-122"/>
                <a:cs typeface="Calibri" pitchFamily="34" charset="-120"/>
              </a:rPr>
              <a:t>Runs credit, KYC and AML at the same time to save time.</a:t>
            </a:r>
            <a:endParaRPr lang="en-US" sz="1300" dirty="0"/>
          </a:p>
        </p:txBody>
      </p:sp>
      <p:sp>
        <p:nvSpPr>
          <p:cNvPr id="10" name="Shape 7"/>
          <p:cNvSpPr/>
          <p:nvPr/>
        </p:nvSpPr>
        <p:spPr>
          <a:xfrm>
            <a:off x="3417570" y="1371600"/>
            <a:ext cx="2548890" cy="2377440"/>
          </a:xfrm>
          <a:prstGeom prst="roundRect">
            <a:avLst>
              <a:gd name="adj" fmla="val 4615"/>
            </a:avLst>
          </a:prstGeom>
          <a:solidFill>
            <a:srgbClr val="1E323C"/>
          </a:solidFill>
          <a:ln w="12700">
            <a:solidFill>
              <a:srgbClr val="1E323C"/>
            </a:solidFill>
            <a:prstDash val="solid"/>
          </a:ln>
        </p:spPr>
      </p:sp>
      <p:sp>
        <p:nvSpPr>
          <p:cNvPr id="11" name="Shape 8"/>
          <p:cNvSpPr/>
          <p:nvPr/>
        </p:nvSpPr>
        <p:spPr>
          <a:xfrm>
            <a:off x="3554730" y="1508760"/>
            <a:ext cx="2274570" cy="896112"/>
          </a:xfrm>
          <a:prstGeom prst="roundRect">
            <a:avLst>
              <a:gd name="adj" fmla="val 6122"/>
            </a:avLst>
          </a:prstGeom>
          <a:solidFill>
            <a:srgbClr val="FFFFFF"/>
          </a:solidFill>
          <a:ln w="12700">
            <a:solidFill>
              <a:srgbClr val="FFFFFF"/>
            </a:solidFill>
            <a:prstDash val="solid"/>
          </a:ln>
        </p:spPr>
      </p:sp>
      <p:pic>
        <p:nvPicPr>
          <p:cNvPr id="12" name="Image 1" descr="Gateway Join in the diagram">    </p:cNvPr>
          <p:cNvPicPr>
            <a:picLocks noChangeAspect="1"/>
          </p:cNvPicPr>
          <p:nvPr/>
        </p:nvPicPr>
        <p:blipFill>
          <a:blip r:embed="rId2"/>
          <a:stretch>
            <a:fillRect/>
          </a:stretch>
        </p:blipFill>
        <p:spPr>
          <a:xfrm>
            <a:off x="4075100" y="1536192"/>
            <a:ext cx="1233830" cy="841248"/>
          </a:xfrm>
          <a:prstGeom prst="rect">
            <a:avLst/>
          </a:prstGeom>
        </p:spPr>
      </p:pic>
      <p:sp>
        <p:nvSpPr>
          <p:cNvPr id="13" name="Text 9"/>
          <p:cNvSpPr txBox="1"/>
          <p:nvPr/>
        </p:nvSpPr>
        <p:spPr>
          <a:xfrm>
            <a:off x="3600450" y="2487168"/>
            <a:ext cx="2183130" cy="292608"/>
          </a:xfrm>
          <a:prstGeom prst="rect">
            <a:avLst/>
          </a:prstGeom>
          <a:noFill/>
          <a:ln/>
        </p:spPr>
        <p:txBody>
          <a:bodyPr wrap="square" lIns="0" tIns="0" rIns="0" bIns="0" rtlCol="0" anchor="t"/>
          <a:lstStyle/>
          <a:p>
            <a:pPr indent="0" marL="0">
              <a:buNone/>
            </a:pPr>
            <a:r>
              <a:rPr lang="en-US" sz="1500" b="1" dirty="0">
                <a:solidFill>
                  <a:srgbClr val="EEF3F5"/>
                </a:solidFill>
                <a:latin typeface="Calibri" pitchFamily="34" charset="0"/>
                <a:ea typeface="Calibri" pitchFamily="34" charset="-122"/>
                <a:cs typeface="Calibri" pitchFamily="34" charset="-120"/>
              </a:rPr>
              <a:t>Join</a:t>
            </a:r>
            <a:endParaRPr lang="en-US" sz="1500" dirty="0"/>
          </a:p>
        </p:txBody>
      </p:sp>
      <p:sp>
        <p:nvSpPr>
          <p:cNvPr id="14" name="Text 10"/>
          <p:cNvSpPr txBox="1"/>
          <p:nvPr/>
        </p:nvSpPr>
        <p:spPr>
          <a:xfrm>
            <a:off x="3600450" y="2779776"/>
            <a:ext cx="2183130" cy="256032"/>
          </a:xfrm>
          <a:prstGeom prst="rect">
            <a:avLst/>
          </a:prstGeom>
          <a:noFill/>
          <a:ln/>
        </p:spPr>
        <p:txBody>
          <a:bodyPr wrap="square" lIns="0" tIns="0" rIns="0" bIns="0" rtlCol="0" anchor="t"/>
          <a:lstStyle/>
          <a:p>
            <a:pPr indent="0" marL="0">
              <a:buNone/>
            </a:pPr>
            <a:r>
              <a:rPr lang="en-US" sz="1200" dirty="0">
                <a:solidFill>
                  <a:srgbClr val="4FD1C5"/>
                </a:solidFill>
                <a:latin typeface="Calibri" pitchFamily="34" charset="0"/>
                <a:ea typeface="Calibri" pitchFamily="34" charset="-122"/>
                <a:cs typeface="Calibri" pitchFamily="34" charset="-120"/>
              </a:rPr>
              <a:t>parallel</a:t>
            </a:r>
            <a:endParaRPr lang="en-US" sz="1200" dirty="0"/>
          </a:p>
        </p:txBody>
      </p:sp>
      <p:sp>
        <p:nvSpPr>
          <p:cNvPr id="15" name="Text 11"/>
          <p:cNvSpPr txBox="1"/>
          <p:nvPr/>
        </p:nvSpPr>
        <p:spPr>
          <a:xfrm>
            <a:off x="3600450" y="3054096"/>
            <a:ext cx="2183130" cy="640080"/>
          </a:xfrm>
          <a:prstGeom prst="rect">
            <a:avLst/>
          </a:prstGeom>
          <a:noFill/>
          <a:ln/>
        </p:spPr>
        <p:txBody>
          <a:bodyPr wrap="square" lIns="0" tIns="0" rIns="0" bIns="0" rtlCol="0" anchor="t"/>
          <a:lstStyle/>
          <a:p>
            <a:pPr indent="0" marL="0">
              <a:buNone/>
            </a:pPr>
            <a:r>
              <a:rPr lang="en-US" sz="1300" dirty="0">
                <a:solidFill>
                  <a:srgbClr val="A7BAC4"/>
                </a:solidFill>
                <a:latin typeface="Calibri" pitchFamily="34" charset="0"/>
                <a:ea typeface="Calibri" pitchFamily="34" charset="-122"/>
                <a:cs typeface="Calibri" pitchFamily="34" charset="-120"/>
              </a:rPr>
              <a:t>Waits until all three checks finish before any decision.</a:t>
            </a:r>
            <a:endParaRPr lang="en-US" sz="1300" dirty="0"/>
          </a:p>
        </p:txBody>
      </p:sp>
      <p:sp>
        <p:nvSpPr>
          <p:cNvPr id="16" name="Shape 12"/>
          <p:cNvSpPr/>
          <p:nvPr/>
        </p:nvSpPr>
        <p:spPr>
          <a:xfrm>
            <a:off x="6195060" y="1371600"/>
            <a:ext cx="2548890" cy="2377440"/>
          </a:xfrm>
          <a:prstGeom prst="roundRect">
            <a:avLst>
              <a:gd name="adj" fmla="val 4615"/>
            </a:avLst>
          </a:prstGeom>
          <a:solidFill>
            <a:srgbClr val="1E323C"/>
          </a:solidFill>
          <a:ln w="12700">
            <a:solidFill>
              <a:srgbClr val="1E323C"/>
            </a:solidFill>
            <a:prstDash val="solid"/>
          </a:ln>
        </p:spPr>
      </p:sp>
      <p:sp>
        <p:nvSpPr>
          <p:cNvPr id="17" name="Shape 13"/>
          <p:cNvSpPr/>
          <p:nvPr/>
        </p:nvSpPr>
        <p:spPr>
          <a:xfrm>
            <a:off x="6332220" y="1508760"/>
            <a:ext cx="2274570" cy="896112"/>
          </a:xfrm>
          <a:prstGeom prst="roundRect">
            <a:avLst>
              <a:gd name="adj" fmla="val 6122"/>
            </a:avLst>
          </a:prstGeom>
          <a:solidFill>
            <a:srgbClr val="FFFFFF"/>
          </a:solidFill>
          <a:ln w="12700">
            <a:solidFill>
              <a:srgbClr val="FFFFFF"/>
            </a:solidFill>
            <a:prstDash val="solid"/>
          </a:ln>
        </p:spPr>
      </p:sp>
      <p:pic>
        <p:nvPicPr>
          <p:cNvPr id="18" name="Image 2" descr="Gateway Credit merge in the diagram">    </p:cNvPr>
          <p:cNvPicPr>
            <a:picLocks noChangeAspect="1"/>
          </p:cNvPicPr>
          <p:nvPr/>
        </p:nvPicPr>
        <p:blipFill>
          <a:blip r:embed="rId3"/>
          <a:stretch>
            <a:fillRect/>
          </a:stretch>
        </p:blipFill>
        <p:spPr>
          <a:xfrm>
            <a:off x="6852590" y="1536192"/>
            <a:ext cx="1233830" cy="841248"/>
          </a:xfrm>
          <a:prstGeom prst="rect">
            <a:avLst/>
          </a:prstGeom>
        </p:spPr>
      </p:pic>
      <p:sp>
        <p:nvSpPr>
          <p:cNvPr id="19" name="Text 14"/>
          <p:cNvSpPr txBox="1"/>
          <p:nvPr/>
        </p:nvSpPr>
        <p:spPr>
          <a:xfrm>
            <a:off x="6377940" y="2487168"/>
            <a:ext cx="2183130" cy="292608"/>
          </a:xfrm>
          <a:prstGeom prst="rect">
            <a:avLst/>
          </a:prstGeom>
          <a:noFill/>
          <a:ln/>
        </p:spPr>
        <p:txBody>
          <a:bodyPr wrap="square" lIns="0" tIns="0" rIns="0" bIns="0" rtlCol="0" anchor="t"/>
          <a:lstStyle/>
          <a:p>
            <a:pPr indent="0" marL="0">
              <a:buNone/>
            </a:pPr>
            <a:r>
              <a:rPr lang="en-US" sz="1500" b="1" dirty="0">
                <a:solidFill>
                  <a:srgbClr val="EEF3F5"/>
                </a:solidFill>
                <a:latin typeface="Calibri" pitchFamily="34" charset="0"/>
                <a:ea typeface="Calibri" pitchFamily="34" charset="-122"/>
                <a:cs typeface="Calibri" pitchFamily="34" charset="-120"/>
              </a:rPr>
              <a:t>Credit merge</a:t>
            </a:r>
            <a:endParaRPr lang="en-US" sz="1500" dirty="0"/>
          </a:p>
        </p:txBody>
      </p:sp>
      <p:sp>
        <p:nvSpPr>
          <p:cNvPr id="20" name="Text 15"/>
          <p:cNvSpPr txBox="1"/>
          <p:nvPr/>
        </p:nvSpPr>
        <p:spPr>
          <a:xfrm>
            <a:off x="6377940" y="2779776"/>
            <a:ext cx="2183130" cy="256032"/>
          </a:xfrm>
          <a:prstGeom prst="rect">
            <a:avLst/>
          </a:prstGeom>
          <a:noFill/>
          <a:ln/>
        </p:spPr>
        <p:txBody>
          <a:bodyPr wrap="square" lIns="0" tIns="0" rIns="0" bIns="0" rtlCol="0" anchor="t"/>
          <a:lstStyle/>
          <a:p>
            <a:pPr indent="0" marL="0">
              <a:buNone/>
            </a:pPr>
            <a:r>
              <a:rPr lang="en-US" sz="1200" dirty="0">
                <a:solidFill>
                  <a:srgbClr val="4FD1C5"/>
                </a:solidFill>
                <a:latin typeface="Calibri" pitchFamily="34" charset="0"/>
                <a:ea typeface="Calibri" pitchFamily="34" charset="-122"/>
                <a:cs typeface="Calibri" pitchFamily="34" charset="-120"/>
              </a:rPr>
              <a:t>exclusive merge</a:t>
            </a:r>
            <a:endParaRPr lang="en-US" sz="1200" dirty="0"/>
          </a:p>
        </p:txBody>
      </p:sp>
      <p:sp>
        <p:nvSpPr>
          <p:cNvPr id="21" name="Text 16"/>
          <p:cNvSpPr txBox="1"/>
          <p:nvPr/>
        </p:nvSpPr>
        <p:spPr>
          <a:xfrm>
            <a:off x="6377940" y="3054096"/>
            <a:ext cx="2183130" cy="640080"/>
          </a:xfrm>
          <a:prstGeom prst="rect">
            <a:avLst/>
          </a:prstGeom>
          <a:noFill/>
          <a:ln/>
        </p:spPr>
        <p:txBody>
          <a:bodyPr wrap="square" lIns="0" tIns="0" rIns="0" bIns="0" rtlCol="0" anchor="t"/>
          <a:lstStyle/>
          <a:p>
            <a:pPr indent="0" marL="0">
              <a:buNone/>
            </a:pPr>
            <a:r>
              <a:rPr lang="en-US" sz="1300" dirty="0">
                <a:solidFill>
                  <a:srgbClr val="A7BAC4"/>
                </a:solidFill>
                <a:latin typeface="Calibri" pitchFamily="34" charset="0"/>
                <a:ea typeface="Calibri" pitchFamily="34" charset="-122"/>
                <a:cs typeface="Calibri" pitchFamily="34" charset="-120"/>
              </a:rPr>
              <a:t>Joins normal and backup credit paths so the join never deadlocks.</a:t>
            </a:r>
            <a:endParaRPr lang="en-US" sz="1300" dirty="0"/>
          </a:p>
        </p:txBody>
      </p:sp>
      <p:sp>
        <p:nvSpPr>
          <p:cNvPr id="22" name="Shape 17"/>
          <p:cNvSpPr/>
          <p:nvPr/>
        </p:nvSpPr>
        <p:spPr>
          <a:xfrm>
            <a:off x="8972550" y="1371600"/>
            <a:ext cx="2548890" cy="2377440"/>
          </a:xfrm>
          <a:prstGeom prst="roundRect">
            <a:avLst>
              <a:gd name="adj" fmla="val 4615"/>
            </a:avLst>
          </a:prstGeom>
          <a:solidFill>
            <a:srgbClr val="1E323C"/>
          </a:solidFill>
          <a:ln w="12700">
            <a:solidFill>
              <a:srgbClr val="1E323C"/>
            </a:solidFill>
            <a:prstDash val="solid"/>
          </a:ln>
        </p:spPr>
      </p:sp>
      <p:sp>
        <p:nvSpPr>
          <p:cNvPr id="23" name="Shape 18"/>
          <p:cNvSpPr/>
          <p:nvPr/>
        </p:nvSpPr>
        <p:spPr>
          <a:xfrm>
            <a:off x="9109710" y="1508760"/>
            <a:ext cx="2274570" cy="896112"/>
          </a:xfrm>
          <a:prstGeom prst="roundRect">
            <a:avLst>
              <a:gd name="adj" fmla="val 6122"/>
            </a:avLst>
          </a:prstGeom>
          <a:solidFill>
            <a:srgbClr val="FFFFFF"/>
          </a:solidFill>
          <a:ln w="12700">
            <a:solidFill>
              <a:srgbClr val="FFFFFF"/>
            </a:solidFill>
            <a:prstDash val="solid"/>
          </a:ln>
        </p:spPr>
      </p:sp>
      <p:pic>
        <p:nvPicPr>
          <p:cNvPr id="24" name="Image 3" descr="Gateway Documents merge in the diagram">    </p:cNvPr>
          <p:cNvPicPr>
            <a:picLocks noChangeAspect="1"/>
          </p:cNvPicPr>
          <p:nvPr/>
        </p:nvPicPr>
        <p:blipFill>
          <a:blip r:embed="rId4"/>
          <a:stretch>
            <a:fillRect/>
          </a:stretch>
        </p:blipFill>
        <p:spPr>
          <a:xfrm>
            <a:off x="9630080" y="1536192"/>
            <a:ext cx="1233830" cy="841248"/>
          </a:xfrm>
          <a:prstGeom prst="rect">
            <a:avLst/>
          </a:prstGeom>
        </p:spPr>
      </p:pic>
      <p:sp>
        <p:nvSpPr>
          <p:cNvPr id="25" name="Text 19"/>
          <p:cNvSpPr txBox="1"/>
          <p:nvPr/>
        </p:nvSpPr>
        <p:spPr>
          <a:xfrm>
            <a:off x="9155430" y="2487168"/>
            <a:ext cx="2183130" cy="292608"/>
          </a:xfrm>
          <a:prstGeom prst="rect">
            <a:avLst/>
          </a:prstGeom>
          <a:noFill/>
          <a:ln/>
        </p:spPr>
        <p:txBody>
          <a:bodyPr wrap="square" lIns="0" tIns="0" rIns="0" bIns="0" rtlCol="0" anchor="t"/>
          <a:lstStyle/>
          <a:p>
            <a:pPr indent="0" marL="0">
              <a:buNone/>
            </a:pPr>
            <a:r>
              <a:rPr lang="en-US" sz="1500" b="1" dirty="0">
                <a:solidFill>
                  <a:srgbClr val="EEF3F5"/>
                </a:solidFill>
                <a:latin typeface="Calibri" pitchFamily="34" charset="0"/>
                <a:ea typeface="Calibri" pitchFamily="34" charset="-122"/>
                <a:cs typeface="Calibri" pitchFamily="34" charset="-120"/>
              </a:rPr>
              <a:t>Documents merge</a:t>
            </a:r>
            <a:endParaRPr lang="en-US" sz="1500" dirty="0"/>
          </a:p>
        </p:txBody>
      </p:sp>
      <p:sp>
        <p:nvSpPr>
          <p:cNvPr id="26" name="Text 20"/>
          <p:cNvSpPr txBox="1"/>
          <p:nvPr/>
        </p:nvSpPr>
        <p:spPr>
          <a:xfrm>
            <a:off x="9155430" y="2779776"/>
            <a:ext cx="2183130" cy="256032"/>
          </a:xfrm>
          <a:prstGeom prst="rect">
            <a:avLst/>
          </a:prstGeom>
          <a:noFill/>
          <a:ln/>
        </p:spPr>
        <p:txBody>
          <a:bodyPr wrap="square" lIns="0" tIns="0" rIns="0" bIns="0" rtlCol="0" anchor="t"/>
          <a:lstStyle/>
          <a:p>
            <a:pPr indent="0" marL="0">
              <a:buNone/>
            </a:pPr>
            <a:r>
              <a:rPr lang="en-US" sz="1200" dirty="0">
                <a:solidFill>
                  <a:srgbClr val="4FD1C5"/>
                </a:solidFill>
                <a:latin typeface="Calibri" pitchFamily="34" charset="0"/>
                <a:ea typeface="Calibri" pitchFamily="34" charset="-122"/>
                <a:cs typeface="Calibri" pitchFamily="34" charset="-120"/>
              </a:rPr>
              <a:t>exclusive merge</a:t>
            </a:r>
            <a:endParaRPr lang="en-US" sz="1200" dirty="0"/>
          </a:p>
        </p:txBody>
      </p:sp>
      <p:sp>
        <p:nvSpPr>
          <p:cNvPr id="27" name="Text 21"/>
          <p:cNvSpPr txBox="1"/>
          <p:nvPr/>
        </p:nvSpPr>
        <p:spPr>
          <a:xfrm>
            <a:off x="9155430" y="3054096"/>
            <a:ext cx="2183130" cy="640080"/>
          </a:xfrm>
          <a:prstGeom prst="rect">
            <a:avLst/>
          </a:prstGeom>
          <a:noFill/>
          <a:ln/>
        </p:spPr>
        <p:txBody>
          <a:bodyPr wrap="square" lIns="0" tIns="0" rIns="0" bIns="0" rtlCol="0" anchor="t"/>
          <a:lstStyle/>
          <a:p>
            <a:pPr indent="0" marL="0">
              <a:buNone/>
            </a:pPr>
            <a:r>
              <a:rPr lang="en-US" sz="1300" dirty="0">
                <a:solidFill>
                  <a:srgbClr val="A7BAC4"/>
                </a:solidFill>
                <a:latin typeface="Calibri" pitchFamily="34" charset="0"/>
                <a:ea typeface="Calibri" pitchFamily="34" charset="-122"/>
                <a:cs typeface="Calibri" pitchFamily="34" charset="-120"/>
              </a:rPr>
              <a:t>Lets resubmitted documents loop back to the eligibility check.</a:t>
            </a:r>
            <a:endParaRPr lang="en-US" sz="1300" dirty="0"/>
          </a:p>
        </p:txBody>
      </p:sp>
      <p:sp>
        <p:nvSpPr>
          <p:cNvPr id="28" name="Shape 22"/>
          <p:cNvSpPr/>
          <p:nvPr/>
        </p:nvSpPr>
        <p:spPr>
          <a:xfrm>
            <a:off x="2028825" y="3913632"/>
            <a:ext cx="2548890" cy="2377440"/>
          </a:xfrm>
          <a:prstGeom prst="roundRect">
            <a:avLst>
              <a:gd name="adj" fmla="val 4615"/>
            </a:avLst>
          </a:prstGeom>
          <a:solidFill>
            <a:srgbClr val="1E323C"/>
          </a:solidFill>
          <a:ln w="12700">
            <a:solidFill>
              <a:srgbClr val="1E323C"/>
            </a:solidFill>
            <a:prstDash val="solid"/>
          </a:ln>
        </p:spPr>
      </p:sp>
      <p:sp>
        <p:nvSpPr>
          <p:cNvPr id="29" name="Shape 23"/>
          <p:cNvSpPr/>
          <p:nvPr/>
        </p:nvSpPr>
        <p:spPr>
          <a:xfrm>
            <a:off x="2165985" y="4050792"/>
            <a:ext cx="2274570" cy="896112"/>
          </a:xfrm>
          <a:prstGeom prst="roundRect">
            <a:avLst>
              <a:gd name="adj" fmla="val 6122"/>
            </a:avLst>
          </a:prstGeom>
          <a:solidFill>
            <a:srgbClr val="FFFFFF"/>
          </a:solidFill>
          <a:ln w="12700">
            <a:solidFill>
              <a:srgbClr val="FFFFFF"/>
            </a:solidFill>
            <a:prstDash val="solid"/>
          </a:ln>
        </p:spPr>
      </p:sp>
      <p:pic>
        <p:nvPicPr>
          <p:cNvPr id="30" name="Image 4" descr="Gateway Underwriting merge in the diagram">    </p:cNvPr>
          <p:cNvPicPr>
            <a:picLocks noChangeAspect="1"/>
          </p:cNvPicPr>
          <p:nvPr/>
        </p:nvPicPr>
        <p:blipFill>
          <a:blip r:embed="rId5"/>
          <a:stretch>
            <a:fillRect/>
          </a:stretch>
        </p:blipFill>
        <p:spPr>
          <a:xfrm>
            <a:off x="2686355" y="4078224"/>
            <a:ext cx="1233830" cy="841248"/>
          </a:xfrm>
          <a:prstGeom prst="rect">
            <a:avLst/>
          </a:prstGeom>
        </p:spPr>
      </p:pic>
      <p:sp>
        <p:nvSpPr>
          <p:cNvPr id="31" name="Text 24"/>
          <p:cNvSpPr txBox="1"/>
          <p:nvPr/>
        </p:nvSpPr>
        <p:spPr>
          <a:xfrm>
            <a:off x="2211705" y="5029200"/>
            <a:ext cx="2183130" cy="292608"/>
          </a:xfrm>
          <a:prstGeom prst="rect">
            <a:avLst/>
          </a:prstGeom>
          <a:noFill/>
          <a:ln/>
        </p:spPr>
        <p:txBody>
          <a:bodyPr wrap="square" lIns="0" tIns="0" rIns="0" bIns="0" rtlCol="0" anchor="t"/>
          <a:lstStyle/>
          <a:p>
            <a:pPr indent="0" marL="0">
              <a:buNone/>
            </a:pPr>
            <a:r>
              <a:rPr lang="en-US" sz="1500" b="1" dirty="0">
                <a:solidFill>
                  <a:srgbClr val="EEF3F5"/>
                </a:solidFill>
                <a:latin typeface="Calibri" pitchFamily="34" charset="0"/>
                <a:ea typeface="Calibri" pitchFamily="34" charset="-122"/>
                <a:cs typeface="Calibri" pitchFamily="34" charset="-120"/>
              </a:rPr>
              <a:t>Underwriting merge</a:t>
            </a:r>
            <a:endParaRPr lang="en-US" sz="1500" dirty="0"/>
          </a:p>
        </p:txBody>
      </p:sp>
      <p:sp>
        <p:nvSpPr>
          <p:cNvPr id="32" name="Text 25"/>
          <p:cNvSpPr txBox="1"/>
          <p:nvPr/>
        </p:nvSpPr>
        <p:spPr>
          <a:xfrm>
            <a:off x="2211705" y="5321808"/>
            <a:ext cx="2183130" cy="256032"/>
          </a:xfrm>
          <a:prstGeom prst="rect">
            <a:avLst/>
          </a:prstGeom>
          <a:noFill/>
          <a:ln/>
        </p:spPr>
        <p:txBody>
          <a:bodyPr wrap="square" lIns="0" tIns="0" rIns="0" bIns="0" rtlCol="0" anchor="t"/>
          <a:lstStyle/>
          <a:p>
            <a:pPr indent="0" marL="0">
              <a:buNone/>
            </a:pPr>
            <a:r>
              <a:rPr lang="en-US" sz="1200" dirty="0">
                <a:solidFill>
                  <a:srgbClr val="4FD1C5"/>
                </a:solidFill>
                <a:latin typeface="Calibri" pitchFamily="34" charset="0"/>
                <a:ea typeface="Calibri" pitchFamily="34" charset="-122"/>
                <a:cs typeface="Calibri" pitchFamily="34" charset="-120"/>
              </a:rPr>
              <a:t>exclusive merge</a:t>
            </a:r>
            <a:endParaRPr lang="en-US" sz="1200" dirty="0"/>
          </a:p>
        </p:txBody>
      </p:sp>
      <p:sp>
        <p:nvSpPr>
          <p:cNvPr id="33" name="Text 26"/>
          <p:cNvSpPr txBox="1"/>
          <p:nvPr/>
        </p:nvSpPr>
        <p:spPr>
          <a:xfrm>
            <a:off x="2211705" y="5596128"/>
            <a:ext cx="2183130" cy="640080"/>
          </a:xfrm>
          <a:prstGeom prst="rect">
            <a:avLst/>
          </a:prstGeom>
          <a:noFill/>
          <a:ln/>
        </p:spPr>
        <p:txBody>
          <a:bodyPr wrap="square" lIns="0" tIns="0" rIns="0" bIns="0" rtlCol="0" anchor="t"/>
          <a:lstStyle/>
          <a:p>
            <a:pPr indent="0" marL="0">
              <a:buNone/>
            </a:pPr>
            <a:r>
              <a:rPr lang="en-US" sz="1300" dirty="0">
                <a:solidFill>
                  <a:srgbClr val="A7BAC4"/>
                </a:solidFill>
                <a:latin typeface="Calibri" pitchFamily="34" charset="0"/>
                <a:ea typeface="Calibri" pitchFamily="34" charset="-122"/>
                <a:cs typeface="Calibri" pitchFamily="34" charset="-120"/>
              </a:rPr>
              <a:t>A cleared AML alert rejoins the normal path to underwriting.</a:t>
            </a:r>
            <a:endParaRPr lang="en-US" sz="1300" dirty="0"/>
          </a:p>
        </p:txBody>
      </p:sp>
      <p:sp>
        <p:nvSpPr>
          <p:cNvPr id="34" name="Shape 27"/>
          <p:cNvSpPr/>
          <p:nvPr/>
        </p:nvSpPr>
        <p:spPr>
          <a:xfrm>
            <a:off x="4806315" y="3913632"/>
            <a:ext cx="2548890" cy="2377440"/>
          </a:xfrm>
          <a:prstGeom prst="roundRect">
            <a:avLst>
              <a:gd name="adj" fmla="val 4615"/>
            </a:avLst>
          </a:prstGeom>
          <a:solidFill>
            <a:srgbClr val="1E323C"/>
          </a:solidFill>
          <a:ln w="12700">
            <a:solidFill>
              <a:srgbClr val="1E323C"/>
            </a:solidFill>
            <a:prstDash val="solid"/>
          </a:ln>
        </p:spPr>
      </p:sp>
      <p:sp>
        <p:nvSpPr>
          <p:cNvPr id="35" name="Shape 28"/>
          <p:cNvSpPr/>
          <p:nvPr/>
        </p:nvSpPr>
        <p:spPr>
          <a:xfrm>
            <a:off x="4943475" y="4050792"/>
            <a:ext cx="2274570" cy="896112"/>
          </a:xfrm>
          <a:prstGeom prst="roundRect">
            <a:avLst>
              <a:gd name="adj" fmla="val 6122"/>
            </a:avLst>
          </a:prstGeom>
          <a:solidFill>
            <a:srgbClr val="FFFFFF"/>
          </a:solidFill>
          <a:ln w="12700">
            <a:solidFill>
              <a:srgbClr val="FFFFFF"/>
            </a:solidFill>
            <a:prstDash val="solid"/>
          </a:ln>
        </p:spPr>
      </p:sp>
      <p:pic>
        <p:nvPicPr>
          <p:cNvPr id="36" name="Image 5" descr="Gateway Rejection merge in the diagram">    </p:cNvPr>
          <p:cNvPicPr>
            <a:picLocks noChangeAspect="1"/>
          </p:cNvPicPr>
          <p:nvPr/>
        </p:nvPicPr>
        <p:blipFill>
          <a:blip r:embed="rId6"/>
          <a:stretch>
            <a:fillRect/>
          </a:stretch>
        </p:blipFill>
        <p:spPr>
          <a:xfrm>
            <a:off x="5463845" y="4078224"/>
            <a:ext cx="1233830" cy="841248"/>
          </a:xfrm>
          <a:prstGeom prst="rect">
            <a:avLst/>
          </a:prstGeom>
        </p:spPr>
      </p:pic>
      <p:sp>
        <p:nvSpPr>
          <p:cNvPr id="37" name="Text 29"/>
          <p:cNvSpPr txBox="1"/>
          <p:nvPr/>
        </p:nvSpPr>
        <p:spPr>
          <a:xfrm>
            <a:off x="4989195" y="5029200"/>
            <a:ext cx="2183130" cy="292608"/>
          </a:xfrm>
          <a:prstGeom prst="rect">
            <a:avLst/>
          </a:prstGeom>
          <a:noFill/>
          <a:ln/>
        </p:spPr>
        <p:txBody>
          <a:bodyPr wrap="square" lIns="0" tIns="0" rIns="0" bIns="0" rtlCol="0" anchor="t"/>
          <a:lstStyle/>
          <a:p>
            <a:pPr indent="0" marL="0">
              <a:buNone/>
            </a:pPr>
            <a:r>
              <a:rPr lang="en-US" sz="1500" b="1" dirty="0">
                <a:solidFill>
                  <a:srgbClr val="EEF3F5"/>
                </a:solidFill>
                <a:latin typeface="Calibri" pitchFamily="34" charset="0"/>
                <a:ea typeface="Calibri" pitchFamily="34" charset="-122"/>
                <a:cs typeface="Calibri" pitchFamily="34" charset="-120"/>
              </a:rPr>
              <a:t>Rejection merge</a:t>
            </a:r>
            <a:endParaRPr lang="en-US" sz="1500" dirty="0"/>
          </a:p>
        </p:txBody>
      </p:sp>
      <p:sp>
        <p:nvSpPr>
          <p:cNvPr id="38" name="Text 30"/>
          <p:cNvSpPr txBox="1"/>
          <p:nvPr/>
        </p:nvSpPr>
        <p:spPr>
          <a:xfrm>
            <a:off x="4989195" y="5321808"/>
            <a:ext cx="2183130" cy="256032"/>
          </a:xfrm>
          <a:prstGeom prst="rect">
            <a:avLst/>
          </a:prstGeom>
          <a:noFill/>
          <a:ln/>
        </p:spPr>
        <p:txBody>
          <a:bodyPr wrap="square" lIns="0" tIns="0" rIns="0" bIns="0" rtlCol="0" anchor="t"/>
          <a:lstStyle/>
          <a:p>
            <a:pPr indent="0" marL="0">
              <a:buNone/>
            </a:pPr>
            <a:r>
              <a:rPr lang="en-US" sz="1200" dirty="0">
                <a:solidFill>
                  <a:srgbClr val="4FD1C5"/>
                </a:solidFill>
                <a:latin typeface="Calibri" pitchFamily="34" charset="0"/>
                <a:ea typeface="Calibri" pitchFamily="34" charset="-122"/>
                <a:cs typeface="Calibri" pitchFamily="34" charset="-120"/>
              </a:rPr>
              <a:t>exclusive merge</a:t>
            </a:r>
            <a:endParaRPr lang="en-US" sz="1200" dirty="0"/>
          </a:p>
        </p:txBody>
      </p:sp>
      <p:sp>
        <p:nvSpPr>
          <p:cNvPr id="39" name="Text 31"/>
          <p:cNvSpPr txBox="1"/>
          <p:nvPr/>
        </p:nvSpPr>
        <p:spPr>
          <a:xfrm>
            <a:off x="4989195" y="5596128"/>
            <a:ext cx="2183130" cy="640080"/>
          </a:xfrm>
          <a:prstGeom prst="rect">
            <a:avLst/>
          </a:prstGeom>
          <a:noFill/>
          <a:ln/>
        </p:spPr>
        <p:txBody>
          <a:bodyPr wrap="square" lIns="0" tIns="0" rIns="0" bIns="0" rtlCol="0" anchor="t"/>
          <a:lstStyle/>
          <a:p>
            <a:pPr indent="0" marL="0">
              <a:buNone/>
            </a:pPr>
            <a:r>
              <a:rPr lang="en-US" sz="1300" dirty="0">
                <a:solidFill>
                  <a:srgbClr val="A7BAC4"/>
                </a:solidFill>
                <a:latin typeface="Calibri" pitchFamily="34" charset="0"/>
                <a:ea typeface="Calibri" pitchFamily="34" charset="-122"/>
                <a:cs typeface="Calibri" pitchFamily="34" charset="-120"/>
              </a:rPr>
              <a:t>Three rejection reasons share one Send rejection task.</a:t>
            </a:r>
            <a:endParaRPr lang="en-US" sz="1300" dirty="0"/>
          </a:p>
        </p:txBody>
      </p:sp>
      <p:sp>
        <p:nvSpPr>
          <p:cNvPr id="40" name="Shape 32"/>
          <p:cNvSpPr/>
          <p:nvPr/>
        </p:nvSpPr>
        <p:spPr>
          <a:xfrm>
            <a:off x="7583805" y="3913632"/>
            <a:ext cx="2548890" cy="2377440"/>
          </a:xfrm>
          <a:prstGeom prst="roundRect">
            <a:avLst>
              <a:gd name="adj" fmla="val 4615"/>
            </a:avLst>
          </a:prstGeom>
          <a:solidFill>
            <a:srgbClr val="1E323C"/>
          </a:solidFill>
          <a:ln w="12700">
            <a:solidFill>
              <a:srgbClr val="1E323C"/>
            </a:solidFill>
            <a:prstDash val="solid"/>
          </a:ln>
        </p:spPr>
      </p:sp>
      <p:sp>
        <p:nvSpPr>
          <p:cNvPr id="41" name="Shape 33"/>
          <p:cNvSpPr/>
          <p:nvPr/>
        </p:nvSpPr>
        <p:spPr>
          <a:xfrm>
            <a:off x="7720965" y="4050792"/>
            <a:ext cx="2274570" cy="896112"/>
          </a:xfrm>
          <a:prstGeom prst="roundRect">
            <a:avLst>
              <a:gd name="adj" fmla="val 6122"/>
            </a:avLst>
          </a:prstGeom>
          <a:solidFill>
            <a:srgbClr val="FFFFFF"/>
          </a:solidFill>
          <a:ln w="12700">
            <a:solidFill>
              <a:srgbClr val="FFFFFF"/>
            </a:solidFill>
            <a:prstDash val="solid"/>
          </a:ln>
        </p:spPr>
      </p:sp>
      <p:pic>
        <p:nvPicPr>
          <p:cNvPr id="42" name="Image 6" descr="Gateway Disbursement merge in the diagram">    </p:cNvPr>
          <p:cNvPicPr>
            <a:picLocks noChangeAspect="1"/>
          </p:cNvPicPr>
          <p:nvPr/>
        </p:nvPicPr>
        <p:blipFill>
          <a:blip r:embed="rId7"/>
          <a:stretch>
            <a:fillRect/>
          </a:stretch>
        </p:blipFill>
        <p:spPr>
          <a:xfrm>
            <a:off x="8241335" y="4078224"/>
            <a:ext cx="1233830" cy="841248"/>
          </a:xfrm>
          <a:prstGeom prst="rect">
            <a:avLst/>
          </a:prstGeom>
        </p:spPr>
      </p:pic>
      <p:sp>
        <p:nvSpPr>
          <p:cNvPr id="43" name="Text 34"/>
          <p:cNvSpPr txBox="1"/>
          <p:nvPr/>
        </p:nvSpPr>
        <p:spPr>
          <a:xfrm>
            <a:off x="7766685" y="5029200"/>
            <a:ext cx="2183130" cy="292608"/>
          </a:xfrm>
          <a:prstGeom prst="rect">
            <a:avLst/>
          </a:prstGeom>
          <a:noFill/>
          <a:ln/>
        </p:spPr>
        <p:txBody>
          <a:bodyPr wrap="square" lIns="0" tIns="0" rIns="0" bIns="0" rtlCol="0" anchor="t"/>
          <a:lstStyle/>
          <a:p>
            <a:pPr indent="0" marL="0">
              <a:buNone/>
            </a:pPr>
            <a:r>
              <a:rPr lang="en-US" sz="1500" b="1" dirty="0">
                <a:solidFill>
                  <a:srgbClr val="EEF3F5"/>
                </a:solidFill>
                <a:latin typeface="Calibri" pitchFamily="34" charset="0"/>
                <a:ea typeface="Calibri" pitchFamily="34" charset="-122"/>
                <a:cs typeface="Calibri" pitchFamily="34" charset="-120"/>
              </a:rPr>
              <a:t>Disbursement merge</a:t>
            </a:r>
            <a:endParaRPr lang="en-US" sz="1500" dirty="0"/>
          </a:p>
        </p:txBody>
      </p:sp>
      <p:sp>
        <p:nvSpPr>
          <p:cNvPr id="44" name="Text 35"/>
          <p:cNvSpPr txBox="1"/>
          <p:nvPr/>
        </p:nvSpPr>
        <p:spPr>
          <a:xfrm>
            <a:off x="7766685" y="5321808"/>
            <a:ext cx="2183130" cy="256032"/>
          </a:xfrm>
          <a:prstGeom prst="rect">
            <a:avLst/>
          </a:prstGeom>
          <a:noFill/>
          <a:ln/>
        </p:spPr>
        <p:txBody>
          <a:bodyPr wrap="square" lIns="0" tIns="0" rIns="0" bIns="0" rtlCol="0" anchor="t"/>
          <a:lstStyle/>
          <a:p>
            <a:pPr indent="0" marL="0">
              <a:buNone/>
            </a:pPr>
            <a:r>
              <a:rPr lang="en-US" sz="1200" dirty="0">
                <a:solidFill>
                  <a:srgbClr val="4FD1C5"/>
                </a:solidFill>
                <a:latin typeface="Calibri" pitchFamily="34" charset="0"/>
                <a:ea typeface="Calibri" pitchFamily="34" charset="-122"/>
                <a:cs typeface="Calibri" pitchFamily="34" charset="-120"/>
              </a:rPr>
              <a:t>exclusive merge</a:t>
            </a:r>
            <a:endParaRPr lang="en-US" sz="1200" dirty="0"/>
          </a:p>
        </p:txBody>
      </p:sp>
      <p:sp>
        <p:nvSpPr>
          <p:cNvPr id="45" name="Text 36"/>
          <p:cNvSpPr txBox="1"/>
          <p:nvPr/>
        </p:nvSpPr>
        <p:spPr>
          <a:xfrm>
            <a:off x="7766685" y="5596128"/>
            <a:ext cx="2183130" cy="640080"/>
          </a:xfrm>
          <a:prstGeom prst="rect">
            <a:avLst/>
          </a:prstGeom>
          <a:noFill/>
          <a:ln/>
        </p:spPr>
        <p:txBody>
          <a:bodyPr wrap="square" lIns="0" tIns="0" rIns="0" bIns="0" rtlCol="0" anchor="t"/>
          <a:lstStyle/>
          <a:p>
            <a:pPr indent="0" marL="0">
              <a:buNone/>
            </a:pPr>
            <a:r>
              <a:rPr lang="en-US" sz="1300" dirty="0">
                <a:solidFill>
                  <a:srgbClr val="A7BAC4"/>
                </a:solidFill>
                <a:latin typeface="Calibri" pitchFamily="34" charset="0"/>
                <a:ea typeface="Calibri" pitchFamily="34" charset="-122"/>
                <a:cs typeface="Calibri" pitchFamily="34" charset="-120"/>
              </a:rPr>
              <a:t>The payment retry loop re-enters Disburse funds.</a:t>
            </a:r>
            <a:endParaRPr lang="en-US" sz="1300" dirty="0"/>
          </a:p>
        </p:txBody>
      </p:sp>
      <p:sp>
        <p:nvSpPr>
          <p:cNvPr id="25" name="Slide Number Placeholder 0"/>
          <p:cNvSpPr>
            <a:spLocks noGrp="1"/>
          </p:cNvSpPr>
          <p:nvPr>
            <p:ph type="sldNum" sz="quarter" idx="4294967295"/>
          </p:nvPr>
        </p:nvSpPr>
        <p:spPr>
          <a:xfrm>
            <a:off x="11247120"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7BAC4"/>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548640"/>
            <a:ext cx="594360" cy="502920"/>
          </a:xfrm>
          <a:prstGeom prst="roundRect">
            <a:avLst>
              <a:gd name="adj" fmla="val 21818"/>
            </a:avLst>
          </a:prstGeom>
          <a:solidFill>
            <a:srgbClr val="4FD1C5"/>
          </a:solidFill>
          <a:ln>
            <a:solidFill>
              <a:srgbClr val="4FD1C5"/>
            </a:solidFill>
          </a:ln>
        </p:spPr>
        <p:txBody>
          <a:bodyPr wrap="square" lIns="0" tIns="0" rIns="0" bIns="0" rtlCol="0" anchor="ctr"/>
          <a:lstStyle/>
          <a:p>
            <a:pPr algn="ctr" indent="0" marL="0">
              <a:buNone/>
            </a:pPr>
            <a:r>
              <a:rPr lang="en-US" sz="1600" b="1" dirty="0">
                <a:solidFill>
                  <a:srgbClr val="14222A"/>
                </a:solidFill>
                <a:latin typeface="Calibri" pitchFamily="34" charset="0"/>
                <a:ea typeface="Calibri" pitchFamily="34" charset="-122"/>
                <a:cs typeface="Calibri" pitchFamily="34" charset="-120"/>
              </a:rPr>
              <a:t>07</a:t>
            </a:r>
            <a:endParaRPr lang="en-US" sz="1600" dirty="0"/>
          </a:p>
        </p:txBody>
      </p:sp>
      <p:sp>
        <p:nvSpPr>
          <p:cNvPr id="3" name="Text 0"/>
          <p:cNvSpPr/>
          <p:nvPr>
            <p:ph idx="100" type="title" hasCustomPrompt="1"/>
          </p:nvPr>
        </p:nvSpPr>
        <p:spPr>
          <a:xfrm>
            <a:off x="1417320" y="457200"/>
            <a:ext cx="9601200" cy="685800"/>
          </a:xfrm>
          <a:prstGeom prst="rect">
            <a:avLst/>
          </a:prstGeom>
          <a:noFill/>
          <a:ln/>
        </p:spPr>
        <p:txBody>
          <a:bodyPr wrap="square" lIns="0" tIns="0" rIns="0" bIns="0" rtlCol="0" anchor="ctr"/>
          <a:lstStyle/>
          <a:p>
            <a:pPr algn="l" indent="0" marL="0">
              <a:buNone/>
            </a:pPr>
            <a:r>
              <a:rPr lang="en-US" sz="3000" b="1" dirty="0">
                <a:solidFill>
                  <a:srgbClr val="EEF3F5"/>
                </a:solidFill>
                <a:latin typeface="Cambria" pitchFamily="34" charset="0"/>
                <a:ea typeface="Cambria" pitchFamily="34" charset="-122"/>
                <a:cs typeface="Cambria" pitchFamily="34" charset="-120"/>
              </a:rPr>
              <a:t>Intermediate events</a:t>
            </a:r>
            <a:endParaRPr lang="en-US" sz="3000" dirty="0"/>
          </a:p>
        </p:txBody>
      </p:sp>
      <p:pic>
        <p:nvPicPr>
          <p:cNvPr id="4" name="Image 0" descr="7 days event symbol">    </p:cNvPr>
          <p:cNvPicPr>
            <a:picLocks noChangeAspect="1"/>
          </p:cNvPicPr>
          <p:nvPr/>
        </p:nvPicPr>
        <p:blipFill>
          <a:blip r:embed="rId1"/>
          <a:stretch>
            <a:fillRect/>
          </a:stretch>
        </p:blipFill>
        <p:spPr>
          <a:xfrm>
            <a:off x="640080" y="1554480"/>
            <a:ext cx="548640" cy="548640"/>
          </a:xfrm>
          <a:prstGeom prst="rect">
            <a:avLst/>
          </a:prstGeom>
        </p:spPr>
      </p:pic>
      <p:sp>
        <p:nvSpPr>
          <p:cNvPr id="5" name="Text 2"/>
          <p:cNvSpPr txBox="1"/>
          <p:nvPr/>
        </p:nvSpPr>
        <p:spPr>
          <a:xfrm>
            <a:off x="1371600" y="1508760"/>
            <a:ext cx="4114800" cy="822960"/>
          </a:xfrm>
          <a:prstGeom prst="rect">
            <a:avLst/>
          </a:prstGeom>
          <a:noFill/>
          <a:ln/>
        </p:spPr>
        <p:txBody>
          <a:bodyPr wrap="square" lIns="0" tIns="0" rIns="0" bIns="0" rtlCol="0" anchor="t"/>
          <a:lstStyle/>
          <a:p>
            <a:pPr indent="0" marL="0">
              <a:buNone/>
            </a:pPr>
            <a:r>
              <a:rPr lang="en-US" sz="1700" b="1" dirty="0">
                <a:solidFill>
                  <a:srgbClr val="EEF3F5"/>
                </a:solidFill>
                <a:latin typeface="Calibri" pitchFamily="34" charset="0"/>
                <a:ea typeface="Calibri" pitchFamily="34" charset="-122"/>
                <a:cs typeface="Calibri" pitchFamily="34" charset="-120"/>
              </a:rPr>
              <a:t>7 days</a:t>
            </a:r>
            <a:endParaRPr lang="en-US" sz="1700" dirty="0"/>
          </a:p>
          <a:p>
            <a:pPr indent="0" marL="0">
              <a:buNone/>
            </a:pPr>
            <a:r>
              <a:rPr lang="en-US" sz="1400" dirty="0">
                <a:solidFill>
                  <a:srgbClr val="A7BAC4"/>
                </a:solidFill>
                <a:latin typeface="Calibri" pitchFamily="34" charset="0"/>
                <a:ea typeface="Calibri" pitchFamily="34" charset="-122"/>
                <a:cs typeface="Calibri" pitchFamily="34" charset="-120"/>
              </a:rPr>
              <a:t>timer on Receive documents → lapsed</a:t>
            </a:r>
            <a:endParaRPr lang="en-US" sz="1700" dirty="0"/>
          </a:p>
        </p:txBody>
      </p:sp>
      <p:pic>
        <p:nvPicPr>
          <p:cNvPr id="6" name="Image 1" descr="Bureau down event symbol">    </p:cNvPr>
          <p:cNvPicPr>
            <a:picLocks noChangeAspect="1"/>
          </p:cNvPicPr>
          <p:nvPr/>
        </p:nvPicPr>
        <p:blipFill>
          <a:blip r:embed="rId2"/>
          <a:stretch>
            <a:fillRect/>
          </a:stretch>
        </p:blipFill>
        <p:spPr>
          <a:xfrm>
            <a:off x="640080" y="2468880"/>
            <a:ext cx="548640" cy="548640"/>
          </a:xfrm>
          <a:prstGeom prst="rect">
            <a:avLst/>
          </a:prstGeom>
        </p:spPr>
      </p:pic>
      <p:sp>
        <p:nvSpPr>
          <p:cNvPr id="7" name="Text 3"/>
          <p:cNvSpPr txBox="1"/>
          <p:nvPr/>
        </p:nvSpPr>
        <p:spPr>
          <a:xfrm>
            <a:off x="1371600" y="2423160"/>
            <a:ext cx="4114800" cy="822960"/>
          </a:xfrm>
          <a:prstGeom prst="rect">
            <a:avLst/>
          </a:prstGeom>
          <a:noFill/>
          <a:ln/>
        </p:spPr>
        <p:txBody>
          <a:bodyPr wrap="square" lIns="0" tIns="0" rIns="0" bIns="0" rtlCol="0" anchor="t"/>
          <a:lstStyle/>
          <a:p>
            <a:pPr indent="0" marL="0">
              <a:buNone/>
            </a:pPr>
            <a:r>
              <a:rPr lang="en-US" sz="1700" b="1" dirty="0">
                <a:solidFill>
                  <a:srgbClr val="EEF3F5"/>
                </a:solidFill>
                <a:latin typeface="Calibri" pitchFamily="34" charset="0"/>
                <a:ea typeface="Calibri" pitchFamily="34" charset="-122"/>
                <a:cs typeface="Calibri" pitchFamily="34" charset="-120"/>
              </a:rPr>
              <a:t>Bureau down</a:t>
            </a:r>
            <a:endParaRPr lang="en-US" sz="1700" dirty="0"/>
          </a:p>
          <a:p>
            <a:pPr indent="0" marL="0">
              <a:buNone/>
            </a:pPr>
            <a:r>
              <a:rPr lang="en-US" sz="1400" dirty="0">
                <a:solidFill>
                  <a:srgbClr val="A7BAC4"/>
                </a:solidFill>
                <a:latin typeface="Calibri" pitchFamily="34" charset="0"/>
                <a:ea typeface="Calibri" pitchFamily="34" charset="-122"/>
                <a:cs typeface="Calibri" pitchFamily="34" charset="-120"/>
              </a:rPr>
              <a:t>error on Get credit score → backup bureau</a:t>
            </a:r>
            <a:endParaRPr lang="en-US" sz="1700" dirty="0"/>
          </a:p>
        </p:txBody>
      </p:sp>
      <p:pic>
        <p:nvPicPr>
          <p:cNvPr id="8" name="Image 2" descr="Payment failed event symbol">    </p:cNvPr>
          <p:cNvPicPr>
            <a:picLocks noChangeAspect="1"/>
          </p:cNvPicPr>
          <p:nvPr/>
        </p:nvPicPr>
        <p:blipFill>
          <a:blip r:embed="rId3"/>
          <a:stretch>
            <a:fillRect/>
          </a:stretch>
        </p:blipFill>
        <p:spPr>
          <a:xfrm>
            <a:off x="640080" y="3383280"/>
            <a:ext cx="548640" cy="548640"/>
          </a:xfrm>
          <a:prstGeom prst="rect">
            <a:avLst/>
          </a:prstGeom>
        </p:spPr>
      </p:pic>
      <p:sp>
        <p:nvSpPr>
          <p:cNvPr id="9" name="Text 4"/>
          <p:cNvSpPr txBox="1"/>
          <p:nvPr/>
        </p:nvSpPr>
        <p:spPr>
          <a:xfrm>
            <a:off x="1371600" y="3337560"/>
            <a:ext cx="4114800" cy="822960"/>
          </a:xfrm>
          <a:prstGeom prst="rect">
            <a:avLst/>
          </a:prstGeom>
          <a:noFill/>
          <a:ln/>
        </p:spPr>
        <p:txBody>
          <a:bodyPr wrap="square" lIns="0" tIns="0" rIns="0" bIns="0" rtlCol="0" anchor="t"/>
          <a:lstStyle/>
          <a:p>
            <a:pPr indent="0" marL="0">
              <a:buNone/>
            </a:pPr>
            <a:r>
              <a:rPr lang="en-US" sz="1700" b="1" dirty="0">
                <a:solidFill>
                  <a:srgbClr val="EEF3F5"/>
                </a:solidFill>
                <a:latin typeface="Calibri" pitchFamily="34" charset="0"/>
                <a:ea typeface="Calibri" pitchFamily="34" charset="-122"/>
                <a:cs typeface="Calibri" pitchFamily="34" charset="-120"/>
              </a:rPr>
              <a:t>Payment failed</a:t>
            </a:r>
            <a:endParaRPr lang="en-US" sz="1700" dirty="0"/>
          </a:p>
          <a:p>
            <a:pPr indent="0" marL="0">
              <a:buNone/>
            </a:pPr>
            <a:r>
              <a:rPr lang="en-US" sz="1400" dirty="0">
                <a:solidFill>
                  <a:srgbClr val="A7BAC4"/>
                </a:solidFill>
                <a:latin typeface="Calibri" pitchFamily="34" charset="0"/>
                <a:ea typeface="Calibri" pitchFamily="34" charset="-122"/>
                <a:cs typeface="Calibri" pitchFamily="34" charset="-120"/>
              </a:rPr>
              <a:t>error on Disburse funds → fix and retry</a:t>
            </a:r>
            <a:endParaRPr lang="en-US" sz="1700" dirty="0"/>
          </a:p>
        </p:txBody>
      </p:sp>
      <p:pic>
        <p:nvPicPr>
          <p:cNvPr id="10" name="Image 3" descr="Signed / Offer declined event symbol">    </p:cNvPr>
          <p:cNvPicPr>
            <a:picLocks noChangeAspect="1"/>
          </p:cNvPicPr>
          <p:nvPr/>
        </p:nvPicPr>
        <p:blipFill>
          <a:blip r:embed="rId4"/>
          <a:stretch>
            <a:fillRect/>
          </a:stretch>
        </p:blipFill>
        <p:spPr>
          <a:xfrm>
            <a:off x="640080" y="4297680"/>
            <a:ext cx="548640" cy="548640"/>
          </a:xfrm>
          <a:prstGeom prst="rect">
            <a:avLst/>
          </a:prstGeom>
        </p:spPr>
      </p:pic>
      <p:sp>
        <p:nvSpPr>
          <p:cNvPr id="11" name="Text 5"/>
          <p:cNvSpPr txBox="1"/>
          <p:nvPr/>
        </p:nvSpPr>
        <p:spPr>
          <a:xfrm>
            <a:off x="1371600" y="4251960"/>
            <a:ext cx="4114800" cy="822960"/>
          </a:xfrm>
          <a:prstGeom prst="rect">
            <a:avLst/>
          </a:prstGeom>
          <a:noFill/>
          <a:ln/>
        </p:spPr>
        <p:txBody>
          <a:bodyPr wrap="square" lIns="0" tIns="0" rIns="0" bIns="0" rtlCol="0" anchor="t"/>
          <a:lstStyle/>
          <a:p>
            <a:pPr indent="0" marL="0">
              <a:buNone/>
            </a:pPr>
            <a:r>
              <a:rPr lang="en-US" sz="1700" b="1" dirty="0">
                <a:solidFill>
                  <a:srgbClr val="EEF3F5"/>
                </a:solidFill>
                <a:latin typeface="Calibri" pitchFamily="34" charset="0"/>
                <a:ea typeface="Calibri" pitchFamily="34" charset="-122"/>
                <a:cs typeface="Calibri" pitchFamily="34" charset="-120"/>
              </a:rPr>
              <a:t>Signed / Offer declined</a:t>
            </a:r>
            <a:endParaRPr lang="en-US" sz="1700" dirty="0"/>
          </a:p>
          <a:p>
            <a:pPr indent="0" marL="0">
              <a:buNone/>
            </a:pPr>
            <a:r>
              <a:rPr lang="en-US" sz="1400" dirty="0">
                <a:solidFill>
                  <a:srgbClr val="A7BAC4"/>
                </a:solidFill>
                <a:latin typeface="Calibri" pitchFamily="34" charset="0"/>
                <a:ea typeface="Calibri" pitchFamily="34" charset="-122"/>
                <a:cs typeface="Calibri" pitchFamily="34" charset="-120"/>
              </a:rPr>
              <a:t>message catches after the offer</a:t>
            </a:r>
            <a:endParaRPr lang="en-US" sz="1700" dirty="0"/>
          </a:p>
        </p:txBody>
      </p:sp>
      <p:pic>
        <p:nvPicPr>
          <p:cNvPr id="12" name="Image 4" descr="15 days event symbol">    </p:cNvPr>
          <p:cNvPicPr>
            <a:picLocks noChangeAspect="1"/>
          </p:cNvPicPr>
          <p:nvPr/>
        </p:nvPicPr>
        <p:blipFill>
          <a:blip r:embed="rId5"/>
          <a:stretch>
            <a:fillRect/>
          </a:stretch>
        </p:blipFill>
        <p:spPr>
          <a:xfrm>
            <a:off x="640080" y="5212080"/>
            <a:ext cx="548640" cy="548640"/>
          </a:xfrm>
          <a:prstGeom prst="rect">
            <a:avLst/>
          </a:prstGeom>
        </p:spPr>
      </p:pic>
      <p:sp>
        <p:nvSpPr>
          <p:cNvPr id="13" name="Text 6"/>
          <p:cNvSpPr txBox="1"/>
          <p:nvPr/>
        </p:nvSpPr>
        <p:spPr>
          <a:xfrm>
            <a:off x="1371600" y="5166360"/>
            <a:ext cx="4114800" cy="822960"/>
          </a:xfrm>
          <a:prstGeom prst="rect">
            <a:avLst/>
          </a:prstGeom>
          <a:noFill/>
          <a:ln/>
        </p:spPr>
        <p:txBody>
          <a:bodyPr wrap="square" lIns="0" tIns="0" rIns="0" bIns="0" rtlCol="0" anchor="t"/>
          <a:lstStyle/>
          <a:p>
            <a:pPr indent="0" marL="0">
              <a:buNone/>
            </a:pPr>
            <a:r>
              <a:rPr lang="en-US" sz="1700" b="1" dirty="0">
                <a:solidFill>
                  <a:srgbClr val="EEF3F5"/>
                </a:solidFill>
                <a:latin typeface="Calibri" pitchFamily="34" charset="0"/>
                <a:ea typeface="Calibri" pitchFamily="34" charset="-122"/>
                <a:cs typeface="Calibri" pitchFamily="34" charset="-120"/>
              </a:rPr>
              <a:t>15 days</a:t>
            </a:r>
            <a:endParaRPr lang="en-US" sz="1700" dirty="0"/>
          </a:p>
          <a:p>
            <a:pPr indent="0" marL="0">
              <a:buNone/>
            </a:pPr>
            <a:r>
              <a:rPr lang="en-US" sz="1400" dirty="0">
                <a:solidFill>
                  <a:srgbClr val="A7BAC4"/>
                </a:solidFill>
                <a:latin typeface="Calibri" pitchFamily="34" charset="0"/>
                <a:ea typeface="Calibri" pitchFamily="34" charset="-122"/>
                <a:cs typeface="Calibri" pitchFamily="34" charset="-120"/>
              </a:rPr>
              <a:t>timer catch → offer expired</a:t>
            </a:r>
            <a:endParaRPr lang="en-US" sz="1700" dirty="0"/>
          </a:p>
        </p:txBody>
      </p:sp>
      <p:sp>
        <p:nvSpPr>
          <p:cNvPr id="14" name="Shape 7"/>
          <p:cNvSpPr/>
          <p:nvPr/>
        </p:nvSpPr>
        <p:spPr>
          <a:xfrm>
            <a:off x="5852160" y="1463040"/>
            <a:ext cx="5669280" cy="2286000"/>
          </a:xfrm>
          <a:prstGeom prst="roundRect">
            <a:avLst>
              <a:gd name="adj" fmla="val 4000"/>
            </a:avLst>
          </a:prstGeom>
          <a:solidFill>
            <a:srgbClr val="FFFFFF"/>
          </a:solidFill>
          <a:ln w="12700">
            <a:solidFill>
              <a:srgbClr val="FFFFFF"/>
            </a:solidFill>
            <a:prstDash val="solid"/>
          </a:ln>
          <a:effectLst>
            <a:outerShdw sx="100000" sy="100000" kx="0" ky="0" algn="bl" rotWithShape="0" blurRad="101600" dist="25400" dir="5400000">
              <a:srgbClr val="000000">
                <a:alpha val="35000"/>
              </a:srgbClr>
            </a:outerShdw>
          </a:effectLst>
        </p:spPr>
      </p:sp>
      <p:pic>
        <p:nvPicPr>
          <p:cNvPr id="15" name="Image 5" descr="Diagram crop: disbursement with error boundary and retry">    </p:cNvPr>
          <p:cNvPicPr>
            <a:picLocks noChangeAspect="1"/>
          </p:cNvPicPr>
          <p:nvPr/>
        </p:nvPicPr>
        <p:blipFill>
          <a:blip r:embed="rId6"/>
          <a:stretch>
            <a:fillRect/>
          </a:stretch>
        </p:blipFill>
        <p:spPr>
          <a:xfrm>
            <a:off x="6472196" y="1572768"/>
            <a:ext cx="4429209" cy="2066544"/>
          </a:xfrm>
          <a:prstGeom prst="rect">
            <a:avLst/>
          </a:prstGeom>
        </p:spPr>
      </p:pic>
      <p:sp>
        <p:nvSpPr>
          <p:cNvPr id="16" name="Shape 8"/>
          <p:cNvSpPr/>
          <p:nvPr/>
        </p:nvSpPr>
        <p:spPr>
          <a:xfrm>
            <a:off x="5852160" y="3977640"/>
            <a:ext cx="5669280" cy="2286000"/>
          </a:xfrm>
          <a:prstGeom prst="roundRect">
            <a:avLst>
              <a:gd name="adj" fmla="val 4000"/>
            </a:avLst>
          </a:prstGeom>
          <a:solidFill>
            <a:srgbClr val="FFFFFF"/>
          </a:solidFill>
          <a:ln w="12700">
            <a:solidFill>
              <a:srgbClr val="FFFFFF"/>
            </a:solidFill>
            <a:prstDash val="solid"/>
          </a:ln>
          <a:effectLst>
            <a:outerShdw sx="100000" sy="100000" kx="0" ky="0" algn="bl" rotWithShape="0" blurRad="101600" dist="25400" dir="5400000">
              <a:srgbClr val="000000">
                <a:alpha val="35000"/>
              </a:srgbClr>
            </a:outerShdw>
          </a:effectLst>
        </p:spPr>
      </p:sp>
      <p:pic>
        <p:nvPicPr>
          <p:cNvPr id="17" name="Image 6" descr="Diagram crop: document request with 7-day timer">    </p:cNvPr>
          <p:cNvPicPr>
            <a:picLocks noChangeAspect="1"/>
          </p:cNvPicPr>
          <p:nvPr/>
        </p:nvPicPr>
        <p:blipFill>
          <a:blip r:embed="rId7"/>
          <a:stretch>
            <a:fillRect/>
          </a:stretch>
        </p:blipFill>
        <p:spPr>
          <a:xfrm>
            <a:off x="6977436" y="4087368"/>
            <a:ext cx="3418727" cy="2066544"/>
          </a:xfrm>
          <a:prstGeom prst="rect">
            <a:avLst/>
          </a:prstGeom>
        </p:spPr>
      </p:pic>
      <p:sp>
        <p:nvSpPr>
          <p:cNvPr id="25" name="Slide Number Placeholder 0"/>
          <p:cNvSpPr>
            <a:spLocks noGrp="1"/>
          </p:cNvSpPr>
          <p:nvPr>
            <p:ph type="sldNum" sz="quarter" idx="4294967295"/>
          </p:nvPr>
        </p:nvSpPr>
        <p:spPr>
          <a:xfrm>
            <a:off x="11247120"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7BAC4"/>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548640"/>
            <a:ext cx="594360" cy="502920"/>
          </a:xfrm>
          <a:prstGeom prst="roundRect">
            <a:avLst>
              <a:gd name="adj" fmla="val 21818"/>
            </a:avLst>
          </a:prstGeom>
          <a:solidFill>
            <a:srgbClr val="4FD1C5"/>
          </a:solidFill>
          <a:ln>
            <a:solidFill>
              <a:srgbClr val="4FD1C5"/>
            </a:solidFill>
          </a:ln>
        </p:spPr>
        <p:txBody>
          <a:bodyPr wrap="square" lIns="0" tIns="0" rIns="0" bIns="0" rtlCol="0" anchor="ctr"/>
          <a:lstStyle/>
          <a:p>
            <a:pPr algn="ctr" indent="0" marL="0">
              <a:buNone/>
            </a:pPr>
            <a:r>
              <a:rPr lang="en-US" sz="1600" b="1" dirty="0">
                <a:solidFill>
                  <a:srgbClr val="14222A"/>
                </a:solidFill>
                <a:latin typeface="Calibri" pitchFamily="34" charset="0"/>
                <a:ea typeface="Calibri" pitchFamily="34" charset="-122"/>
                <a:cs typeface="Calibri" pitchFamily="34" charset="-120"/>
              </a:rPr>
              <a:t>08</a:t>
            </a:r>
            <a:endParaRPr lang="en-US" sz="1600" dirty="0"/>
          </a:p>
        </p:txBody>
      </p:sp>
      <p:sp>
        <p:nvSpPr>
          <p:cNvPr id="3" name="Text 0"/>
          <p:cNvSpPr/>
          <p:nvPr>
            <p:ph idx="100" type="title" hasCustomPrompt="1"/>
          </p:nvPr>
        </p:nvSpPr>
        <p:spPr>
          <a:xfrm>
            <a:off x="1417320" y="457200"/>
            <a:ext cx="9601200" cy="685800"/>
          </a:xfrm>
          <a:prstGeom prst="rect">
            <a:avLst/>
          </a:prstGeom>
          <a:noFill/>
          <a:ln/>
        </p:spPr>
        <p:txBody>
          <a:bodyPr wrap="square" lIns="0" tIns="0" rIns="0" bIns="0" rtlCol="0" anchor="ctr"/>
          <a:lstStyle/>
          <a:p>
            <a:pPr algn="l" indent="0" marL="0">
              <a:buNone/>
            </a:pPr>
            <a:r>
              <a:rPr lang="en-US" sz="3000" b="1" dirty="0">
                <a:solidFill>
                  <a:srgbClr val="EEF3F5"/>
                </a:solidFill>
                <a:latin typeface="Cambria" pitchFamily="34" charset="0"/>
                <a:ea typeface="Cambria" pitchFamily="34" charset="-122"/>
                <a:cs typeface="Cambria" pitchFamily="34" charset="-120"/>
              </a:rPr>
              <a:t>Critical path</a:t>
            </a:r>
            <a:endParaRPr lang="en-US" sz="3000" dirty="0"/>
          </a:p>
        </p:txBody>
      </p:sp>
      <p:pic>
        <p:nvPicPr>
          <p:cNvPr id="4" name="Image 0" descr="Start event">    </p:cNvPr>
          <p:cNvPicPr>
            <a:picLocks noChangeAspect="1"/>
          </p:cNvPicPr>
          <p:nvPr/>
        </p:nvPicPr>
        <p:blipFill>
          <a:blip r:embed="rId1"/>
          <a:stretch>
            <a:fillRect/>
          </a:stretch>
        </p:blipFill>
        <p:spPr>
          <a:xfrm>
            <a:off x="685800" y="2286000"/>
            <a:ext cx="640080" cy="640080"/>
          </a:xfrm>
          <a:prstGeom prst="rect">
            <a:avLst/>
          </a:prstGeom>
        </p:spPr>
      </p:pic>
      <p:sp>
        <p:nvSpPr>
          <p:cNvPr id="5" name="Text 2"/>
          <p:cNvSpPr txBox="1"/>
          <p:nvPr/>
        </p:nvSpPr>
        <p:spPr>
          <a:xfrm>
            <a:off x="320040" y="1554480"/>
            <a:ext cx="1371600" cy="640080"/>
          </a:xfrm>
          <a:prstGeom prst="rect">
            <a:avLst/>
          </a:prstGeom>
          <a:noFill/>
          <a:ln/>
        </p:spPr>
        <p:txBody>
          <a:bodyPr wrap="square" lIns="0" tIns="0" rIns="0" bIns="0" rtlCol="0" anchor="b"/>
          <a:lstStyle/>
          <a:p>
            <a:pPr algn="ctr" indent="0" marL="0">
              <a:buNone/>
            </a:pPr>
            <a:r>
              <a:rPr lang="en-US" sz="1300" dirty="0">
                <a:solidFill>
                  <a:srgbClr val="A7BAC4"/>
                </a:solidFill>
                <a:latin typeface="Calibri" pitchFamily="34" charset="0"/>
                <a:ea typeface="Calibri" pitchFamily="34" charset="-122"/>
                <a:cs typeface="Calibri" pitchFamily="34" charset="-120"/>
              </a:rPr>
              <a:t>Application received</a:t>
            </a:r>
            <a:endParaRPr lang="en-US" sz="1300" dirty="0"/>
          </a:p>
        </p:txBody>
      </p:sp>
      <p:sp>
        <p:nvSpPr>
          <p:cNvPr id="6" name="Shape 3"/>
          <p:cNvSpPr/>
          <p:nvPr/>
        </p:nvSpPr>
        <p:spPr>
          <a:xfrm>
            <a:off x="1371600" y="2606040"/>
            <a:ext cx="8869680" cy="0"/>
          </a:xfrm>
          <a:prstGeom prst="line">
            <a:avLst/>
          </a:prstGeom>
          <a:noFill/>
          <a:ln w="25400">
            <a:solidFill>
              <a:srgbClr val="35566A"/>
            </a:solidFill>
            <a:prstDash val="solid"/>
          </a:ln>
        </p:spPr>
      </p:sp>
      <p:sp>
        <p:nvSpPr>
          <p:cNvPr id="7" name="Text 4"/>
          <p:cNvSpPr/>
          <p:nvPr/>
        </p:nvSpPr>
        <p:spPr>
          <a:xfrm>
            <a:off x="2377440" y="2331720"/>
            <a:ext cx="548640" cy="548640"/>
          </a:xfrm>
          <a:prstGeom prst="ellipse">
            <a:avLst/>
          </a:prstGeom>
          <a:solidFill>
            <a:srgbClr val="4FD1C5"/>
          </a:solidFill>
          <a:ln>
            <a:solidFill>
              <a:srgbClr val="4FD1C5"/>
            </a:solidFill>
          </a:ln>
        </p:spPr>
        <p:txBody>
          <a:bodyPr wrap="square" lIns="0" tIns="0" rIns="0" bIns="0" rtlCol="0" anchor="ctr"/>
          <a:lstStyle/>
          <a:p>
            <a:pPr algn="ctr" indent="0" marL="0">
              <a:buNone/>
            </a:pPr>
            <a:r>
              <a:rPr lang="en-US" sz="1600" b="1" dirty="0">
                <a:solidFill>
                  <a:srgbClr val="14222A"/>
                </a:solidFill>
                <a:latin typeface="Calibri" pitchFamily="34" charset="0"/>
                <a:ea typeface="Calibri" pitchFamily="34" charset="-122"/>
                <a:cs typeface="Calibri" pitchFamily="34" charset="-120"/>
              </a:rPr>
              <a:t>1</a:t>
            </a:r>
            <a:endParaRPr lang="en-US" sz="1600" dirty="0"/>
          </a:p>
        </p:txBody>
      </p:sp>
      <p:sp>
        <p:nvSpPr>
          <p:cNvPr id="8" name="Text 5"/>
          <p:cNvSpPr txBox="1"/>
          <p:nvPr/>
        </p:nvSpPr>
        <p:spPr>
          <a:xfrm>
            <a:off x="1920240" y="3063240"/>
            <a:ext cx="1463040" cy="731520"/>
          </a:xfrm>
          <a:prstGeom prst="rect">
            <a:avLst/>
          </a:prstGeom>
          <a:noFill/>
          <a:ln/>
        </p:spPr>
        <p:txBody>
          <a:bodyPr wrap="square" lIns="0" tIns="0" rIns="0" bIns="0" rtlCol="0" anchor="t"/>
          <a:lstStyle/>
          <a:p>
            <a:pPr algn="ctr" indent="0" marL="0">
              <a:buNone/>
            </a:pPr>
            <a:r>
              <a:rPr lang="en-US" sz="1500" b="1" dirty="0">
                <a:solidFill>
                  <a:srgbClr val="EEF3F5"/>
                </a:solidFill>
                <a:latin typeface="Calibri" pitchFamily="34" charset="0"/>
                <a:ea typeface="Calibri" pitchFamily="34" charset="-122"/>
                <a:cs typeface="Calibri" pitchFamily="34" charset="-120"/>
              </a:rPr>
              <a:t>Check eligibility</a:t>
            </a:r>
            <a:endParaRPr lang="en-US" sz="1500" dirty="0"/>
          </a:p>
        </p:txBody>
      </p:sp>
      <p:sp>
        <p:nvSpPr>
          <p:cNvPr id="9" name="Text 6"/>
          <p:cNvSpPr/>
          <p:nvPr/>
        </p:nvSpPr>
        <p:spPr>
          <a:xfrm>
            <a:off x="4069080" y="2331720"/>
            <a:ext cx="548640" cy="548640"/>
          </a:xfrm>
          <a:prstGeom prst="ellipse">
            <a:avLst/>
          </a:prstGeom>
          <a:solidFill>
            <a:srgbClr val="4FD1C5"/>
          </a:solidFill>
          <a:ln>
            <a:solidFill>
              <a:srgbClr val="4FD1C5"/>
            </a:solidFill>
          </a:ln>
        </p:spPr>
        <p:txBody>
          <a:bodyPr wrap="square" lIns="0" tIns="0" rIns="0" bIns="0" rtlCol="0" anchor="ctr"/>
          <a:lstStyle/>
          <a:p>
            <a:pPr algn="ctr" indent="0" marL="0">
              <a:buNone/>
            </a:pPr>
            <a:r>
              <a:rPr lang="en-US" sz="1600" b="1" dirty="0">
                <a:solidFill>
                  <a:srgbClr val="14222A"/>
                </a:solidFill>
                <a:latin typeface="Calibri" pitchFamily="34" charset="0"/>
                <a:ea typeface="Calibri" pitchFamily="34" charset="-122"/>
                <a:cs typeface="Calibri" pitchFamily="34" charset="-120"/>
              </a:rPr>
              <a:t>2</a:t>
            </a:r>
            <a:endParaRPr lang="en-US" sz="1600" dirty="0"/>
          </a:p>
        </p:txBody>
      </p:sp>
      <p:sp>
        <p:nvSpPr>
          <p:cNvPr id="10" name="Text 7"/>
          <p:cNvSpPr txBox="1"/>
          <p:nvPr/>
        </p:nvSpPr>
        <p:spPr>
          <a:xfrm>
            <a:off x="3611880" y="3063240"/>
            <a:ext cx="1463040" cy="731520"/>
          </a:xfrm>
          <a:prstGeom prst="rect">
            <a:avLst/>
          </a:prstGeom>
          <a:noFill/>
          <a:ln/>
        </p:spPr>
        <p:txBody>
          <a:bodyPr wrap="square" lIns="0" tIns="0" rIns="0" bIns="0" rtlCol="0" anchor="t"/>
          <a:lstStyle/>
          <a:p>
            <a:pPr algn="ctr" indent="0" marL="0">
              <a:buNone/>
            </a:pPr>
            <a:r>
              <a:rPr lang="en-US" sz="1500" b="1" dirty="0">
                <a:solidFill>
                  <a:srgbClr val="EEF3F5"/>
                </a:solidFill>
                <a:latin typeface="Calibri" pitchFamily="34" charset="0"/>
                <a:ea typeface="Calibri" pitchFamily="34" charset="-122"/>
                <a:cs typeface="Calibri" pitchFamily="34" charset="-120"/>
              </a:rPr>
              <a:t>Credit · KYC · AML</a:t>
            </a:r>
            <a:endParaRPr lang="en-US" sz="1500" dirty="0"/>
          </a:p>
        </p:txBody>
      </p:sp>
      <p:sp>
        <p:nvSpPr>
          <p:cNvPr id="11" name="Text 8"/>
          <p:cNvSpPr/>
          <p:nvPr/>
        </p:nvSpPr>
        <p:spPr>
          <a:xfrm>
            <a:off x="5760720" y="2331720"/>
            <a:ext cx="548640" cy="548640"/>
          </a:xfrm>
          <a:prstGeom prst="ellipse">
            <a:avLst/>
          </a:prstGeom>
          <a:solidFill>
            <a:srgbClr val="4FD1C5"/>
          </a:solidFill>
          <a:ln>
            <a:solidFill>
              <a:srgbClr val="4FD1C5"/>
            </a:solidFill>
          </a:ln>
        </p:spPr>
        <p:txBody>
          <a:bodyPr wrap="square" lIns="0" tIns="0" rIns="0" bIns="0" rtlCol="0" anchor="ctr"/>
          <a:lstStyle/>
          <a:p>
            <a:pPr algn="ctr" indent="0" marL="0">
              <a:buNone/>
            </a:pPr>
            <a:r>
              <a:rPr lang="en-US" sz="1600" b="1" dirty="0">
                <a:solidFill>
                  <a:srgbClr val="14222A"/>
                </a:solidFill>
                <a:latin typeface="Calibri" pitchFamily="34" charset="0"/>
                <a:ea typeface="Calibri" pitchFamily="34" charset="-122"/>
                <a:cs typeface="Calibri" pitchFamily="34" charset="-120"/>
              </a:rPr>
              <a:t>3</a:t>
            </a:r>
            <a:endParaRPr lang="en-US" sz="1600" dirty="0"/>
          </a:p>
        </p:txBody>
      </p:sp>
      <p:sp>
        <p:nvSpPr>
          <p:cNvPr id="12" name="Text 9"/>
          <p:cNvSpPr txBox="1"/>
          <p:nvPr/>
        </p:nvSpPr>
        <p:spPr>
          <a:xfrm>
            <a:off x="5303520" y="3063240"/>
            <a:ext cx="1463040" cy="731520"/>
          </a:xfrm>
          <a:prstGeom prst="rect">
            <a:avLst/>
          </a:prstGeom>
          <a:noFill/>
          <a:ln/>
        </p:spPr>
        <p:txBody>
          <a:bodyPr wrap="square" lIns="0" tIns="0" rIns="0" bIns="0" rtlCol="0" anchor="t"/>
          <a:lstStyle/>
          <a:p>
            <a:pPr algn="ctr" indent="0" marL="0">
              <a:buNone/>
            </a:pPr>
            <a:r>
              <a:rPr lang="en-US" sz="1500" b="1" dirty="0">
                <a:solidFill>
                  <a:srgbClr val="EEF3F5"/>
                </a:solidFill>
                <a:latin typeface="Calibri" pitchFamily="34" charset="0"/>
                <a:ea typeface="Calibri" pitchFamily="34" charset="-122"/>
                <a:cs typeface="Calibri" pitchFamily="34" charset="-120"/>
              </a:rPr>
              <a:t>Underwrite</a:t>
            </a:r>
            <a:endParaRPr lang="en-US" sz="1500" dirty="0"/>
          </a:p>
        </p:txBody>
      </p:sp>
      <p:sp>
        <p:nvSpPr>
          <p:cNvPr id="13" name="Text 10"/>
          <p:cNvSpPr/>
          <p:nvPr/>
        </p:nvSpPr>
        <p:spPr>
          <a:xfrm>
            <a:off x="7452360" y="2331720"/>
            <a:ext cx="548640" cy="548640"/>
          </a:xfrm>
          <a:prstGeom prst="ellipse">
            <a:avLst/>
          </a:prstGeom>
          <a:solidFill>
            <a:srgbClr val="4FD1C5"/>
          </a:solidFill>
          <a:ln>
            <a:solidFill>
              <a:srgbClr val="4FD1C5"/>
            </a:solidFill>
          </a:ln>
        </p:spPr>
        <p:txBody>
          <a:bodyPr wrap="square" lIns="0" tIns="0" rIns="0" bIns="0" rtlCol="0" anchor="ctr"/>
          <a:lstStyle/>
          <a:p>
            <a:pPr algn="ctr" indent="0" marL="0">
              <a:buNone/>
            </a:pPr>
            <a:r>
              <a:rPr lang="en-US" sz="1600" b="1" dirty="0">
                <a:solidFill>
                  <a:srgbClr val="14222A"/>
                </a:solidFill>
                <a:latin typeface="Calibri" pitchFamily="34" charset="0"/>
                <a:ea typeface="Calibri" pitchFamily="34" charset="-122"/>
                <a:cs typeface="Calibri" pitchFamily="34" charset="-120"/>
              </a:rPr>
              <a:t>4</a:t>
            </a:r>
            <a:endParaRPr lang="en-US" sz="1600" dirty="0"/>
          </a:p>
        </p:txBody>
      </p:sp>
      <p:sp>
        <p:nvSpPr>
          <p:cNvPr id="14" name="Text 11"/>
          <p:cNvSpPr txBox="1"/>
          <p:nvPr/>
        </p:nvSpPr>
        <p:spPr>
          <a:xfrm>
            <a:off x="6995160" y="3063240"/>
            <a:ext cx="1463040" cy="731520"/>
          </a:xfrm>
          <a:prstGeom prst="rect">
            <a:avLst/>
          </a:prstGeom>
          <a:noFill/>
          <a:ln/>
        </p:spPr>
        <p:txBody>
          <a:bodyPr wrap="square" lIns="0" tIns="0" rIns="0" bIns="0" rtlCol="0" anchor="t"/>
          <a:lstStyle/>
          <a:p>
            <a:pPr algn="ctr" indent="0" marL="0">
              <a:buNone/>
            </a:pPr>
            <a:r>
              <a:rPr lang="en-US" sz="1500" b="1" dirty="0">
                <a:solidFill>
                  <a:srgbClr val="EEF3F5"/>
                </a:solidFill>
                <a:latin typeface="Calibri" pitchFamily="34" charset="0"/>
                <a:ea typeface="Calibri" pitchFamily="34" charset="-122"/>
                <a:cs typeface="Calibri" pitchFamily="34" charset="-120"/>
              </a:rPr>
              <a:t>Offer signed</a:t>
            </a:r>
            <a:endParaRPr lang="en-US" sz="1500" dirty="0"/>
          </a:p>
        </p:txBody>
      </p:sp>
      <p:sp>
        <p:nvSpPr>
          <p:cNvPr id="15" name="Text 12"/>
          <p:cNvSpPr/>
          <p:nvPr/>
        </p:nvSpPr>
        <p:spPr>
          <a:xfrm>
            <a:off x="9144000" y="2331720"/>
            <a:ext cx="548640" cy="548640"/>
          </a:xfrm>
          <a:prstGeom prst="ellipse">
            <a:avLst/>
          </a:prstGeom>
          <a:solidFill>
            <a:srgbClr val="4FD1C5"/>
          </a:solidFill>
          <a:ln>
            <a:solidFill>
              <a:srgbClr val="4FD1C5"/>
            </a:solidFill>
          </a:ln>
        </p:spPr>
        <p:txBody>
          <a:bodyPr wrap="square" lIns="0" tIns="0" rIns="0" bIns="0" rtlCol="0" anchor="ctr"/>
          <a:lstStyle/>
          <a:p>
            <a:pPr algn="ctr" indent="0" marL="0">
              <a:buNone/>
            </a:pPr>
            <a:r>
              <a:rPr lang="en-US" sz="1600" b="1" dirty="0">
                <a:solidFill>
                  <a:srgbClr val="14222A"/>
                </a:solidFill>
                <a:latin typeface="Calibri" pitchFamily="34" charset="0"/>
                <a:ea typeface="Calibri" pitchFamily="34" charset="-122"/>
                <a:cs typeface="Calibri" pitchFamily="34" charset="-120"/>
              </a:rPr>
              <a:t>5</a:t>
            </a:r>
            <a:endParaRPr lang="en-US" sz="1600" dirty="0"/>
          </a:p>
        </p:txBody>
      </p:sp>
      <p:sp>
        <p:nvSpPr>
          <p:cNvPr id="16" name="Text 13"/>
          <p:cNvSpPr txBox="1"/>
          <p:nvPr/>
        </p:nvSpPr>
        <p:spPr>
          <a:xfrm>
            <a:off x="8686800" y="3063240"/>
            <a:ext cx="1463040" cy="731520"/>
          </a:xfrm>
          <a:prstGeom prst="rect">
            <a:avLst/>
          </a:prstGeom>
          <a:noFill/>
          <a:ln/>
        </p:spPr>
        <p:txBody>
          <a:bodyPr wrap="square" lIns="0" tIns="0" rIns="0" bIns="0" rtlCol="0" anchor="t"/>
          <a:lstStyle/>
          <a:p>
            <a:pPr algn="ctr" indent="0" marL="0">
              <a:buNone/>
            </a:pPr>
            <a:r>
              <a:rPr lang="en-US" sz="1500" b="1" dirty="0">
                <a:solidFill>
                  <a:srgbClr val="EEF3F5"/>
                </a:solidFill>
                <a:latin typeface="Calibri" pitchFamily="34" charset="0"/>
                <a:ea typeface="Calibri" pitchFamily="34" charset="-122"/>
                <a:cs typeface="Calibri" pitchFamily="34" charset="-120"/>
              </a:rPr>
              <a:t>Disburse funds</a:t>
            </a:r>
            <a:endParaRPr lang="en-US" sz="1500" dirty="0"/>
          </a:p>
        </p:txBody>
      </p:sp>
      <p:pic>
        <p:nvPicPr>
          <p:cNvPr id="17" name="Image 1" descr="End event">    </p:cNvPr>
          <p:cNvPicPr>
            <a:picLocks noChangeAspect="1"/>
          </p:cNvPicPr>
          <p:nvPr/>
        </p:nvPicPr>
        <p:blipFill>
          <a:blip r:embed="rId2"/>
          <a:stretch>
            <a:fillRect/>
          </a:stretch>
        </p:blipFill>
        <p:spPr>
          <a:xfrm>
            <a:off x="10241280" y="2286000"/>
            <a:ext cx="640080" cy="640080"/>
          </a:xfrm>
          <a:prstGeom prst="rect">
            <a:avLst/>
          </a:prstGeom>
        </p:spPr>
      </p:pic>
      <p:sp>
        <p:nvSpPr>
          <p:cNvPr id="18" name="Text 14"/>
          <p:cNvSpPr txBox="1"/>
          <p:nvPr/>
        </p:nvSpPr>
        <p:spPr>
          <a:xfrm>
            <a:off x="9921240" y="1554480"/>
            <a:ext cx="1280160" cy="640080"/>
          </a:xfrm>
          <a:prstGeom prst="rect">
            <a:avLst/>
          </a:prstGeom>
          <a:noFill/>
          <a:ln/>
        </p:spPr>
        <p:txBody>
          <a:bodyPr wrap="square" lIns="0" tIns="0" rIns="0" bIns="0" rtlCol="0" anchor="b"/>
          <a:lstStyle/>
          <a:p>
            <a:pPr algn="ctr" indent="0" marL="0">
              <a:buNone/>
            </a:pPr>
            <a:r>
              <a:rPr lang="en-US" sz="1300" dirty="0">
                <a:solidFill>
                  <a:srgbClr val="A7BAC4"/>
                </a:solidFill>
                <a:latin typeface="Calibri" pitchFamily="34" charset="0"/>
                <a:ea typeface="Calibri" pitchFamily="34" charset="-122"/>
                <a:cs typeface="Calibri" pitchFamily="34" charset="-120"/>
              </a:rPr>
              <a:t>Loan disbursed</a:t>
            </a:r>
            <a:endParaRPr lang="en-US" sz="1300" dirty="0"/>
          </a:p>
        </p:txBody>
      </p:sp>
      <p:sp>
        <p:nvSpPr>
          <p:cNvPr id="19" name="Shape 15"/>
          <p:cNvSpPr/>
          <p:nvPr/>
        </p:nvSpPr>
        <p:spPr>
          <a:xfrm>
            <a:off x="640080" y="4206240"/>
            <a:ext cx="10881360" cy="1554480"/>
          </a:xfrm>
          <a:prstGeom prst="roundRect">
            <a:avLst>
              <a:gd name="adj" fmla="val 7059"/>
            </a:avLst>
          </a:prstGeom>
          <a:solidFill>
            <a:srgbClr val="1E323C"/>
          </a:solidFill>
          <a:ln w="12700">
            <a:solidFill>
              <a:srgbClr val="1E323C"/>
            </a:solidFill>
            <a:prstDash val="solid"/>
          </a:ln>
        </p:spPr>
      </p:sp>
      <p:sp>
        <p:nvSpPr>
          <p:cNvPr id="20" name="Text 16"/>
          <p:cNvSpPr txBox="1"/>
          <p:nvPr/>
        </p:nvSpPr>
        <p:spPr>
          <a:xfrm>
            <a:off x="914400" y="4434840"/>
            <a:ext cx="10332720" cy="1097280"/>
          </a:xfrm>
          <a:prstGeom prst="rect">
            <a:avLst/>
          </a:prstGeom>
          <a:noFill/>
          <a:ln/>
        </p:spPr>
        <p:txBody>
          <a:bodyPr wrap="square" lIns="0" tIns="0" rIns="0" bIns="0" rtlCol="0" anchor="ctr"/>
          <a:lstStyle/>
          <a:p>
            <a:pPr indent="0" marL="0">
              <a:buNone/>
            </a:pPr>
            <a:r>
              <a:rPr lang="en-US" sz="1600" b="1" dirty="0">
                <a:solidFill>
                  <a:srgbClr val="EEF3F5"/>
                </a:solidFill>
                <a:latin typeface="Calibri" pitchFamily="34" charset="0"/>
                <a:ea typeface="Calibri" pitchFamily="34" charset="-122"/>
                <a:cs typeface="Calibri" pitchFamily="34" charset="-120"/>
              </a:rPr>
              <a:t>Every gateway takes its normal branch: </a:t>
            </a:r>
            <a:pPr indent="0" marL="0">
              <a:buNone/>
            </a:pPr>
            <a:r>
              <a:rPr lang="en-US" sz="1600" dirty="0">
                <a:solidFill>
                  <a:srgbClr val="A7BAC4"/>
                </a:solidFill>
                <a:latin typeface="Calibri" pitchFamily="34" charset="0"/>
                <a:ea typeface="Calibri" pitchFamily="34" charset="-122"/>
                <a:cs typeface="Calibri" pitchFamily="34" charset="-120"/>
              </a:rPr>
              <a:t>Eligible? = OK, Checks passed? = all clear, Approved? = yes, and the signed agreement arrives first.</a:t>
            </a:r>
            <a:endParaRPr lang="en-US" sz="1600" dirty="0"/>
          </a:p>
        </p:txBody>
      </p:sp>
      <p:sp>
        <p:nvSpPr>
          <p:cNvPr id="25" name="Slide Number Placeholder 0"/>
          <p:cNvSpPr>
            <a:spLocks noGrp="1"/>
          </p:cNvSpPr>
          <p:nvPr>
            <p:ph type="sldNum" sz="quarter" idx="4294967295"/>
          </p:nvPr>
        </p:nvSpPr>
        <p:spPr>
          <a:xfrm>
            <a:off x="11247120"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7BAC4"/>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548640"/>
            <a:ext cx="594360" cy="502920"/>
          </a:xfrm>
          <a:prstGeom prst="roundRect">
            <a:avLst>
              <a:gd name="adj" fmla="val 21818"/>
            </a:avLst>
          </a:prstGeom>
          <a:solidFill>
            <a:srgbClr val="4FD1C5"/>
          </a:solidFill>
          <a:ln>
            <a:solidFill>
              <a:srgbClr val="4FD1C5"/>
            </a:solidFill>
          </a:ln>
        </p:spPr>
        <p:txBody>
          <a:bodyPr wrap="square" lIns="0" tIns="0" rIns="0" bIns="0" rtlCol="0" anchor="ctr"/>
          <a:lstStyle/>
          <a:p>
            <a:pPr algn="ctr" indent="0" marL="0">
              <a:buNone/>
            </a:pPr>
            <a:r>
              <a:rPr lang="en-US" sz="1600" b="1" dirty="0">
                <a:solidFill>
                  <a:srgbClr val="14222A"/>
                </a:solidFill>
                <a:latin typeface="Calibri" pitchFamily="34" charset="0"/>
                <a:ea typeface="Calibri" pitchFamily="34" charset="-122"/>
                <a:cs typeface="Calibri" pitchFamily="34" charset="-120"/>
              </a:rPr>
              <a:t>09</a:t>
            </a:r>
            <a:endParaRPr lang="en-US" sz="1600" dirty="0"/>
          </a:p>
        </p:txBody>
      </p:sp>
      <p:sp>
        <p:nvSpPr>
          <p:cNvPr id="3" name="Text 0"/>
          <p:cNvSpPr/>
          <p:nvPr>
            <p:ph idx="100" type="title" hasCustomPrompt="1"/>
          </p:nvPr>
        </p:nvSpPr>
        <p:spPr>
          <a:xfrm>
            <a:off x="1417320" y="457200"/>
            <a:ext cx="9601200" cy="685800"/>
          </a:xfrm>
          <a:prstGeom prst="rect">
            <a:avLst/>
          </a:prstGeom>
          <a:noFill/>
          <a:ln/>
        </p:spPr>
        <p:txBody>
          <a:bodyPr wrap="square" lIns="0" tIns="0" rIns="0" bIns="0" rtlCol="0" anchor="ctr"/>
          <a:lstStyle/>
          <a:p>
            <a:pPr algn="l" indent="0" marL="0">
              <a:buNone/>
            </a:pPr>
            <a:r>
              <a:rPr lang="en-US" sz="3000" b="1" dirty="0">
                <a:solidFill>
                  <a:srgbClr val="EEF3F5"/>
                </a:solidFill>
                <a:latin typeface="Cambria" pitchFamily="34" charset="0"/>
                <a:ea typeface="Cambria" pitchFamily="34" charset="-122"/>
                <a:cs typeface="Cambria" pitchFamily="34" charset="-120"/>
              </a:rPr>
              <a:t>Alternate paths</a:t>
            </a:r>
            <a:endParaRPr lang="en-US" sz="3000" dirty="0"/>
          </a:p>
        </p:txBody>
      </p:sp>
      <p:sp>
        <p:nvSpPr>
          <p:cNvPr id="4" name="Shape 2"/>
          <p:cNvSpPr/>
          <p:nvPr/>
        </p:nvSpPr>
        <p:spPr>
          <a:xfrm>
            <a:off x="640080" y="1508760"/>
            <a:ext cx="2057400" cy="2011680"/>
          </a:xfrm>
          <a:prstGeom prst="roundRect">
            <a:avLst>
              <a:gd name="adj" fmla="val 5455"/>
            </a:avLst>
          </a:prstGeom>
          <a:solidFill>
            <a:srgbClr val="1E323C"/>
          </a:solidFill>
          <a:ln w="12700">
            <a:solidFill>
              <a:srgbClr val="1E323C"/>
            </a:solidFill>
            <a:prstDash val="solid"/>
          </a:ln>
        </p:spPr>
      </p:sp>
      <p:pic>
        <p:nvPicPr>
          <p:cNvPr id="5" name="Image 0" descr="C:\Users\vines\AppData\Local\Temp\claude\C--Users-vines-OneDrive-Documents-wfa-assesment\56031c87-33c5-4040-9294-6fdd52e10b61\scratchpad\pptx\icons\timer.png">    </p:cNvPr>
          <p:cNvPicPr>
            <a:picLocks noChangeAspect="1"/>
          </p:cNvPicPr>
          <p:nvPr/>
        </p:nvPicPr>
        <p:blipFill>
          <a:blip r:embed="rId1"/>
          <a:stretch>
            <a:fillRect/>
          </a:stretch>
        </p:blipFill>
        <p:spPr>
          <a:xfrm>
            <a:off x="822960" y="1691640"/>
            <a:ext cx="457200" cy="457200"/>
          </a:xfrm>
          <a:prstGeom prst="rect">
            <a:avLst/>
          </a:prstGeom>
        </p:spPr>
      </p:pic>
      <p:sp>
        <p:nvSpPr>
          <p:cNvPr id="6" name="Text 3"/>
          <p:cNvSpPr txBox="1"/>
          <p:nvPr/>
        </p:nvSpPr>
        <p:spPr>
          <a:xfrm>
            <a:off x="822960" y="2286000"/>
            <a:ext cx="1737360" cy="1143000"/>
          </a:xfrm>
          <a:prstGeom prst="rect">
            <a:avLst/>
          </a:prstGeom>
          <a:noFill/>
          <a:ln/>
        </p:spPr>
        <p:txBody>
          <a:bodyPr wrap="square" lIns="0" tIns="0" rIns="0" bIns="0" rtlCol="0" anchor="t"/>
          <a:lstStyle/>
          <a:p>
            <a:pPr indent="0" marL="0">
              <a:spcAft>
                <a:spcPts val="400"/>
              </a:spcAft>
              <a:buNone/>
            </a:pPr>
            <a:r>
              <a:rPr lang="en-US" sz="1600" b="1" dirty="0">
                <a:solidFill>
                  <a:srgbClr val="EEF3F5"/>
                </a:solidFill>
                <a:latin typeface="Calibri" pitchFamily="34" charset="0"/>
                <a:ea typeface="Calibri" pitchFamily="34" charset="-122"/>
                <a:cs typeface="Calibri" pitchFamily="34" charset="-120"/>
              </a:rPr>
              <a:t>Documents missing</a:t>
            </a:r>
            <a:endParaRPr lang="en-US" sz="1600" dirty="0"/>
          </a:p>
          <a:p>
            <a:pPr indent="0" marL="0">
              <a:spcAft>
                <a:spcPts val="400"/>
              </a:spcAft>
              <a:buNone/>
            </a:pPr>
            <a:r>
              <a:rPr lang="en-US" sz="1400" dirty="0">
                <a:solidFill>
                  <a:srgbClr val="4FD1C5"/>
                </a:solidFill>
                <a:latin typeface="Calibri" pitchFamily="34" charset="0"/>
                <a:ea typeface="Calibri" pitchFamily="34" charset="-122"/>
                <a:cs typeface="Calibri" pitchFamily="34" charset="-120"/>
              </a:rPr>
              <a:t>request, lapse after 7 days</a:t>
            </a:r>
            <a:endParaRPr lang="en-US" sz="1600" dirty="0"/>
          </a:p>
        </p:txBody>
      </p:sp>
      <p:sp>
        <p:nvSpPr>
          <p:cNvPr id="7" name="Shape 4"/>
          <p:cNvSpPr/>
          <p:nvPr/>
        </p:nvSpPr>
        <p:spPr>
          <a:xfrm>
            <a:off x="2862072" y="1508760"/>
            <a:ext cx="2057400" cy="2011680"/>
          </a:xfrm>
          <a:prstGeom prst="roundRect">
            <a:avLst>
              <a:gd name="adj" fmla="val 5455"/>
            </a:avLst>
          </a:prstGeom>
          <a:solidFill>
            <a:srgbClr val="1E323C"/>
          </a:solidFill>
          <a:ln w="12700">
            <a:solidFill>
              <a:srgbClr val="1E323C"/>
            </a:solidFill>
            <a:prstDash val="solid"/>
          </a:ln>
        </p:spPr>
      </p:sp>
      <p:pic>
        <p:nvPicPr>
          <p:cNvPr id="8" name="Image 1" descr="C:\Users\vines\AppData\Local\Temp\claude\C--Users-vines-OneDrive-Documents-wfa-assesment\56031c87-33c5-4040-9294-6fdd52e10b61\scratchpad\pptx\icons\xor.png">    </p:cNvPr>
          <p:cNvPicPr>
            <a:picLocks noChangeAspect="1"/>
          </p:cNvPicPr>
          <p:nvPr/>
        </p:nvPicPr>
        <p:blipFill>
          <a:blip r:embed="rId2"/>
          <a:stretch>
            <a:fillRect/>
          </a:stretch>
        </p:blipFill>
        <p:spPr>
          <a:xfrm>
            <a:off x="3044952" y="1691640"/>
            <a:ext cx="457200" cy="457200"/>
          </a:xfrm>
          <a:prstGeom prst="rect">
            <a:avLst/>
          </a:prstGeom>
        </p:spPr>
      </p:pic>
      <p:sp>
        <p:nvSpPr>
          <p:cNvPr id="9" name="Text 5"/>
          <p:cNvSpPr txBox="1"/>
          <p:nvPr/>
        </p:nvSpPr>
        <p:spPr>
          <a:xfrm>
            <a:off x="3044952" y="2286000"/>
            <a:ext cx="1737360" cy="1143000"/>
          </a:xfrm>
          <a:prstGeom prst="rect">
            <a:avLst/>
          </a:prstGeom>
          <a:noFill/>
          <a:ln/>
        </p:spPr>
        <p:txBody>
          <a:bodyPr wrap="square" lIns="0" tIns="0" rIns="0" bIns="0" rtlCol="0" anchor="t"/>
          <a:lstStyle/>
          <a:p>
            <a:pPr indent="0" marL="0">
              <a:spcAft>
                <a:spcPts val="400"/>
              </a:spcAft>
              <a:buNone/>
            </a:pPr>
            <a:r>
              <a:rPr lang="en-US" sz="1600" b="1" dirty="0">
                <a:solidFill>
                  <a:srgbClr val="EEF3F5"/>
                </a:solidFill>
                <a:latin typeface="Calibri" pitchFamily="34" charset="0"/>
                <a:ea typeface="Calibri" pitchFamily="34" charset="-122"/>
                <a:cs typeface="Calibri" pitchFamily="34" charset="-120"/>
              </a:rPr>
              <a:t>Not eligible</a:t>
            </a:r>
            <a:endParaRPr lang="en-US" sz="1600" dirty="0"/>
          </a:p>
          <a:p>
            <a:pPr indent="0" marL="0">
              <a:spcAft>
                <a:spcPts val="400"/>
              </a:spcAft>
              <a:buNone/>
            </a:pPr>
            <a:r>
              <a:rPr lang="en-US" sz="1400" dirty="0">
                <a:solidFill>
                  <a:srgbClr val="4FD1C5"/>
                </a:solidFill>
                <a:latin typeface="Calibri" pitchFamily="34" charset="0"/>
                <a:ea typeface="Calibri" pitchFamily="34" charset="-122"/>
                <a:cs typeface="Calibri" pitchFamily="34" charset="-120"/>
              </a:rPr>
              <a:t>rejection letter</a:t>
            </a:r>
            <a:endParaRPr lang="en-US" sz="1600" dirty="0"/>
          </a:p>
        </p:txBody>
      </p:sp>
      <p:sp>
        <p:nvSpPr>
          <p:cNvPr id="10" name="Shape 6"/>
          <p:cNvSpPr/>
          <p:nvPr/>
        </p:nvSpPr>
        <p:spPr>
          <a:xfrm>
            <a:off x="5084064" y="1508760"/>
            <a:ext cx="2057400" cy="2011680"/>
          </a:xfrm>
          <a:prstGeom prst="roundRect">
            <a:avLst>
              <a:gd name="adj" fmla="val 5455"/>
            </a:avLst>
          </a:prstGeom>
          <a:solidFill>
            <a:srgbClr val="1E323C"/>
          </a:solidFill>
          <a:ln w="12700">
            <a:solidFill>
              <a:srgbClr val="1E323C"/>
            </a:solidFill>
            <a:prstDash val="solid"/>
          </a:ln>
        </p:spPr>
      </p:sp>
      <p:pic>
        <p:nvPicPr>
          <p:cNvPr id="11" name="Image 2" descr="C:\Users\vines\AppData\Local\Temp\claude\C--Users-vines-OneDrive-Documents-wfa-assesment\56031c87-33c5-4040-9294-6fdd52e10b61\scratchpad\pptx\icons\error.png">    </p:cNvPr>
          <p:cNvPicPr>
            <a:picLocks noChangeAspect="1"/>
          </p:cNvPicPr>
          <p:nvPr/>
        </p:nvPicPr>
        <p:blipFill>
          <a:blip r:embed="rId3"/>
          <a:stretch>
            <a:fillRect/>
          </a:stretch>
        </p:blipFill>
        <p:spPr>
          <a:xfrm>
            <a:off x="5266944" y="1691640"/>
            <a:ext cx="457200" cy="457200"/>
          </a:xfrm>
          <a:prstGeom prst="rect">
            <a:avLst/>
          </a:prstGeom>
        </p:spPr>
      </p:pic>
      <p:sp>
        <p:nvSpPr>
          <p:cNvPr id="12" name="Text 7"/>
          <p:cNvSpPr txBox="1"/>
          <p:nvPr/>
        </p:nvSpPr>
        <p:spPr>
          <a:xfrm>
            <a:off x="5266944" y="2286000"/>
            <a:ext cx="1737360" cy="1143000"/>
          </a:xfrm>
          <a:prstGeom prst="rect">
            <a:avLst/>
          </a:prstGeom>
          <a:noFill/>
          <a:ln/>
        </p:spPr>
        <p:txBody>
          <a:bodyPr wrap="square" lIns="0" tIns="0" rIns="0" bIns="0" rtlCol="0" anchor="t"/>
          <a:lstStyle/>
          <a:p>
            <a:pPr indent="0" marL="0">
              <a:spcAft>
                <a:spcPts val="400"/>
              </a:spcAft>
              <a:buNone/>
            </a:pPr>
            <a:r>
              <a:rPr lang="en-US" sz="1600" b="1" dirty="0">
                <a:solidFill>
                  <a:srgbClr val="EEF3F5"/>
                </a:solidFill>
                <a:latin typeface="Calibri" pitchFamily="34" charset="0"/>
                <a:ea typeface="Calibri" pitchFamily="34" charset="-122"/>
                <a:cs typeface="Calibri" pitchFamily="34" charset="-120"/>
              </a:rPr>
              <a:t>Bureau down</a:t>
            </a:r>
            <a:endParaRPr lang="en-US" sz="1600" dirty="0"/>
          </a:p>
          <a:p>
            <a:pPr indent="0" marL="0">
              <a:spcAft>
                <a:spcPts val="400"/>
              </a:spcAft>
              <a:buNone/>
            </a:pPr>
            <a:r>
              <a:rPr lang="en-US" sz="1400" dirty="0">
                <a:solidFill>
                  <a:srgbClr val="4FD1C5"/>
                </a:solidFill>
                <a:latin typeface="Calibri" pitchFamily="34" charset="0"/>
                <a:ea typeface="Calibri" pitchFamily="34" charset="-122"/>
                <a:cs typeface="Calibri" pitchFamily="34" charset="-120"/>
              </a:rPr>
              <a:t>backup bureau</a:t>
            </a:r>
            <a:endParaRPr lang="en-US" sz="1600" dirty="0"/>
          </a:p>
        </p:txBody>
      </p:sp>
      <p:sp>
        <p:nvSpPr>
          <p:cNvPr id="13" name="Shape 8"/>
          <p:cNvSpPr/>
          <p:nvPr/>
        </p:nvSpPr>
        <p:spPr>
          <a:xfrm>
            <a:off x="7306056" y="1508760"/>
            <a:ext cx="2057400" cy="2011680"/>
          </a:xfrm>
          <a:prstGeom prst="roundRect">
            <a:avLst>
              <a:gd name="adj" fmla="val 5455"/>
            </a:avLst>
          </a:prstGeom>
          <a:solidFill>
            <a:srgbClr val="1E323C"/>
          </a:solidFill>
          <a:ln w="12700">
            <a:solidFill>
              <a:srgbClr val="1E323C"/>
            </a:solidFill>
            <a:prstDash val="solid"/>
          </a:ln>
        </p:spPr>
      </p:sp>
      <p:pic>
        <p:nvPicPr>
          <p:cNvPr id="14" name="Image 3" descr="C:\Users\vines\AppData\Local\Temp\claude\C--Users-vines-OneDrive-Documents-wfa-assesment\56031c87-33c5-4040-9294-6fdd52e10b61\scratchpad\pptx\icons\xor.png">    </p:cNvPr>
          <p:cNvPicPr>
            <a:picLocks noChangeAspect="1"/>
          </p:cNvPicPr>
          <p:nvPr/>
        </p:nvPicPr>
        <p:blipFill>
          <a:blip r:embed="rId4"/>
          <a:stretch>
            <a:fillRect/>
          </a:stretch>
        </p:blipFill>
        <p:spPr>
          <a:xfrm>
            <a:off x="7488936" y="1691640"/>
            <a:ext cx="457200" cy="457200"/>
          </a:xfrm>
          <a:prstGeom prst="rect">
            <a:avLst/>
          </a:prstGeom>
        </p:spPr>
      </p:pic>
      <p:sp>
        <p:nvSpPr>
          <p:cNvPr id="15" name="Text 9"/>
          <p:cNvSpPr txBox="1"/>
          <p:nvPr/>
        </p:nvSpPr>
        <p:spPr>
          <a:xfrm>
            <a:off x="7488936" y="2286000"/>
            <a:ext cx="1737360" cy="1143000"/>
          </a:xfrm>
          <a:prstGeom prst="rect">
            <a:avLst/>
          </a:prstGeom>
          <a:noFill/>
          <a:ln/>
        </p:spPr>
        <p:txBody>
          <a:bodyPr wrap="square" lIns="0" tIns="0" rIns="0" bIns="0" rtlCol="0" anchor="t"/>
          <a:lstStyle/>
          <a:p>
            <a:pPr indent="0" marL="0">
              <a:spcAft>
                <a:spcPts val="400"/>
              </a:spcAft>
              <a:buNone/>
            </a:pPr>
            <a:r>
              <a:rPr lang="en-US" sz="1600" b="1" dirty="0">
                <a:solidFill>
                  <a:srgbClr val="EEF3F5"/>
                </a:solidFill>
                <a:latin typeface="Calibri" pitchFamily="34" charset="0"/>
                <a:ea typeface="Calibri" pitchFamily="34" charset="-122"/>
                <a:cs typeface="Calibri" pitchFamily="34" charset="-120"/>
              </a:rPr>
              <a:t>KYC failed</a:t>
            </a:r>
            <a:endParaRPr lang="en-US" sz="1600" dirty="0"/>
          </a:p>
          <a:p>
            <a:pPr indent="0" marL="0">
              <a:spcAft>
                <a:spcPts val="400"/>
              </a:spcAft>
              <a:buNone/>
            </a:pPr>
            <a:r>
              <a:rPr lang="en-US" sz="1400" dirty="0">
                <a:solidFill>
                  <a:srgbClr val="4FD1C5"/>
                </a:solidFill>
                <a:latin typeface="Calibri" pitchFamily="34" charset="0"/>
                <a:ea typeface="Calibri" pitchFamily="34" charset="-122"/>
                <a:cs typeface="Calibri" pitchFamily="34" charset="-120"/>
              </a:rPr>
              <a:t>rejection letter</a:t>
            </a:r>
            <a:endParaRPr lang="en-US" sz="1600" dirty="0"/>
          </a:p>
        </p:txBody>
      </p:sp>
      <p:sp>
        <p:nvSpPr>
          <p:cNvPr id="16" name="Shape 10"/>
          <p:cNvSpPr/>
          <p:nvPr/>
        </p:nvSpPr>
        <p:spPr>
          <a:xfrm>
            <a:off x="9528048" y="1508760"/>
            <a:ext cx="2057400" cy="2011680"/>
          </a:xfrm>
          <a:prstGeom prst="roundRect">
            <a:avLst>
              <a:gd name="adj" fmla="val 5455"/>
            </a:avLst>
          </a:prstGeom>
          <a:solidFill>
            <a:srgbClr val="1E323C"/>
          </a:solidFill>
          <a:ln w="12700">
            <a:solidFill>
              <a:srgbClr val="1E323C"/>
            </a:solidFill>
            <a:prstDash val="solid"/>
          </a:ln>
        </p:spPr>
      </p:sp>
      <p:pic>
        <p:nvPicPr>
          <p:cNvPr id="17" name="Image 4" descr="C:\Users\vines\AppData\Local\Temp\claude\C--Users-vines-OneDrive-Documents-wfa-assesment\56031c87-33c5-4040-9294-6fdd52e10b61\scratchpad\pptx\icons\terminate.png">    </p:cNvPr>
          <p:cNvPicPr>
            <a:picLocks noChangeAspect="1"/>
          </p:cNvPicPr>
          <p:nvPr/>
        </p:nvPicPr>
        <p:blipFill>
          <a:blip r:embed="rId5"/>
          <a:stretch>
            <a:fillRect/>
          </a:stretch>
        </p:blipFill>
        <p:spPr>
          <a:xfrm>
            <a:off x="9710928" y="1691640"/>
            <a:ext cx="457200" cy="457200"/>
          </a:xfrm>
          <a:prstGeom prst="rect">
            <a:avLst/>
          </a:prstGeom>
        </p:spPr>
      </p:pic>
      <p:sp>
        <p:nvSpPr>
          <p:cNvPr id="18" name="Text 11"/>
          <p:cNvSpPr txBox="1"/>
          <p:nvPr/>
        </p:nvSpPr>
        <p:spPr>
          <a:xfrm>
            <a:off x="9710928" y="2286000"/>
            <a:ext cx="1737360" cy="1143000"/>
          </a:xfrm>
          <a:prstGeom prst="rect">
            <a:avLst/>
          </a:prstGeom>
          <a:noFill/>
          <a:ln/>
        </p:spPr>
        <p:txBody>
          <a:bodyPr wrap="square" lIns="0" tIns="0" rIns="0" bIns="0" rtlCol="0" anchor="t"/>
          <a:lstStyle/>
          <a:p>
            <a:pPr indent="0" marL="0">
              <a:spcAft>
                <a:spcPts val="400"/>
              </a:spcAft>
              <a:buNone/>
            </a:pPr>
            <a:r>
              <a:rPr lang="en-US" sz="1600" b="1" dirty="0">
                <a:solidFill>
                  <a:srgbClr val="EEF3F5"/>
                </a:solidFill>
                <a:latin typeface="Calibri" pitchFamily="34" charset="0"/>
                <a:ea typeface="Calibri" pitchFamily="34" charset="-122"/>
                <a:cs typeface="Calibri" pitchFamily="34" charset="-120"/>
              </a:rPr>
              <a:t>AML alert</a:t>
            </a:r>
            <a:endParaRPr lang="en-US" sz="1600" dirty="0"/>
          </a:p>
          <a:p>
            <a:pPr indent="0" marL="0">
              <a:spcAft>
                <a:spcPts val="400"/>
              </a:spcAft>
              <a:buNone/>
            </a:pPr>
            <a:r>
              <a:rPr lang="en-US" sz="1400" dirty="0">
                <a:solidFill>
                  <a:srgbClr val="4FD1C5"/>
                </a:solidFill>
                <a:latin typeface="Calibri" pitchFamily="34" charset="0"/>
                <a:ea typeface="Calibri" pitchFamily="34" charset="-122"/>
                <a:cs typeface="Calibri" pitchFamily="34" charset="-120"/>
              </a:rPr>
              <a:t>investigate; fraud = terminate</a:t>
            </a:r>
            <a:endParaRPr lang="en-US" sz="1600" dirty="0"/>
          </a:p>
        </p:txBody>
      </p:sp>
      <p:sp>
        <p:nvSpPr>
          <p:cNvPr id="19" name="Shape 12"/>
          <p:cNvSpPr/>
          <p:nvPr/>
        </p:nvSpPr>
        <p:spPr>
          <a:xfrm>
            <a:off x="640080" y="3749040"/>
            <a:ext cx="2057400" cy="2011680"/>
          </a:xfrm>
          <a:prstGeom prst="roundRect">
            <a:avLst>
              <a:gd name="adj" fmla="val 5455"/>
            </a:avLst>
          </a:prstGeom>
          <a:solidFill>
            <a:srgbClr val="1E323C"/>
          </a:solidFill>
          <a:ln w="12700">
            <a:solidFill>
              <a:srgbClr val="1E323C"/>
            </a:solidFill>
            <a:prstDash val="solid"/>
          </a:ln>
        </p:spPr>
      </p:sp>
      <p:pic>
        <p:nvPicPr>
          <p:cNvPr id="20" name="Image 5" descr="C:\Users\vines\AppData\Local\Temp\claude\C--Users-vines-OneDrive-Documents-wfa-assesment\56031c87-33c5-4040-9294-6fdd52e10b61\scratchpad\pptx\icons\xor.png">    </p:cNvPr>
          <p:cNvPicPr>
            <a:picLocks noChangeAspect="1"/>
          </p:cNvPicPr>
          <p:nvPr/>
        </p:nvPicPr>
        <p:blipFill>
          <a:blip r:embed="rId6"/>
          <a:stretch>
            <a:fillRect/>
          </a:stretch>
        </p:blipFill>
        <p:spPr>
          <a:xfrm>
            <a:off x="822960" y="3931920"/>
            <a:ext cx="457200" cy="457200"/>
          </a:xfrm>
          <a:prstGeom prst="rect">
            <a:avLst/>
          </a:prstGeom>
        </p:spPr>
      </p:pic>
      <p:sp>
        <p:nvSpPr>
          <p:cNvPr id="21" name="Text 13"/>
          <p:cNvSpPr txBox="1"/>
          <p:nvPr/>
        </p:nvSpPr>
        <p:spPr>
          <a:xfrm>
            <a:off x="822960" y="4526280"/>
            <a:ext cx="1737360" cy="1143000"/>
          </a:xfrm>
          <a:prstGeom prst="rect">
            <a:avLst/>
          </a:prstGeom>
          <a:noFill/>
          <a:ln/>
        </p:spPr>
        <p:txBody>
          <a:bodyPr wrap="square" lIns="0" tIns="0" rIns="0" bIns="0" rtlCol="0" anchor="t"/>
          <a:lstStyle/>
          <a:p>
            <a:pPr indent="0" marL="0">
              <a:spcAft>
                <a:spcPts val="400"/>
              </a:spcAft>
              <a:buNone/>
            </a:pPr>
            <a:r>
              <a:rPr lang="en-US" sz="1600" b="1" dirty="0">
                <a:solidFill>
                  <a:srgbClr val="EEF3F5"/>
                </a:solidFill>
                <a:latin typeface="Calibri" pitchFamily="34" charset="0"/>
                <a:ea typeface="Calibri" pitchFamily="34" charset="-122"/>
                <a:cs typeface="Calibri" pitchFamily="34" charset="-120"/>
              </a:rPr>
              <a:t>Underwriter declines</a:t>
            </a:r>
            <a:endParaRPr lang="en-US" sz="1600" dirty="0"/>
          </a:p>
          <a:p>
            <a:pPr indent="0" marL="0">
              <a:spcAft>
                <a:spcPts val="400"/>
              </a:spcAft>
              <a:buNone/>
            </a:pPr>
            <a:r>
              <a:rPr lang="en-US" sz="1400" dirty="0">
                <a:solidFill>
                  <a:srgbClr val="4FD1C5"/>
                </a:solidFill>
                <a:latin typeface="Calibri" pitchFamily="34" charset="0"/>
                <a:ea typeface="Calibri" pitchFamily="34" charset="-122"/>
                <a:cs typeface="Calibri" pitchFamily="34" charset="-120"/>
              </a:rPr>
              <a:t>rejection letter</a:t>
            </a:r>
            <a:endParaRPr lang="en-US" sz="1600" dirty="0"/>
          </a:p>
        </p:txBody>
      </p:sp>
      <p:sp>
        <p:nvSpPr>
          <p:cNvPr id="22" name="Shape 14"/>
          <p:cNvSpPr/>
          <p:nvPr/>
        </p:nvSpPr>
        <p:spPr>
          <a:xfrm>
            <a:off x="2862072" y="3749040"/>
            <a:ext cx="2057400" cy="2011680"/>
          </a:xfrm>
          <a:prstGeom prst="roundRect">
            <a:avLst>
              <a:gd name="adj" fmla="val 5455"/>
            </a:avLst>
          </a:prstGeom>
          <a:solidFill>
            <a:srgbClr val="1E323C"/>
          </a:solidFill>
          <a:ln w="12700">
            <a:solidFill>
              <a:srgbClr val="1E323C"/>
            </a:solidFill>
            <a:prstDash val="solid"/>
          </a:ln>
        </p:spPr>
      </p:sp>
      <p:pic>
        <p:nvPicPr>
          <p:cNvPr id="23" name="Image 6" descr="C:\Users\vines\AppData\Local\Temp\claude\C--Users-vines-OneDrive-Documents-wfa-assesment\56031c87-33c5-4040-9294-6fdd52e10b61\scratchpad\pptx\icons\msgcatch.png">    </p:cNvPr>
          <p:cNvPicPr>
            <a:picLocks noChangeAspect="1"/>
          </p:cNvPicPr>
          <p:nvPr/>
        </p:nvPicPr>
        <p:blipFill>
          <a:blip r:embed="rId7"/>
          <a:stretch>
            <a:fillRect/>
          </a:stretch>
        </p:blipFill>
        <p:spPr>
          <a:xfrm>
            <a:off x="3044952" y="3931920"/>
            <a:ext cx="457200" cy="457200"/>
          </a:xfrm>
          <a:prstGeom prst="rect">
            <a:avLst/>
          </a:prstGeom>
        </p:spPr>
      </p:pic>
      <p:sp>
        <p:nvSpPr>
          <p:cNvPr id="24" name="Text 15"/>
          <p:cNvSpPr txBox="1"/>
          <p:nvPr/>
        </p:nvSpPr>
        <p:spPr>
          <a:xfrm>
            <a:off x="3044952" y="4526280"/>
            <a:ext cx="1737360" cy="1143000"/>
          </a:xfrm>
          <a:prstGeom prst="rect">
            <a:avLst/>
          </a:prstGeom>
          <a:noFill/>
          <a:ln/>
        </p:spPr>
        <p:txBody>
          <a:bodyPr wrap="square" lIns="0" tIns="0" rIns="0" bIns="0" rtlCol="0" anchor="t"/>
          <a:lstStyle/>
          <a:p>
            <a:pPr indent="0" marL="0">
              <a:spcAft>
                <a:spcPts val="400"/>
              </a:spcAft>
              <a:buNone/>
            </a:pPr>
            <a:r>
              <a:rPr lang="en-US" sz="1600" b="1" dirty="0">
                <a:solidFill>
                  <a:srgbClr val="EEF3F5"/>
                </a:solidFill>
                <a:latin typeface="Calibri" pitchFamily="34" charset="0"/>
                <a:ea typeface="Calibri" pitchFamily="34" charset="-122"/>
                <a:cs typeface="Calibri" pitchFamily="34" charset="-120"/>
              </a:rPr>
              <a:t>Offer declined</a:t>
            </a:r>
            <a:endParaRPr lang="en-US" sz="1600" dirty="0"/>
          </a:p>
          <a:p>
            <a:pPr indent="0" marL="0">
              <a:spcAft>
                <a:spcPts val="400"/>
              </a:spcAft>
              <a:buNone/>
            </a:pPr>
            <a:r>
              <a:rPr lang="en-US" sz="1400" dirty="0">
                <a:solidFill>
                  <a:srgbClr val="4FD1C5"/>
                </a:solidFill>
                <a:latin typeface="Calibri" pitchFamily="34" charset="0"/>
                <a:ea typeface="Calibri" pitchFamily="34" charset="-122"/>
                <a:cs typeface="Calibri" pitchFamily="34" charset="-120"/>
              </a:rPr>
              <a:t>offer declined</a:t>
            </a:r>
            <a:endParaRPr lang="en-US" sz="1600" dirty="0"/>
          </a:p>
        </p:txBody>
      </p:sp>
      <p:sp>
        <p:nvSpPr>
          <p:cNvPr id="25" name="Shape 16"/>
          <p:cNvSpPr/>
          <p:nvPr/>
        </p:nvSpPr>
        <p:spPr>
          <a:xfrm>
            <a:off x="5084064" y="3749040"/>
            <a:ext cx="2057400" cy="2011680"/>
          </a:xfrm>
          <a:prstGeom prst="roundRect">
            <a:avLst>
              <a:gd name="adj" fmla="val 5455"/>
            </a:avLst>
          </a:prstGeom>
          <a:solidFill>
            <a:srgbClr val="1E323C"/>
          </a:solidFill>
          <a:ln w="12700">
            <a:solidFill>
              <a:srgbClr val="1E323C"/>
            </a:solidFill>
            <a:prstDash val="solid"/>
          </a:ln>
        </p:spPr>
      </p:sp>
      <p:pic>
        <p:nvPicPr>
          <p:cNvPr id="26" name="Image 7" descr="C:\Users\vines\AppData\Local\Temp\claude\C--Users-vines-OneDrive-Documents-wfa-assesment\56031c87-33c5-4040-9294-6fdd52e10b61\scratchpad\pptx\icons\timer.png">    </p:cNvPr>
          <p:cNvPicPr>
            <a:picLocks noChangeAspect="1"/>
          </p:cNvPicPr>
          <p:nvPr/>
        </p:nvPicPr>
        <p:blipFill>
          <a:blip r:embed="rId8"/>
          <a:stretch>
            <a:fillRect/>
          </a:stretch>
        </p:blipFill>
        <p:spPr>
          <a:xfrm>
            <a:off x="5266944" y="3931920"/>
            <a:ext cx="457200" cy="457200"/>
          </a:xfrm>
          <a:prstGeom prst="rect">
            <a:avLst/>
          </a:prstGeom>
        </p:spPr>
      </p:pic>
      <p:sp>
        <p:nvSpPr>
          <p:cNvPr id="27" name="Text 17"/>
          <p:cNvSpPr txBox="1"/>
          <p:nvPr/>
        </p:nvSpPr>
        <p:spPr>
          <a:xfrm>
            <a:off x="5266944" y="4526280"/>
            <a:ext cx="1737360" cy="1143000"/>
          </a:xfrm>
          <a:prstGeom prst="rect">
            <a:avLst/>
          </a:prstGeom>
          <a:noFill/>
          <a:ln/>
        </p:spPr>
        <p:txBody>
          <a:bodyPr wrap="square" lIns="0" tIns="0" rIns="0" bIns="0" rtlCol="0" anchor="t"/>
          <a:lstStyle/>
          <a:p>
            <a:pPr indent="0" marL="0">
              <a:spcAft>
                <a:spcPts val="400"/>
              </a:spcAft>
              <a:buNone/>
            </a:pPr>
            <a:r>
              <a:rPr lang="en-US" sz="1600" b="1" dirty="0">
                <a:solidFill>
                  <a:srgbClr val="EEF3F5"/>
                </a:solidFill>
                <a:latin typeface="Calibri" pitchFamily="34" charset="0"/>
                <a:ea typeface="Calibri" pitchFamily="34" charset="-122"/>
                <a:cs typeface="Calibri" pitchFamily="34" charset="-120"/>
              </a:rPr>
              <a:t>No reply 15 days</a:t>
            </a:r>
            <a:endParaRPr lang="en-US" sz="1600" dirty="0"/>
          </a:p>
          <a:p>
            <a:pPr indent="0" marL="0">
              <a:spcAft>
                <a:spcPts val="400"/>
              </a:spcAft>
              <a:buNone/>
            </a:pPr>
            <a:r>
              <a:rPr lang="en-US" sz="1400" dirty="0">
                <a:solidFill>
                  <a:srgbClr val="4FD1C5"/>
                </a:solidFill>
                <a:latin typeface="Calibri" pitchFamily="34" charset="0"/>
                <a:ea typeface="Calibri" pitchFamily="34" charset="-122"/>
                <a:cs typeface="Calibri" pitchFamily="34" charset="-120"/>
              </a:rPr>
              <a:t>offer expired</a:t>
            </a:r>
            <a:endParaRPr lang="en-US" sz="1600" dirty="0"/>
          </a:p>
        </p:txBody>
      </p:sp>
      <p:sp>
        <p:nvSpPr>
          <p:cNvPr id="28" name="Shape 18"/>
          <p:cNvSpPr/>
          <p:nvPr/>
        </p:nvSpPr>
        <p:spPr>
          <a:xfrm>
            <a:off x="7306056" y="3749040"/>
            <a:ext cx="2057400" cy="2011680"/>
          </a:xfrm>
          <a:prstGeom prst="roundRect">
            <a:avLst>
              <a:gd name="adj" fmla="val 5455"/>
            </a:avLst>
          </a:prstGeom>
          <a:solidFill>
            <a:srgbClr val="1E323C"/>
          </a:solidFill>
          <a:ln w="12700">
            <a:solidFill>
              <a:srgbClr val="1E323C"/>
            </a:solidFill>
            <a:prstDash val="solid"/>
          </a:ln>
        </p:spPr>
      </p:sp>
      <p:pic>
        <p:nvPicPr>
          <p:cNvPr id="29" name="Image 8" descr="C:\Users\vines\AppData\Local\Temp\claude\C--Users-vines-OneDrive-Documents-wfa-assesment\56031c87-33c5-4040-9294-6fdd52e10b61\scratchpad\pptx\icons\error.png">    </p:cNvPr>
          <p:cNvPicPr>
            <a:picLocks noChangeAspect="1"/>
          </p:cNvPicPr>
          <p:nvPr/>
        </p:nvPicPr>
        <p:blipFill>
          <a:blip r:embed="rId9"/>
          <a:stretch>
            <a:fillRect/>
          </a:stretch>
        </p:blipFill>
        <p:spPr>
          <a:xfrm>
            <a:off x="7488936" y="3931920"/>
            <a:ext cx="457200" cy="457200"/>
          </a:xfrm>
          <a:prstGeom prst="rect">
            <a:avLst/>
          </a:prstGeom>
        </p:spPr>
      </p:pic>
      <p:sp>
        <p:nvSpPr>
          <p:cNvPr id="30" name="Text 19"/>
          <p:cNvSpPr txBox="1"/>
          <p:nvPr/>
        </p:nvSpPr>
        <p:spPr>
          <a:xfrm>
            <a:off x="7488936" y="4526280"/>
            <a:ext cx="1737360" cy="1143000"/>
          </a:xfrm>
          <a:prstGeom prst="rect">
            <a:avLst/>
          </a:prstGeom>
          <a:noFill/>
          <a:ln/>
        </p:spPr>
        <p:txBody>
          <a:bodyPr wrap="square" lIns="0" tIns="0" rIns="0" bIns="0" rtlCol="0" anchor="t"/>
          <a:lstStyle/>
          <a:p>
            <a:pPr indent="0" marL="0">
              <a:spcAft>
                <a:spcPts val="400"/>
              </a:spcAft>
              <a:buNone/>
            </a:pPr>
            <a:r>
              <a:rPr lang="en-US" sz="1600" b="1" dirty="0">
                <a:solidFill>
                  <a:srgbClr val="EEF3F5"/>
                </a:solidFill>
                <a:latin typeface="Calibri" pitchFamily="34" charset="0"/>
                <a:ea typeface="Calibri" pitchFamily="34" charset="-122"/>
                <a:cs typeface="Calibri" pitchFamily="34" charset="-120"/>
              </a:rPr>
              <a:t>Payment fails</a:t>
            </a:r>
            <a:endParaRPr lang="en-US" sz="1600" dirty="0"/>
          </a:p>
          <a:p>
            <a:pPr indent="0" marL="0">
              <a:spcAft>
                <a:spcPts val="400"/>
              </a:spcAft>
              <a:buNone/>
            </a:pPr>
            <a:r>
              <a:rPr lang="en-US" sz="1400" dirty="0">
                <a:solidFill>
                  <a:srgbClr val="4FD1C5"/>
                </a:solidFill>
                <a:latin typeface="Calibri" pitchFamily="34" charset="0"/>
                <a:ea typeface="Calibri" pitchFamily="34" charset="-122"/>
                <a:cs typeface="Calibri" pitchFamily="34" charset="-120"/>
              </a:rPr>
              <a:t>fix and retry, or cancel</a:t>
            </a:r>
            <a:endParaRPr lang="en-US" sz="1600" dirty="0"/>
          </a:p>
        </p:txBody>
      </p:sp>
      <p:sp>
        <p:nvSpPr>
          <p:cNvPr id="31" name="Shape 20"/>
          <p:cNvSpPr/>
          <p:nvPr/>
        </p:nvSpPr>
        <p:spPr>
          <a:xfrm>
            <a:off x="9528048" y="3749040"/>
            <a:ext cx="2057400" cy="2011680"/>
          </a:xfrm>
          <a:prstGeom prst="roundRect">
            <a:avLst>
              <a:gd name="adj" fmla="val 5455"/>
            </a:avLst>
          </a:prstGeom>
          <a:solidFill>
            <a:srgbClr val="1E323C"/>
          </a:solidFill>
          <a:ln w="12700">
            <a:solidFill>
              <a:srgbClr val="1E323C"/>
            </a:solidFill>
            <a:prstDash val="solid"/>
          </a:ln>
        </p:spPr>
      </p:sp>
      <p:pic>
        <p:nvPicPr>
          <p:cNvPr id="32" name="Image 9" descr="C:\Users\vines\AppData\Local\Temp\claude\C--Users-vines-OneDrive-Documents-wfa-assesment\56031c87-33c5-4040-9294-6fdd52e10b61\scratchpad\pptx\icons\start.png">    </p:cNvPr>
          <p:cNvPicPr>
            <a:picLocks noChangeAspect="1"/>
          </p:cNvPicPr>
          <p:nvPr/>
        </p:nvPicPr>
        <p:blipFill>
          <a:blip r:embed="rId10"/>
          <a:stretch>
            <a:fillRect/>
          </a:stretch>
        </p:blipFill>
        <p:spPr>
          <a:xfrm>
            <a:off x="9710928" y="3931920"/>
            <a:ext cx="457200" cy="457200"/>
          </a:xfrm>
          <a:prstGeom prst="rect">
            <a:avLst/>
          </a:prstGeom>
        </p:spPr>
      </p:pic>
      <p:sp>
        <p:nvSpPr>
          <p:cNvPr id="33" name="Text 21"/>
          <p:cNvSpPr txBox="1"/>
          <p:nvPr/>
        </p:nvSpPr>
        <p:spPr>
          <a:xfrm>
            <a:off x="9710928" y="4526280"/>
            <a:ext cx="1737360" cy="1143000"/>
          </a:xfrm>
          <a:prstGeom prst="rect">
            <a:avLst/>
          </a:prstGeom>
          <a:noFill/>
          <a:ln/>
        </p:spPr>
        <p:txBody>
          <a:bodyPr wrap="square" lIns="0" tIns="0" rIns="0" bIns="0" rtlCol="0" anchor="t"/>
          <a:lstStyle/>
          <a:p>
            <a:pPr indent="0" marL="0">
              <a:spcAft>
                <a:spcPts val="400"/>
              </a:spcAft>
              <a:buNone/>
            </a:pPr>
            <a:r>
              <a:rPr lang="en-US" sz="1600" b="1" dirty="0">
                <a:solidFill>
                  <a:srgbClr val="EEF3F5"/>
                </a:solidFill>
                <a:latin typeface="Calibri" pitchFamily="34" charset="0"/>
                <a:ea typeface="Calibri" pitchFamily="34" charset="-122"/>
                <a:cs typeface="Calibri" pitchFamily="34" charset="-120"/>
              </a:rPr>
              <a:t>Applicant withdraws</a:t>
            </a:r>
            <a:endParaRPr lang="en-US" sz="1600" dirty="0"/>
          </a:p>
          <a:p>
            <a:pPr indent="0" marL="0">
              <a:spcAft>
                <a:spcPts val="400"/>
              </a:spcAft>
              <a:buNone/>
            </a:pPr>
            <a:r>
              <a:rPr lang="en-US" sz="1400" dirty="0">
                <a:solidFill>
                  <a:srgbClr val="4FD1C5"/>
                </a:solidFill>
                <a:latin typeface="Calibri" pitchFamily="34" charset="0"/>
                <a:ea typeface="Calibri" pitchFamily="34" charset="-122"/>
                <a:cs typeface="Calibri" pitchFamily="34" charset="-120"/>
              </a:rPr>
              <a:t>event sub-process</a:t>
            </a:r>
            <a:endParaRPr lang="en-US" sz="1600" dirty="0"/>
          </a:p>
        </p:txBody>
      </p:sp>
      <p:sp>
        <p:nvSpPr>
          <p:cNvPr id="25" name="Slide Number Placeholder 0"/>
          <p:cNvSpPr>
            <a:spLocks noGrp="1"/>
          </p:cNvSpPr>
          <p:nvPr>
            <p:ph type="sldNum" sz="quarter" idx="4294967295"/>
          </p:nvPr>
        </p:nvSpPr>
        <p:spPr>
          <a:xfrm>
            <a:off x="11247120"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7BAC4"/>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Faint background of the loan diagram">    </p:cNvPr>
          <p:cNvPicPr>
            <a:picLocks noChangeAspect="1"/>
          </p:cNvPicPr>
          <p:nvPr/>
        </p:nvPicPr>
        <p:blipFill>
          <a:blip r:embed="rId1">
            <a:alphaModFix amt="15000"/>
          </a:blip>
          <a:stretch>
            <a:fillRect/>
          </a:stretch>
        </p:blipFill>
        <p:spPr>
          <a:xfrm>
            <a:off x="2863" y="182880"/>
            <a:ext cx="12185969" cy="6492240"/>
          </a:xfrm>
          <a:prstGeom prst="rect">
            <a:avLst/>
          </a:prstGeom>
        </p:spPr>
      </p:pic>
      <p:sp>
        <p:nvSpPr>
          <p:cNvPr id="3" name="Shape 0"/>
          <p:cNvSpPr/>
          <p:nvPr/>
        </p:nvSpPr>
        <p:spPr>
          <a:xfrm>
            <a:off x="2194560" y="2011680"/>
            <a:ext cx="7772400" cy="2743200"/>
          </a:xfrm>
          <a:prstGeom prst="roundRect">
            <a:avLst>
              <a:gd name="adj" fmla="val 6667"/>
            </a:avLst>
          </a:prstGeom>
          <a:solidFill>
            <a:srgbClr val="14222A">
              <a:alpha val="88000"/>
            </a:srgbClr>
          </a:solidFill>
          <a:ln w="12700">
            <a:solidFill>
              <a:srgbClr val="2E4A57"/>
            </a:solidFill>
            <a:prstDash val="solid"/>
          </a:ln>
        </p:spPr>
      </p:sp>
      <p:sp>
        <p:nvSpPr>
          <p:cNvPr id="4" name="Text 0"/>
          <p:cNvSpPr/>
          <p:nvPr>
            <p:ph idx="100" type="title" hasCustomPrompt="1"/>
          </p:nvPr>
        </p:nvSpPr>
        <p:spPr>
          <a:xfrm>
            <a:off x="914400" y="2514600"/>
            <a:ext cx="10332720" cy="1188720"/>
          </a:xfrm>
          <a:prstGeom prst="rect">
            <a:avLst/>
          </a:prstGeom>
          <a:noFill/>
          <a:ln/>
        </p:spPr>
        <p:txBody>
          <a:bodyPr wrap="square" lIns="0" tIns="0" rIns="0" bIns="0" rtlCol="0" anchor="ctr"/>
          <a:lstStyle/>
          <a:p>
            <a:pPr algn="ctr" indent="0" marL="0">
              <a:buNone/>
            </a:pPr>
            <a:r>
              <a:rPr lang="en-US" sz="4600" b="1" dirty="0">
                <a:solidFill>
                  <a:srgbClr val="EEF3F5"/>
                </a:solidFill>
                <a:latin typeface="Cambria" pitchFamily="34" charset="0"/>
                <a:ea typeface="Cambria" pitchFamily="34" charset="-122"/>
                <a:cs typeface="Cambria" pitchFamily="34" charset="-120"/>
              </a:rPr>
              <a:t>Thank you</a:t>
            </a:r>
            <a:endParaRPr lang="en-US" sz="4600" dirty="0"/>
          </a:p>
        </p:txBody>
      </p:sp>
      <p:sp>
        <p:nvSpPr>
          <p:cNvPr id="5" name="Text 2"/>
          <p:cNvSpPr txBox="1"/>
          <p:nvPr/>
        </p:nvSpPr>
        <p:spPr>
          <a:xfrm>
            <a:off x="914400" y="3794760"/>
            <a:ext cx="10332720" cy="411480"/>
          </a:xfrm>
          <a:prstGeom prst="rect">
            <a:avLst/>
          </a:prstGeom>
          <a:noFill/>
          <a:ln/>
        </p:spPr>
        <p:txBody>
          <a:bodyPr wrap="square" lIns="0" tIns="0" rIns="0" bIns="0" rtlCol="0" anchor="t"/>
          <a:lstStyle/>
          <a:p>
            <a:pPr algn="ctr" indent="0" marL="0">
              <a:buNone/>
            </a:pPr>
            <a:r>
              <a:rPr lang="en-US" sz="1700" dirty="0">
                <a:solidFill>
                  <a:srgbClr val="A7BAC4"/>
                </a:solidFill>
                <a:latin typeface="Calibri" pitchFamily="34" charset="0"/>
                <a:ea typeface="Calibri" pitchFamily="34" charset="-122"/>
                <a:cs typeface="Calibri" pitchFamily="34" charset="-120"/>
              </a:rPr>
              <a:t>5 task types · 3 gateway types · 6 intermediate events · 10 alternate paths</a:t>
            </a:r>
            <a:endParaRPr lang="en-US" sz="1700" dirty="0"/>
          </a:p>
        </p:txBody>
      </p:sp>
    </p:spTree>
  </p:cSld>
  <p:clrMapOvr>
    <a:masterClrMapping/>
  </p:clrMapOvr>
</p:sld>
</file>

<file path=ppt/theme/theme1.xml><?xml version="1.0" encoding="utf-8"?>
<a:theme xmlns:a="http://schemas.openxmlformats.org/drawingml/2006/main" name="Loan">
  <a:themeElements>
    <a:clrScheme name="Loan">
      <a:dk1>
        <a:srgbClr val="14222A"/>
      </a:dk1>
      <a:lt1>
        <a:srgbClr val="EEF3F5"/>
      </a:lt1>
      <a:dk2>
        <a:srgbClr val="1E323C"/>
      </a:dk2>
      <a:lt2>
        <a:srgbClr val="D9E4E8"/>
      </a:lt2>
      <a:accent1>
        <a:srgbClr val="4FD1C5"/>
      </a:accent1>
      <a:accent2>
        <a:srgbClr val="F6AD55"/>
      </a:accent2>
      <a:accent3>
        <a:srgbClr val="A7BAC4"/>
      </a:accent3>
      <a:accent4>
        <a:srgbClr val="243C48"/>
      </a:accent4>
      <a:accent5>
        <a:srgbClr val="68D391"/>
      </a:accent5>
      <a:accent6>
        <a:srgbClr val="B794F4"/>
      </a:accent6>
      <a:hlink>
        <a:srgbClr val="4FD1C5"/>
      </a:hlink>
      <a:folHlink>
        <a:srgbClr val="A7BAC4"/>
      </a:folHlink>
    </a:clrScheme>
    <a:fontScheme name="Loa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Loan Origination &amp; Approval System</dc:title>
  <dc:subject>PptxGenJS Presentation</dc:subject>
  <dc:creator>PptxGenJS</dc:creator>
  <cp:lastModifiedBy>PptxGenJS</cp:lastModifiedBy>
  <cp:revision>1</cp:revision>
  <dcterms:created xsi:type="dcterms:W3CDTF">2026-10-12T08:36:08Z</dcterms:created>
  <dcterms:modified xsi:type="dcterms:W3CDTF">2026-10-12T08:36:08Z</dcterms:modified>
</cp:coreProperties>
</file>